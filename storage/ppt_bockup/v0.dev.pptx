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57200" y="2103120"/>
            <a:ext cx="164592" cy="1554480"/>
          </a:xfrm>
          <a:prstGeom prst="rect">
            <a:avLst/>
          </a:prstGeom>
          <a:solidFill>
            <a:srgbClr val="D97757"/>
          </a:solidFill>
          <a:ln w="12700">
            <a:solidFill>
              <a:srgbClr val="D97757"/>
            </a:solidFill>
            <a:prstDash val="solid"/>
          </a:ln>
        </p:spPr>
      </p:sp>
      <p:sp>
        <p:nvSpPr>
          <p:cNvPr id="3" name="Text 1"/>
          <p:cNvSpPr/>
          <p:nvPr/>
        </p:nvSpPr>
        <p:spPr>
          <a:xfrm>
            <a:off x="914400" y="2194560"/>
            <a:ext cx="10820095" cy="1097280"/>
          </a:xfrm>
          <a:prstGeom prst="rect">
            <a:avLst/>
          </a:prstGeom>
          <a:noFill/>
          <a:ln/>
        </p:spPr>
        <p:txBody>
          <a:bodyPr wrap="square" rtlCol="0" anchor="t"/>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v0.dev 완전 활용 가이드</a:t>
            </a:r>
            <a:endParaRPr lang="en-US" sz="4000" dirty="0"/>
          </a:p>
        </p:txBody>
      </p:sp>
      <p:sp>
        <p:nvSpPr>
          <p:cNvPr id="4" name="Text 2"/>
          <p:cNvSpPr/>
          <p:nvPr/>
        </p:nvSpPr>
        <p:spPr>
          <a:xfrm>
            <a:off x="914400" y="3291840"/>
            <a:ext cx="10820095" cy="365760"/>
          </a:xfrm>
          <a:prstGeom prst="rect">
            <a:avLst/>
          </a:prstGeom>
          <a:noFill/>
          <a:ln/>
        </p:spPr>
        <p:txBody>
          <a:bodyPr wrap="square" rtlCol="0" anchor="ctr"/>
          <a:lstStyle/>
          <a:p>
            <a:pPr indent="0" marL="0">
              <a:buNone/>
            </a:pPr>
            <a:r>
              <a:rPr lang="en-US" sz="1600" dirty="0">
                <a:solidFill>
                  <a:srgbClr val="8892B0"/>
                </a:solidFill>
                <a:latin typeface="Malgun Gothic" pitchFamily="34" charset="0"/>
                <a:ea typeface="Malgun Gothic" pitchFamily="34" charset="-122"/>
                <a:cs typeface="Malgun Gothic" pitchFamily="34" charset="-120"/>
              </a:rPr>
              <a:t>프롬프트 한 줄로 아름다운 React 기반 UI 컴포넌트를 즉시 구워내는 생성형 UI 도구</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172A"/>
          </a:solidFill>
          <a:ln w="12700">
            <a:solidFill>
              <a:srgbClr val="0F172A"/>
            </a:solidFill>
            <a:prstDash val="solid"/>
          </a:ln>
        </p:spPr>
      </p:sp>
      <p:sp>
        <p:nvSpPr>
          <p:cNvPr id="3" name="Shape 1"/>
          <p:cNvSpPr/>
          <p:nvPr/>
        </p:nvSpPr>
        <p:spPr>
          <a:xfrm>
            <a:off x="502920" y="228600"/>
            <a:ext cx="502920" cy="502920"/>
          </a:xfrm>
          <a:prstGeom prst="roundRect">
            <a:avLst>
              <a:gd name="adj" fmla="val 18182"/>
            </a:avLst>
          </a:prstGeom>
          <a:solidFill>
            <a:srgbClr val="D97757"/>
          </a:solidFill>
          <a:ln w="12700">
            <a:solidFill>
              <a:srgbClr val="D97757"/>
            </a:solidFill>
            <a:prstDash val="solid"/>
          </a:ln>
        </p:spPr>
      </p:sp>
      <p:sp>
        <p:nvSpPr>
          <p:cNvPr id="4" name="Text 2"/>
          <p:cNvSpPr/>
          <p:nvPr/>
        </p:nvSpPr>
        <p:spPr>
          <a:xfrm>
            <a:off x="502920" y="228600"/>
            <a:ext cx="502920" cy="502920"/>
          </a:xfrm>
          <a:prstGeom prst="rect">
            <a:avLst/>
          </a:prstGeom>
          <a:noFill/>
          <a:ln/>
        </p:spPr>
        <p:txBody>
          <a:bodyPr wrap="square"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5" name="Text 3"/>
          <p:cNvSpPr/>
          <p:nvPr/>
        </p:nvSpPr>
        <p:spPr>
          <a:xfrm>
            <a:off x="1143000" y="0"/>
            <a:ext cx="10957255" cy="960120"/>
          </a:xfrm>
          <a:prstGeom prst="rect">
            <a:avLst/>
          </a:prstGeom>
          <a:noFill/>
          <a:ln/>
        </p:spPr>
        <p:txBody>
          <a:bodyPr wrap="square"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v0.dev는 어떤 도구인가</a:t>
            </a:r>
            <a:endParaRPr lang="en-US" sz="2200" dirty="0"/>
          </a:p>
        </p:txBody>
      </p:sp>
      <p:sp>
        <p:nvSpPr>
          <p:cNvPr id="6" name="Shape 4"/>
          <p:cNvSpPr/>
          <p:nvPr/>
        </p:nvSpPr>
        <p:spPr>
          <a:xfrm>
            <a:off x="457200" y="1143000"/>
            <a:ext cx="11277295" cy="977900"/>
          </a:xfrm>
          <a:prstGeom prst="roundRect">
            <a:avLst>
              <a:gd name="adj" fmla="val 7481"/>
            </a:avLst>
          </a:prstGeom>
          <a:solidFill>
            <a:srgbClr val="FFFFFF"/>
          </a:solidFill>
          <a:ln w="9525">
            <a:solidFill>
              <a:srgbClr val="F0D4C4"/>
            </a:solidFill>
            <a:prstDash val="solid"/>
          </a:ln>
        </p:spPr>
      </p:sp>
      <p:sp>
        <p:nvSpPr>
          <p:cNvPr id="7" name="Text 5"/>
          <p:cNvSpPr/>
          <p:nvPr/>
        </p:nvSpPr>
        <p:spPr>
          <a:xfrm>
            <a:off x="685800" y="1325880"/>
            <a:ext cx="10820095" cy="474980"/>
          </a:xfrm>
          <a:prstGeom prst="rect">
            <a:avLst/>
          </a:prstGeom>
          <a:noFill/>
          <a:ln/>
        </p:spPr>
        <p:txBody>
          <a:bodyPr wrap="square" rtlCol="0" anchor="t"/>
          <a:lstStyle/>
          <a:p>
            <a:pPr indent="0" marL="0">
              <a:buNone/>
            </a:pPr>
            <a:r>
              <a:rPr lang="en-US" sz="1100" dirty="0">
                <a:solidFill>
                  <a:srgbClr val="475569"/>
                </a:solidFill>
                <a:latin typeface="Malgun Gothic" pitchFamily="34" charset="0"/>
                <a:ea typeface="Malgun Gothic" pitchFamily="34" charset="-122"/>
                <a:cs typeface="Malgun Gothic" pitchFamily="34" charset="-120"/>
              </a:rPr>
              <a:t>v0(브이제로)는 "구글 애널리틱스 느낌의 깔끔한 재무 대시보드 화면 짜줘"라고 입력하면, 텍스트가 아닌 실제 작동하는 웹 화면(React + Tailwind CSS 기반)을 렌더링해서 보여주는 도구입니다. 디자인 감각이나 번거로운 마크업 작업 없이도 프로 수준의 UI 컴포넌트를 단 몇 초 만에 얻을 수 있습니다.</a:t>
            </a:r>
            <a:endParaRPr lang="en-US" sz="1100" dirty="0"/>
          </a:p>
        </p:txBody>
      </p:sp>
      <p:sp>
        <p:nvSpPr>
          <p:cNvPr id="8" name="Shape 6"/>
          <p:cNvSpPr/>
          <p:nvPr/>
        </p:nvSpPr>
        <p:spPr>
          <a:xfrm>
            <a:off x="457200" y="2258060"/>
            <a:ext cx="11277295" cy="1154430"/>
          </a:xfrm>
          <a:prstGeom prst="roundRect">
            <a:avLst>
              <a:gd name="adj" fmla="val 6337"/>
            </a:avLst>
          </a:prstGeom>
          <a:solidFill>
            <a:srgbClr val="FFFFFF"/>
          </a:solidFill>
          <a:ln w="9525">
            <a:solidFill>
              <a:srgbClr val="F0D4C4"/>
            </a:solidFill>
            <a:prstDash val="solid"/>
          </a:ln>
        </p:spPr>
      </p:sp>
      <p:sp>
        <p:nvSpPr>
          <p:cNvPr id="9" name="Text 7"/>
          <p:cNvSpPr/>
          <p:nvPr/>
        </p:nvSpPr>
        <p:spPr>
          <a:xfrm>
            <a:off x="685800" y="2440940"/>
            <a:ext cx="10820095" cy="347980"/>
          </a:xfrm>
          <a:prstGeom prst="rect">
            <a:avLst/>
          </a:prstGeom>
          <a:noFill/>
          <a:ln/>
        </p:spPr>
        <p:txBody>
          <a:bodyPr wrap="square" rtlCol="0" anchor="t"/>
          <a:lstStyle/>
          <a:p>
            <a:pPr indent="0" marL="0">
              <a:buNone/>
            </a:pPr>
            <a:r>
              <a:rPr lang="en-US" sz="1400" b="1" dirty="0">
                <a:solidFill>
                  <a:srgbClr val="B85F3F"/>
                </a:solidFill>
                <a:latin typeface="Malgun Gothic" pitchFamily="34" charset="0"/>
                <a:ea typeface="Malgun Gothic" pitchFamily="34" charset="-122"/>
                <a:cs typeface="Malgun Gothic" pitchFamily="34" charset="-120"/>
              </a:rPr>
              <a:t>한눈에 보는 핵심 기능</a:t>
            </a:r>
            <a:endParaRPr lang="en-US" sz="1400" dirty="0"/>
          </a:p>
        </p:txBody>
      </p:sp>
      <p:sp>
        <p:nvSpPr>
          <p:cNvPr id="10" name="Text 8"/>
          <p:cNvSpPr/>
          <p:nvPr/>
        </p:nvSpPr>
        <p:spPr>
          <a:xfrm>
            <a:off x="685800" y="2857500"/>
            <a:ext cx="10820095" cy="326390"/>
          </a:xfrm>
          <a:prstGeom prst="rect">
            <a:avLst/>
          </a:prstGeom>
          <a:noFill/>
          <a:ln/>
        </p:spPr>
        <p:txBody>
          <a:bodyPr wrap="square" rtlCol="0" anchor="t"/>
          <a:lstStyle/>
          <a:p>
            <a:pPr indent="0" marL="0">
              <a:buNone/>
            </a:pPr>
            <a:r>
              <a:rPr lang="en-US" sz="1300" b="1" dirty="0">
                <a:solidFill>
                  <a:srgbClr val="1A1A2E"/>
                </a:solidFill>
                <a:latin typeface="Malgun Gothic" pitchFamily="34" charset="0"/>
                <a:ea typeface="Malgun Gothic" pitchFamily="34" charset="-122"/>
                <a:cs typeface="Malgun Gothic" pitchFamily="34" charset="-120"/>
              </a:rPr>
              <a:t>한눈에 보는 핵심 기능</a:t>
            </a:r>
            <a:endParaRPr lang="en-US" sz="1300" dirty="0"/>
          </a:p>
        </p:txBody>
      </p:sp>
      <p:sp>
        <p:nvSpPr>
          <p:cNvPr id="11" name="Shape 9"/>
          <p:cNvSpPr/>
          <p:nvPr/>
        </p:nvSpPr>
        <p:spPr>
          <a:xfrm>
            <a:off x="457200" y="3549650"/>
            <a:ext cx="2716454" cy="1280160"/>
          </a:xfrm>
          <a:prstGeom prst="roundRect">
            <a:avLst>
              <a:gd name="adj" fmla="val 5714"/>
            </a:avLst>
          </a:prstGeom>
          <a:solidFill>
            <a:srgbClr val="FFFFFF"/>
          </a:solidFill>
          <a:ln w="9525">
            <a:solidFill>
              <a:srgbClr val="F0D4C4"/>
            </a:solidFill>
            <a:prstDash val="solid"/>
          </a:ln>
        </p:spPr>
      </p:sp>
      <p:sp>
        <p:nvSpPr>
          <p:cNvPr id="12" name="Text 10"/>
          <p:cNvSpPr/>
          <p:nvPr/>
        </p:nvSpPr>
        <p:spPr>
          <a:xfrm>
            <a:off x="548640" y="3641090"/>
            <a:ext cx="2533574" cy="384048"/>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3" name="Text 11"/>
          <p:cNvSpPr/>
          <p:nvPr/>
        </p:nvSpPr>
        <p:spPr>
          <a:xfrm>
            <a:off x="548640" y="4080002"/>
            <a:ext cx="2533574" cy="256032"/>
          </a:xfrm>
          <a:prstGeom prst="rect">
            <a:avLst/>
          </a:prstGeom>
          <a:noFill/>
          <a:ln/>
        </p:spPr>
        <p:txBody>
          <a:bodyPr wrap="square" rtlCol="0" anchor="ctr"/>
          <a:lstStyle/>
          <a:p>
            <a:pPr algn="ctr" indent="0" marL="0">
              <a:buNone/>
            </a:pPr>
            <a:r>
              <a:rPr lang="en-US" sz="1100" b="1" dirty="0">
                <a:solidFill>
                  <a:srgbClr val="1A1A2E"/>
                </a:solidFill>
                <a:latin typeface="Malgun Gothic" pitchFamily="34" charset="0"/>
                <a:ea typeface="Malgun Gothic" pitchFamily="34" charset="-122"/>
                <a:cs typeface="Malgun Gothic" pitchFamily="34" charset="-120"/>
              </a:rPr>
              <a:t>텍스트 to UI</a:t>
            </a:r>
            <a:endParaRPr lang="en-US" sz="1100" dirty="0"/>
          </a:p>
        </p:txBody>
      </p:sp>
      <p:sp>
        <p:nvSpPr>
          <p:cNvPr id="14" name="Text 12"/>
          <p:cNvSpPr/>
          <p:nvPr/>
        </p:nvSpPr>
        <p:spPr>
          <a:xfrm>
            <a:off x="548640" y="4354322"/>
            <a:ext cx="2533574" cy="420624"/>
          </a:xfrm>
          <a:prstGeom prst="rect">
            <a:avLst/>
          </a:prstGeom>
          <a:noFill/>
          <a:ln/>
        </p:spPr>
        <p:txBody>
          <a:bodyPr wrap="square" rtlCol="0" anchor="t"/>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머릿속에 있는 화면 레이아웃을 한글/영어로 설명하면 즉각적으로 세련된 웹 화면으로 만들어줍니다.</a:t>
            </a:r>
            <a:endParaRPr lang="en-US" sz="1000" dirty="0"/>
          </a:p>
        </p:txBody>
      </p:sp>
      <p:sp>
        <p:nvSpPr>
          <p:cNvPr id="15" name="Shape 13"/>
          <p:cNvSpPr/>
          <p:nvPr/>
        </p:nvSpPr>
        <p:spPr>
          <a:xfrm>
            <a:off x="3310814" y="3549650"/>
            <a:ext cx="2716454" cy="1280160"/>
          </a:xfrm>
          <a:prstGeom prst="roundRect">
            <a:avLst>
              <a:gd name="adj" fmla="val 5714"/>
            </a:avLst>
          </a:prstGeom>
          <a:solidFill>
            <a:srgbClr val="FFFFFF"/>
          </a:solidFill>
          <a:ln w="9525">
            <a:solidFill>
              <a:srgbClr val="F0D4C4"/>
            </a:solidFill>
            <a:prstDash val="solid"/>
          </a:ln>
        </p:spPr>
      </p:sp>
      <p:sp>
        <p:nvSpPr>
          <p:cNvPr id="16" name="Text 14"/>
          <p:cNvSpPr/>
          <p:nvPr/>
        </p:nvSpPr>
        <p:spPr>
          <a:xfrm>
            <a:off x="3402254" y="3641090"/>
            <a:ext cx="2533574" cy="384048"/>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7" name="Text 15"/>
          <p:cNvSpPr/>
          <p:nvPr/>
        </p:nvSpPr>
        <p:spPr>
          <a:xfrm>
            <a:off x="3402254" y="4080002"/>
            <a:ext cx="2533574" cy="256032"/>
          </a:xfrm>
          <a:prstGeom prst="rect">
            <a:avLst/>
          </a:prstGeom>
          <a:noFill/>
          <a:ln/>
        </p:spPr>
        <p:txBody>
          <a:bodyPr wrap="square" rtlCol="0" anchor="ctr"/>
          <a:lstStyle/>
          <a:p>
            <a:pPr algn="ctr" indent="0" marL="0">
              <a:buNone/>
            </a:pPr>
            <a:r>
              <a:rPr lang="en-US" sz="1100" b="1" dirty="0">
                <a:solidFill>
                  <a:srgbClr val="1A1A2E"/>
                </a:solidFill>
                <a:latin typeface="Malgun Gothic" pitchFamily="34" charset="0"/>
                <a:ea typeface="Malgun Gothic" pitchFamily="34" charset="-122"/>
                <a:cs typeface="Malgun Gothic" pitchFamily="34" charset="-120"/>
              </a:rPr>
              <a:t>이미지 to UI (스케치 인식)</a:t>
            </a:r>
            <a:endParaRPr lang="en-US" sz="1100" dirty="0"/>
          </a:p>
        </p:txBody>
      </p:sp>
      <p:sp>
        <p:nvSpPr>
          <p:cNvPr id="18" name="Text 16"/>
          <p:cNvSpPr/>
          <p:nvPr/>
        </p:nvSpPr>
        <p:spPr>
          <a:xfrm>
            <a:off x="3402254" y="4354322"/>
            <a:ext cx="2533574" cy="420624"/>
          </a:xfrm>
          <a:prstGeom prst="rect">
            <a:avLst/>
          </a:prstGeom>
          <a:noFill/>
          <a:ln/>
        </p:spPr>
        <p:txBody>
          <a:bodyPr wrap="square" rtlCol="0" anchor="t"/>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다른 사이트의 캡처 화면이나 손으로 그린 와이어프레임을 업로드하면 똑같이 코드로 구현해냅니다.</a:t>
            </a:r>
            <a:endParaRPr lang="en-US" sz="1000" dirty="0"/>
          </a:p>
        </p:txBody>
      </p:sp>
      <p:sp>
        <p:nvSpPr>
          <p:cNvPr id="19" name="Shape 17"/>
          <p:cNvSpPr/>
          <p:nvPr/>
        </p:nvSpPr>
        <p:spPr>
          <a:xfrm>
            <a:off x="6164428" y="3549650"/>
            <a:ext cx="2716454" cy="1280160"/>
          </a:xfrm>
          <a:prstGeom prst="roundRect">
            <a:avLst>
              <a:gd name="adj" fmla="val 5714"/>
            </a:avLst>
          </a:prstGeom>
          <a:solidFill>
            <a:srgbClr val="FFFFFF"/>
          </a:solidFill>
          <a:ln w="9525">
            <a:solidFill>
              <a:srgbClr val="F0D4C4"/>
            </a:solidFill>
            <a:prstDash val="solid"/>
          </a:ln>
        </p:spPr>
      </p:sp>
      <p:sp>
        <p:nvSpPr>
          <p:cNvPr id="20" name="Text 18"/>
          <p:cNvSpPr/>
          <p:nvPr/>
        </p:nvSpPr>
        <p:spPr>
          <a:xfrm>
            <a:off x="6255868" y="3641090"/>
            <a:ext cx="2533574" cy="384048"/>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1" name="Text 19"/>
          <p:cNvSpPr/>
          <p:nvPr/>
        </p:nvSpPr>
        <p:spPr>
          <a:xfrm>
            <a:off x="6255868" y="4080002"/>
            <a:ext cx="2533574" cy="256032"/>
          </a:xfrm>
          <a:prstGeom prst="rect">
            <a:avLst/>
          </a:prstGeom>
          <a:noFill/>
          <a:ln/>
        </p:spPr>
        <p:txBody>
          <a:bodyPr wrap="square" rtlCol="0" anchor="ctr"/>
          <a:lstStyle/>
          <a:p>
            <a:pPr algn="ctr" indent="0" marL="0">
              <a:buNone/>
            </a:pPr>
            <a:r>
              <a:rPr lang="en-US" sz="1100" b="1" dirty="0">
                <a:solidFill>
                  <a:srgbClr val="1A1A2E"/>
                </a:solidFill>
                <a:latin typeface="Malgun Gothic" pitchFamily="34" charset="0"/>
                <a:ea typeface="Malgun Gothic" pitchFamily="34" charset="-122"/>
                <a:cs typeface="Malgun Gothic" pitchFamily="34" charset="-120"/>
              </a:rPr>
              <a:t>부분 수정 (Pick &amp; Edit)</a:t>
            </a:r>
            <a:endParaRPr lang="en-US" sz="1100" dirty="0"/>
          </a:p>
        </p:txBody>
      </p:sp>
      <p:sp>
        <p:nvSpPr>
          <p:cNvPr id="22" name="Text 20"/>
          <p:cNvSpPr/>
          <p:nvPr/>
        </p:nvSpPr>
        <p:spPr>
          <a:xfrm>
            <a:off x="6255868" y="4354322"/>
            <a:ext cx="2533574" cy="420624"/>
          </a:xfrm>
          <a:prstGeom prst="rect">
            <a:avLst/>
          </a:prstGeom>
          <a:noFill/>
          <a:ln/>
        </p:spPr>
        <p:txBody>
          <a:bodyPr wrap="square" rtlCol="0" anchor="t"/>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완성된 화면에서 버튼이나 특정 영역만 클릭하여 "색상을 보라색으로 바꿔"라고 디테일하게 수정합니다.</a:t>
            </a:r>
            <a:endParaRPr lang="en-US" sz="1000" dirty="0"/>
          </a:p>
        </p:txBody>
      </p:sp>
      <p:sp>
        <p:nvSpPr>
          <p:cNvPr id="23" name="Shape 21"/>
          <p:cNvSpPr/>
          <p:nvPr/>
        </p:nvSpPr>
        <p:spPr>
          <a:xfrm>
            <a:off x="9018041" y="3549650"/>
            <a:ext cx="2716454" cy="1280160"/>
          </a:xfrm>
          <a:prstGeom prst="roundRect">
            <a:avLst>
              <a:gd name="adj" fmla="val 5714"/>
            </a:avLst>
          </a:prstGeom>
          <a:solidFill>
            <a:srgbClr val="FFFFFF"/>
          </a:solidFill>
          <a:ln w="9525">
            <a:solidFill>
              <a:srgbClr val="F0D4C4"/>
            </a:solidFill>
            <a:prstDash val="solid"/>
          </a:ln>
        </p:spPr>
      </p:sp>
      <p:sp>
        <p:nvSpPr>
          <p:cNvPr id="24" name="Text 22"/>
          <p:cNvSpPr/>
          <p:nvPr/>
        </p:nvSpPr>
        <p:spPr>
          <a:xfrm>
            <a:off x="9109481" y="3641090"/>
            <a:ext cx="2533574" cy="384048"/>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5" name="Text 23"/>
          <p:cNvSpPr/>
          <p:nvPr/>
        </p:nvSpPr>
        <p:spPr>
          <a:xfrm>
            <a:off x="9109481" y="4080002"/>
            <a:ext cx="2533574" cy="256032"/>
          </a:xfrm>
          <a:prstGeom prst="rect">
            <a:avLst/>
          </a:prstGeom>
          <a:noFill/>
          <a:ln/>
        </p:spPr>
        <p:txBody>
          <a:bodyPr wrap="square" rtlCol="0" anchor="ctr"/>
          <a:lstStyle/>
          <a:p>
            <a:pPr algn="ctr" indent="0" marL="0">
              <a:buNone/>
            </a:pPr>
            <a:r>
              <a:rPr lang="en-US" sz="1100" b="1" dirty="0">
                <a:solidFill>
                  <a:srgbClr val="1A1A2E"/>
                </a:solidFill>
                <a:latin typeface="Malgun Gothic" pitchFamily="34" charset="0"/>
                <a:ea typeface="Malgun Gothic" pitchFamily="34" charset="-122"/>
                <a:cs typeface="Malgun Gothic" pitchFamily="34" charset="-120"/>
              </a:rPr>
              <a:t>터미널 원클릭 복사</a:t>
            </a:r>
            <a:endParaRPr lang="en-US" sz="1100" dirty="0"/>
          </a:p>
        </p:txBody>
      </p:sp>
      <p:sp>
        <p:nvSpPr>
          <p:cNvPr id="26" name="Text 24"/>
          <p:cNvSpPr/>
          <p:nvPr/>
        </p:nvSpPr>
        <p:spPr>
          <a:xfrm>
            <a:off x="9109481" y="4354322"/>
            <a:ext cx="2533574" cy="420624"/>
          </a:xfrm>
          <a:prstGeom prst="rect">
            <a:avLst/>
          </a:prstGeom>
          <a:noFill/>
          <a:ln/>
        </p:spPr>
        <p:txBody>
          <a:bodyPr wrap="square" rtlCol="0" anchor="t"/>
          <a:lstStyle/>
          <a:p>
            <a:pPr algn="ctr" indent="0" marL="0">
              <a:buNone/>
            </a:pPr>
            <a:r>
              <a:rPr lang="en-US" sz="1000" dirty="0">
                <a:solidFill>
                  <a:srgbClr val="475569"/>
                </a:solidFill>
                <a:latin typeface="Malgun Gothic" pitchFamily="34" charset="0"/>
                <a:ea typeface="Malgun Gothic" pitchFamily="34" charset="-122"/>
                <a:cs typeface="Malgun Gothic" pitchFamily="34" charset="-120"/>
              </a:rPr>
              <a:t>마음에 드는 디자인이 나오면 제공되는 명령어 한 줄(`npx v0 add...`)로 내 프로젝트 폴더에 쏙 넣습니다.</a:t>
            </a:r>
            <a:endParaRPr lang="en-US" sz="1000" dirty="0"/>
          </a:p>
        </p:txBody>
      </p:sp>
      <p:sp>
        <p:nvSpPr>
          <p:cNvPr id="27" name="Shape 25"/>
          <p:cNvSpPr/>
          <p:nvPr/>
        </p:nvSpPr>
        <p:spPr>
          <a:xfrm>
            <a:off x="457200" y="5104130"/>
            <a:ext cx="11277295" cy="1154430"/>
          </a:xfrm>
          <a:prstGeom prst="roundRect">
            <a:avLst>
              <a:gd name="adj" fmla="val 6337"/>
            </a:avLst>
          </a:prstGeom>
          <a:solidFill>
            <a:srgbClr val="FFFFFF"/>
          </a:solidFill>
          <a:ln w="9525">
            <a:solidFill>
              <a:srgbClr val="F0D4C4"/>
            </a:solidFill>
            <a:prstDash val="solid"/>
          </a:ln>
        </p:spPr>
      </p:sp>
      <p:sp>
        <p:nvSpPr>
          <p:cNvPr id="28" name="Text 26"/>
          <p:cNvSpPr/>
          <p:nvPr/>
        </p:nvSpPr>
        <p:spPr>
          <a:xfrm>
            <a:off x="685800" y="5287010"/>
            <a:ext cx="10820095" cy="347980"/>
          </a:xfrm>
          <a:prstGeom prst="rect">
            <a:avLst/>
          </a:prstGeom>
          <a:noFill/>
          <a:ln/>
        </p:spPr>
        <p:txBody>
          <a:bodyPr wrap="square" rtlCol="0" anchor="t"/>
          <a:lstStyle/>
          <a:p>
            <a:pPr indent="0" marL="0">
              <a:buNone/>
            </a:pPr>
            <a:r>
              <a:rPr lang="en-US" sz="1400" b="1" dirty="0">
                <a:solidFill>
                  <a:srgbClr val="B85F3F"/>
                </a:solidFill>
                <a:latin typeface="Malgun Gothic" pitchFamily="34" charset="0"/>
                <a:ea typeface="Malgun Gothic" pitchFamily="34" charset="-122"/>
                <a:cs typeface="Malgun Gothic" pitchFamily="34" charset="-120"/>
              </a:rPr>
              <a:t>이런 분들께 강력 추천합니다</a:t>
            </a:r>
            <a:endParaRPr lang="en-US" sz="1400" dirty="0"/>
          </a:p>
        </p:txBody>
      </p:sp>
      <p:sp>
        <p:nvSpPr>
          <p:cNvPr id="29" name="Text 27"/>
          <p:cNvSpPr/>
          <p:nvPr/>
        </p:nvSpPr>
        <p:spPr>
          <a:xfrm>
            <a:off x="685800" y="5703570"/>
            <a:ext cx="10820095" cy="326390"/>
          </a:xfrm>
          <a:prstGeom prst="rect">
            <a:avLst/>
          </a:prstGeom>
          <a:noFill/>
          <a:ln/>
        </p:spPr>
        <p:txBody>
          <a:bodyPr wrap="square" rtlCol="0" anchor="t"/>
          <a:lstStyle/>
          <a:p>
            <a:pPr indent="0" marL="0">
              <a:buNone/>
            </a:pPr>
            <a:r>
              <a:rPr lang="en-US" sz="1300" b="1" dirty="0">
                <a:solidFill>
                  <a:srgbClr val="1A1A2E"/>
                </a:solidFill>
                <a:latin typeface="Malgun Gothic" pitchFamily="34" charset="0"/>
                <a:ea typeface="Malgun Gothic" pitchFamily="34" charset="-122"/>
                <a:cs typeface="Malgun Gothic" pitchFamily="34" charset="-120"/>
              </a:rPr>
              <a:t>이런 분들께 강력 추천합니다</a:t>
            </a:r>
            <a:endParaRPr lang="en-US" sz="1300" dirty="0"/>
          </a:p>
        </p:txBody>
      </p:sp>
      <p:sp>
        <p:nvSpPr>
          <p:cNvPr id="30" name="Shape 28"/>
          <p:cNvSpPr/>
          <p:nvPr/>
        </p:nvSpPr>
        <p:spPr>
          <a:xfrm>
            <a:off x="457200" y="6395720"/>
            <a:ext cx="3667658" cy="1371600"/>
          </a:xfrm>
          <a:prstGeom prst="roundRect">
            <a:avLst>
              <a:gd name="adj" fmla="val 5333"/>
            </a:avLst>
          </a:prstGeom>
          <a:solidFill>
            <a:srgbClr val="FFFFFF"/>
          </a:solidFill>
          <a:ln w="9525">
            <a:solidFill>
              <a:srgbClr val="F0D4C4"/>
            </a:solidFill>
            <a:prstDash val="solid"/>
          </a:ln>
        </p:spPr>
      </p:sp>
      <p:sp>
        <p:nvSpPr>
          <p:cNvPr id="31" name="Shape 29"/>
          <p:cNvSpPr/>
          <p:nvPr/>
        </p:nvSpPr>
        <p:spPr>
          <a:xfrm>
            <a:off x="457200" y="6395720"/>
            <a:ext cx="3667658" cy="36576"/>
          </a:xfrm>
          <a:prstGeom prst="rect">
            <a:avLst/>
          </a:prstGeom>
          <a:solidFill>
            <a:srgbClr val="D97757"/>
          </a:solidFill>
          <a:ln w="12700">
            <a:solidFill>
              <a:srgbClr val="D97757"/>
            </a:solidFill>
            <a:prstDash val="solid"/>
          </a:ln>
        </p:spPr>
      </p:sp>
      <p:sp>
        <p:nvSpPr>
          <p:cNvPr id="32" name="Text 30"/>
          <p:cNvSpPr/>
          <p:nvPr/>
        </p:nvSpPr>
        <p:spPr>
          <a:xfrm>
            <a:off x="566928" y="6505448"/>
            <a:ext cx="3448202" cy="201168"/>
          </a:xfrm>
          <a:prstGeom prst="rect">
            <a:avLst/>
          </a:prstGeom>
          <a:noFill/>
          <a:ln/>
        </p:spPr>
        <p:txBody>
          <a:bodyPr wrap="square" rtlCol="0" anchor="ctr"/>
          <a:lstStyle/>
          <a:p>
            <a:pPr indent="0" marL="0">
              <a:buNone/>
            </a:pPr>
            <a:r>
              <a:rPr lang="en-US" sz="800" b="1" dirty="0">
                <a:solidFill>
                  <a:srgbClr val="B85F3F"/>
                </a:solidFill>
                <a:latin typeface="Malgun Gothic" pitchFamily="34" charset="0"/>
                <a:ea typeface="Malgun Gothic" pitchFamily="34" charset="-122"/>
                <a:cs typeface="Malgun Gothic" pitchFamily="34" charset="-120"/>
              </a:rPr>
              <a:t>디자인</a:t>
            </a:r>
            <a:endParaRPr lang="en-US" sz="800" dirty="0"/>
          </a:p>
        </p:txBody>
      </p:sp>
      <p:sp>
        <p:nvSpPr>
          <p:cNvPr id="33" name="Text 31"/>
          <p:cNvSpPr/>
          <p:nvPr/>
        </p:nvSpPr>
        <p:spPr>
          <a:xfrm>
            <a:off x="566928" y="6724904"/>
            <a:ext cx="3448202" cy="274320"/>
          </a:xfrm>
          <a:prstGeom prst="rect">
            <a:avLst/>
          </a:prstGeom>
          <a:noFill/>
          <a:ln/>
        </p:spPr>
        <p:txBody>
          <a:bodyPr wrap="square" rtlCol="0" anchor="ctr"/>
          <a:lstStyle/>
          <a:p>
            <a:pPr indent="0" marL="0">
              <a:buNone/>
            </a:pPr>
            <a:r>
              <a:rPr lang="en-US" sz="1400" b="1" dirty="0">
                <a:solidFill>
                  <a:srgbClr val="1A1A2E"/>
                </a:solidFill>
                <a:latin typeface="Malgun Gothic" pitchFamily="34" charset="0"/>
                <a:ea typeface="Malgun Gothic" pitchFamily="34" charset="-122"/>
                <a:cs typeface="Malgun Gothic" pitchFamily="34" charset="-120"/>
              </a:rPr>
              <a:t>🧑‍🎨 디자인이 막막한 백엔드 개발자</a:t>
            </a:r>
            <a:endParaRPr lang="en-US" sz="1400" dirty="0"/>
          </a:p>
        </p:txBody>
      </p:sp>
      <p:sp>
        <p:nvSpPr>
          <p:cNvPr id="34" name="Text 32"/>
          <p:cNvSpPr/>
          <p:nvPr/>
        </p:nvSpPr>
        <p:spPr>
          <a:xfrm>
            <a:off x="566928" y="7035800"/>
            <a:ext cx="3448202" cy="658368"/>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기능은 만들 줄 알지만 CSS 맞추기가 너무 귀찮고 예쁘게 만들 자신이 없는 분.</a:t>
            </a:r>
            <a:endParaRPr lang="en-US" sz="1000" dirty="0"/>
          </a:p>
        </p:txBody>
      </p:sp>
      <p:sp>
        <p:nvSpPr>
          <p:cNvPr id="35" name="Shape 33"/>
          <p:cNvSpPr/>
          <p:nvPr/>
        </p:nvSpPr>
        <p:spPr>
          <a:xfrm>
            <a:off x="4262018" y="6395720"/>
            <a:ext cx="3667658" cy="1371600"/>
          </a:xfrm>
          <a:prstGeom prst="roundRect">
            <a:avLst>
              <a:gd name="adj" fmla="val 5333"/>
            </a:avLst>
          </a:prstGeom>
          <a:solidFill>
            <a:srgbClr val="FFFFFF"/>
          </a:solidFill>
          <a:ln w="9525">
            <a:solidFill>
              <a:srgbClr val="F0D4C4"/>
            </a:solidFill>
            <a:prstDash val="solid"/>
          </a:ln>
        </p:spPr>
      </p:sp>
      <p:sp>
        <p:nvSpPr>
          <p:cNvPr id="36" name="Shape 34"/>
          <p:cNvSpPr/>
          <p:nvPr/>
        </p:nvSpPr>
        <p:spPr>
          <a:xfrm>
            <a:off x="4262018" y="6395720"/>
            <a:ext cx="3667658" cy="36576"/>
          </a:xfrm>
          <a:prstGeom prst="rect">
            <a:avLst/>
          </a:prstGeom>
          <a:solidFill>
            <a:srgbClr val="D97757"/>
          </a:solidFill>
          <a:ln w="12700">
            <a:solidFill>
              <a:srgbClr val="D97757"/>
            </a:solidFill>
            <a:prstDash val="solid"/>
          </a:ln>
        </p:spPr>
      </p:sp>
      <p:sp>
        <p:nvSpPr>
          <p:cNvPr id="37" name="Text 35"/>
          <p:cNvSpPr/>
          <p:nvPr/>
        </p:nvSpPr>
        <p:spPr>
          <a:xfrm>
            <a:off x="4371746" y="6505448"/>
            <a:ext cx="3448202" cy="201168"/>
          </a:xfrm>
          <a:prstGeom prst="rect">
            <a:avLst/>
          </a:prstGeom>
          <a:noFill/>
          <a:ln/>
        </p:spPr>
        <p:txBody>
          <a:bodyPr wrap="square" rtlCol="0" anchor="ctr"/>
          <a:lstStyle/>
          <a:p>
            <a:pPr indent="0" marL="0">
              <a:buNone/>
            </a:pPr>
            <a:r>
              <a:rPr lang="en-US" sz="800" b="1" dirty="0">
                <a:solidFill>
                  <a:srgbClr val="B85F3F"/>
                </a:solidFill>
                <a:latin typeface="Malgun Gothic" pitchFamily="34" charset="0"/>
                <a:ea typeface="Malgun Gothic" pitchFamily="34" charset="-122"/>
                <a:cs typeface="Malgun Gothic" pitchFamily="34" charset="-120"/>
              </a:rPr>
              <a:t>속도</a:t>
            </a:r>
            <a:endParaRPr lang="en-US" sz="800" dirty="0"/>
          </a:p>
        </p:txBody>
      </p:sp>
      <p:sp>
        <p:nvSpPr>
          <p:cNvPr id="38" name="Text 36"/>
          <p:cNvSpPr/>
          <p:nvPr/>
        </p:nvSpPr>
        <p:spPr>
          <a:xfrm>
            <a:off x="4371746" y="6724904"/>
            <a:ext cx="3448202" cy="274320"/>
          </a:xfrm>
          <a:prstGeom prst="rect">
            <a:avLst/>
          </a:prstGeom>
          <a:noFill/>
          <a:ln/>
        </p:spPr>
        <p:txBody>
          <a:bodyPr wrap="square" rtlCol="0" anchor="ctr"/>
          <a:lstStyle/>
          <a:p>
            <a:pPr indent="0" marL="0">
              <a:buNone/>
            </a:pPr>
            <a:r>
              <a:rPr lang="en-US" sz="1400" b="1" dirty="0">
                <a:solidFill>
                  <a:srgbClr val="1A1A2E"/>
                </a:solidFill>
                <a:latin typeface="Malgun Gothic" pitchFamily="34" charset="0"/>
                <a:ea typeface="Malgun Gothic" pitchFamily="34" charset="-122"/>
                <a:cs typeface="Malgun Gothic" pitchFamily="34" charset="-120"/>
              </a:rPr>
              <a:t>⚡ 기획자 및 프로토타이퍼</a:t>
            </a:r>
            <a:endParaRPr lang="en-US" sz="1400" dirty="0"/>
          </a:p>
        </p:txBody>
      </p:sp>
      <p:sp>
        <p:nvSpPr>
          <p:cNvPr id="39" name="Text 37"/>
          <p:cNvSpPr/>
          <p:nvPr/>
        </p:nvSpPr>
        <p:spPr>
          <a:xfrm>
            <a:off x="4371746" y="7035800"/>
            <a:ext cx="3448202" cy="658368"/>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피그마(Figma)로 목업을 그릴 시간에, 실제 코드로 작동하는 프로토타입을 바로 띄워보고 싶은 분.</a:t>
            </a:r>
            <a:endParaRPr lang="en-US" sz="1000" dirty="0"/>
          </a:p>
        </p:txBody>
      </p:sp>
      <p:sp>
        <p:nvSpPr>
          <p:cNvPr id="40" name="Shape 38"/>
          <p:cNvSpPr/>
          <p:nvPr/>
        </p:nvSpPr>
        <p:spPr>
          <a:xfrm>
            <a:off x="8066837" y="6395720"/>
            <a:ext cx="3667658" cy="1371600"/>
          </a:xfrm>
          <a:prstGeom prst="roundRect">
            <a:avLst>
              <a:gd name="adj" fmla="val 5333"/>
            </a:avLst>
          </a:prstGeom>
          <a:solidFill>
            <a:srgbClr val="FFFFFF"/>
          </a:solidFill>
          <a:ln w="9525">
            <a:solidFill>
              <a:srgbClr val="F0D4C4"/>
            </a:solidFill>
            <a:prstDash val="solid"/>
          </a:ln>
        </p:spPr>
      </p:sp>
      <p:sp>
        <p:nvSpPr>
          <p:cNvPr id="41" name="Shape 39"/>
          <p:cNvSpPr/>
          <p:nvPr/>
        </p:nvSpPr>
        <p:spPr>
          <a:xfrm>
            <a:off x="8066837" y="6395720"/>
            <a:ext cx="3667658" cy="36576"/>
          </a:xfrm>
          <a:prstGeom prst="rect">
            <a:avLst/>
          </a:prstGeom>
          <a:solidFill>
            <a:srgbClr val="D97757"/>
          </a:solidFill>
          <a:ln w="12700">
            <a:solidFill>
              <a:srgbClr val="D97757"/>
            </a:solidFill>
            <a:prstDash val="solid"/>
          </a:ln>
        </p:spPr>
      </p:sp>
      <p:sp>
        <p:nvSpPr>
          <p:cNvPr id="42" name="Text 40"/>
          <p:cNvSpPr/>
          <p:nvPr/>
        </p:nvSpPr>
        <p:spPr>
          <a:xfrm>
            <a:off x="8176565" y="6505448"/>
            <a:ext cx="3448202" cy="201168"/>
          </a:xfrm>
          <a:prstGeom prst="rect">
            <a:avLst/>
          </a:prstGeom>
          <a:noFill/>
          <a:ln/>
        </p:spPr>
        <p:txBody>
          <a:bodyPr wrap="square" rtlCol="0" anchor="ctr"/>
          <a:lstStyle/>
          <a:p>
            <a:pPr indent="0" marL="0">
              <a:buNone/>
            </a:pPr>
            <a:r>
              <a:rPr lang="en-US" sz="800" b="1" dirty="0">
                <a:solidFill>
                  <a:srgbClr val="B85F3F"/>
                </a:solidFill>
                <a:latin typeface="Malgun Gothic" pitchFamily="34" charset="0"/>
                <a:ea typeface="Malgun Gothic" pitchFamily="34" charset="-122"/>
                <a:cs typeface="Malgun Gothic" pitchFamily="34" charset="-120"/>
              </a:rPr>
              <a:t>프론트엔드</a:t>
            </a:r>
            <a:endParaRPr lang="en-US" sz="800" dirty="0"/>
          </a:p>
        </p:txBody>
      </p:sp>
      <p:sp>
        <p:nvSpPr>
          <p:cNvPr id="43" name="Text 41"/>
          <p:cNvSpPr/>
          <p:nvPr/>
        </p:nvSpPr>
        <p:spPr>
          <a:xfrm>
            <a:off x="8176565" y="6724904"/>
            <a:ext cx="3448202" cy="274320"/>
          </a:xfrm>
          <a:prstGeom prst="rect">
            <a:avLst/>
          </a:prstGeom>
          <a:noFill/>
          <a:ln/>
        </p:spPr>
        <p:txBody>
          <a:bodyPr wrap="square" rtlCol="0" anchor="ctr"/>
          <a:lstStyle/>
          <a:p>
            <a:pPr indent="0" marL="0">
              <a:buNone/>
            </a:pPr>
            <a:r>
              <a:rPr lang="en-US" sz="1400" b="1" dirty="0">
                <a:solidFill>
                  <a:srgbClr val="1A1A2E"/>
                </a:solidFill>
                <a:latin typeface="Malgun Gothic" pitchFamily="34" charset="0"/>
                <a:ea typeface="Malgun Gothic" pitchFamily="34" charset="-122"/>
                <a:cs typeface="Malgun Gothic" pitchFamily="34" charset="-120"/>
              </a:rPr>
              <a:t>⚛️ React 생태계 작업자</a:t>
            </a:r>
            <a:endParaRPr lang="en-US" sz="1400" dirty="0"/>
          </a:p>
        </p:txBody>
      </p:sp>
      <p:sp>
        <p:nvSpPr>
          <p:cNvPr id="44" name="Text 42"/>
          <p:cNvSpPr/>
          <p:nvPr/>
        </p:nvSpPr>
        <p:spPr>
          <a:xfrm>
            <a:off x="8176565" y="7035800"/>
            <a:ext cx="3448202" cy="658368"/>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`shadcn/ui` 기반의 트렌디하고 유지보수가 쉬운 컴포넌트 코드가 필요한 분.</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172A"/>
          </a:solidFill>
          <a:ln w="12700">
            <a:solidFill>
              <a:srgbClr val="0F172A"/>
            </a:solidFill>
            <a:prstDash val="solid"/>
          </a:ln>
        </p:spPr>
      </p:sp>
      <p:sp>
        <p:nvSpPr>
          <p:cNvPr id="3" name="Shape 1"/>
          <p:cNvSpPr/>
          <p:nvPr/>
        </p:nvSpPr>
        <p:spPr>
          <a:xfrm>
            <a:off x="502920" y="228600"/>
            <a:ext cx="502920" cy="502920"/>
          </a:xfrm>
          <a:prstGeom prst="roundRect">
            <a:avLst>
              <a:gd name="adj" fmla="val 18182"/>
            </a:avLst>
          </a:prstGeom>
          <a:solidFill>
            <a:srgbClr val="D97757"/>
          </a:solidFill>
          <a:ln w="12700">
            <a:solidFill>
              <a:srgbClr val="D97757"/>
            </a:solidFill>
            <a:prstDash val="solid"/>
          </a:ln>
        </p:spPr>
      </p:sp>
      <p:sp>
        <p:nvSpPr>
          <p:cNvPr id="4" name="Text 2"/>
          <p:cNvSpPr/>
          <p:nvPr/>
        </p:nvSpPr>
        <p:spPr>
          <a:xfrm>
            <a:off x="502920" y="228600"/>
            <a:ext cx="502920" cy="502920"/>
          </a:xfrm>
          <a:prstGeom prst="rect">
            <a:avLst/>
          </a:prstGeom>
          <a:noFill/>
          <a:ln/>
        </p:spPr>
        <p:txBody>
          <a:bodyPr wrap="square"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5" name="Text 3"/>
          <p:cNvSpPr/>
          <p:nvPr/>
        </p:nvSpPr>
        <p:spPr>
          <a:xfrm>
            <a:off x="1143000" y="0"/>
            <a:ext cx="10957255" cy="960120"/>
          </a:xfrm>
          <a:prstGeom prst="rect">
            <a:avLst/>
          </a:prstGeom>
          <a:noFill/>
          <a:ln/>
        </p:spPr>
        <p:txBody>
          <a:bodyPr wrap="square"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시작하기: 3단계로 끝내는 UI 생성</a:t>
            </a:r>
            <a:endParaRPr lang="en-US" sz="2200" dirty="0"/>
          </a:p>
        </p:txBody>
      </p:sp>
      <p:sp>
        <p:nvSpPr>
          <p:cNvPr id="6" name="Shape 4"/>
          <p:cNvSpPr/>
          <p:nvPr/>
        </p:nvSpPr>
        <p:spPr>
          <a:xfrm>
            <a:off x="457200" y="1143000"/>
            <a:ext cx="11277295" cy="740410"/>
          </a:xfrm>
          <a:prstGeom prst="roundRect">
            <a:avLst>
              <a:gd name="adj" fmla="val 9880"/>
            </a:avLst>
          </a:prstGeom>
          <a:solidFill>
            <a:srgbClr val="FFFFFF"/>
          </a:solidFill>
          <a:ln w="9525">
            <a:solidFill>
              <a:srgbClr val="F0D4C4"/>
            </a:solidFill>
            <a:prstDash val="solid"/>
          </a:ln>
        </p:spPr>
      </p:sp>
      <p:sp>
        <p:nvSpPr>
          <p:cNvPr id="7" name="Text 5"/>
          <p:cNvSpPr/>
          <p:nvPr/>
        </p:nvSpPr>
        <p:spPr>
          <a:xfrm>
            <a:off x="685800" y="1325880"/>
            <a:ext cx="10820095" cy="237490"/>
          </a:xfrm>
          <a:prstGeom prst="rect">
            <a:avLst/>
          </a:prstGeom>
          <a:noFill/>
          <a:ln/>
        </p:spPr>
        <p:txBody>
          <a:bodyPr wrap="square" rtlCol="0" anchor="t"/>
          <a:lstStyle/>
          <a:p>
            <a:pPr indent="0" marL="0">
              <a:buNone/>
            </a:pPr>
            <a:r>
              <a:rPr lang="en-US" sz="1100" dirty="0">
                <a:solidFill>
                  <a:srgbClr val="475569"/>
                </a:solidFill>
                <a:latin typeface="Malgun Gothic" pitchFamily="34" charset="0"/>
                <a:ea typeface="Malgun Gothic" pitchFamily="34" charset="-122"/>
                <a:cs typeface="Malgun Gothic" pitchFamily="34" charset="-120"/>
              </a:rPr>
              <a:t>복잡한 설치 없이 웹 브라우저에서 모든 것이 끝납니다.</a:t>
            </a:r>
            <a:endParaRPr lang="en-US" sz="1100" dirty="0"/>
          </a:p>
        </p:txBody>
      </p:sp>
      <p:sp>
        <p:nvSpPr>
          <p:cNvPr id="8" name="Shape 6"/>
          <p:cNvSpPr/>
          <p:nvPr/>
        </p:nvSpPr>
        <p:spPr>
          <a:xfrm>
            <a:off x="457200" y="2020570"/>
            <a:ext cx="11277295" cy="1154430"/>
          </a:xfrm>
          <a:prstGeom prst="roundRect">
            <a:avLst>
              <a:gd name="adj" fmla="val 6337"/>
            </a:avLst>
          </a:prstGeom>
          <a:solidFill>
            <a:srgbClr val="FFFFFF"/>
          </a:solidFill>
          <a:ln w="9525">
            <a:solidFill>
              <a:srgbClr val="F0D4C4"/>
            </a:solidFill>
            <a:prstDash val="solid"/>
          </a:ln>
        </p:spPr>
      </p:sp>
      <p:sp>
        <p:nvSpPr>
          <p:cNvPr id="9" name="Text 7"/>
          <p:cNvSpPr/>
          <p:nvPr/>
        </p:nvSpPr>
        <p:spPr>
          <a:xfrm>
            <a:off x="685800" y="2203450"/>
            <a:ext cx="10820095" cy="347980"/>
          </a:xfrm>
          <a:prstGeom prst="rect">
            <a:avLst/>
          </a:prstGeom>
          <a:noFill/>
          <a:ln/>
        </p:spPr>
        <p:txBody>
          <a:bodyPr wrap="square" rtlCol="0" anchor="t"/>
          <a:lstStyle/>
          <a:p>
            <a:pPr indent="0" marL="0">
              <a:buNone/>
            </a:pPr>
            <a:r>
              <a:rPr lang="en-US" sz="1400" b="1" dirty="0">
                <a:solidFill>
                  <a:srgbClr val="B85F3F"/>
                </a:solidFill>
                <a:latin typeface="Malgun Gothic" pitchFamily="34" charset="0"/>
                <a:ea typeface="Malgun Gothic" pitchFamily="34" charset="-122"/>
                <a:cs typeface="Malgun Gothic" pitchFamily="34" charset="-120"/>
              </a:rPr>
              <a:t>기본 사용 흐름</a:t>
            </a:r>
            <a:endParaRPr lang="en-US" sz="1400" dirty="0"/>
          </a:p>
        </p:txBody>
      </p:sp>
      <p:sp>
        <p:nvSpPr>
          <p:cNvPr id="10" name="Text 8"/>
          <p:cNvSpPr/>
          <p:nvPr/>
        </p:nvSpPr>
        <p:spPr>
          <a:xfrm>
            <a:off x="685800" y="2620010"/>
            <a:ext cx="10820095" cy="326390"/>
          </a:xfrm>
          <a:prstGeom prst="rect">
            <a:avLst/>
          </a:prstGeom>
          <a:noFill/>
          <a:ln/>
        </p:spPr>
        <p:txBody>
          <a:bodyPr wrap="square" rtlCol="0" anchor="t"/>
          <a:lstStyle/>
          <a:p>
            <a:pPr indent="0" marL="0">
              <a:buNone/>
            </a:pPr>
            <a:r>
              <a:rPr lang="en-US" sz="1300" b="1" dirty="0">
                <a:solidFill>
                  <a:srgbClr val="1A1A2E"/>
                </a:solidFill>
                <a:latin typeface="Malgun Gothic" pitchFamily="34" charset="0"/>
                <a:ea typeface="Malgun Gothic" pitchFamily="34" charset="-122"/>
                <a:cs typeface="Malgun Gothic" pitchFamily="34" charset="-120"/>
              </a:rPr>
              <a:t>기본 사용 흐름</a:t>
            </a:r>
            <a:endParaRPr lang="en-US" sz="1300" dirty="0"/>
          </a:p>
        </p:txBody>
      </p:sp>
      <p:sp>
        <p:nvSpPr>
          <p:cNvPr id="11" name="Shape 9"/>
          <p:cNvSpPr/>
          <p:nvPr/>
        </p:nvSpPr>
        <p:spPr>
          <a:xfrm>
            <a:off x="457200" y="3312160"/>
            <a:ext cx="11277295" cy="658368"/>
          </a:xfrm>
          <a:prstGeom prst="roundRect">
            <a:avLst>
              <a:gd name="adj" fmla="val 11111"/>
            </a:avLst>
          </a:prstGeom>
          <a:solidFill>
            <a:srgbClr val="FFFFFF"/>
          </a:solidFill>
          <a:ln w="9525">
            <a:solidFill>
              <a:srgbClr val="F0D4C4"/>
            </a:solidFill>
            <a:prstDash val="solid"/>
          </a:ln>
        </p:spPr>
      </p:sp>
      <p:sp>
        <p:nvSpPr>
          <p:cNvPr id="12" name="Shape 10"/>
          <p:cNvSpPr/>
          <p:nvPr/>
        </p:nvSpPr>
        <p:spPr>
          <a:xfrm>
            <a:off x="548640" y="3449320"/>
            <a:ext cx="384048" cy="384048"/>
          </a:xfrm>
          <a:prstGeom prst="roundRect">
            <a:avLst>
              <a:gd name="adj" fmla="val 23810"/>
            </a:avLst>
          </a:prstGeom>
          <a:solidFill>
            <a:srgbClr val="D97757"/>
          </a:solidFill>
          <a:ln w="12700">
            <a:solidFill>
              <a:srgbClr val="D97757"/>
            </a:solidFill>
            <a:prstDash val="solid"/>
          </a:ln>
        </p:spPr>
      </p:sp>
      <p:sp>
        <p:nvSpPr>
          <p:cNvPr id="13" name="Text 11"/>
          <p:cNvSpPr/>
          <p:nvPr/>
        </p:nvSpPr>
        <p:spPr>
          <a:xfrm>
            <a:off x="548640" y="3449320"/>
            <a:ext cx="384048" cy="384048"/>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14" name="Text 12"/>
          <p:cNvSpPr/>
          <p:nvPr/>
        </p:nvSpPr>
        <p:spPr>
          <a:xfrm>
            <a:off x="1042416" y="3376168"/>
            <a:ext cx="10600639" cy="237744"/>
          </a:xfrm>
          <a:prstGeom prst="rect">
            <a:avLst/>
          </a:prstGeom>
          <a:noFill/>
          <a:ln/>
        </p:spPr>
        <p:txBody>
          <a:bodyPr wrap="square" rtlCol="0" anchor="t"/>
          <a:lstStyle/>
          <a:p>
            <a:pPr indent="0" marL="0">
              <a:buNone/>
            </a:pPr>
            <a:r>
              <a:rPr lang="en-US" sz="1100" b="1" dirty="0">
                <a:solidFill>
                  <a:srgbClr val="1A1A2E"/>
                </a:solidFill>
                <a:latin typeface="Malgun Gothic" pitchFamily="34" charset="0"/>
                <a:ea typeface="Malgun Gothic" pitchFamily="34" charset="-122"/>
                <a:cs typeface="Malgun Gothic" pitchFamily="34" charset="-120"/>
              </a:rPr>
              <a:t>프롬프트 입력</a:t>
            </a:r>
            <a:endParaRPr lang="en-US" sz="1100" dirty="0"/>
          </a:p>
        </p:txBody>
      </p:sp>
      <p:sp>
        <p:nvSpPr>
          <p:cNvPr id="15" name="Text 13"/>
          <p:cNvSpPr/>
          <p:nvPr/>
        </p:nvSpPr>
        <p:spPr>
          <a:xfrm>
            <a:off x="1042416" y="3623056"/>
            <a:ext cx="10600639" cy="292608"/>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검색창에 "로그인과 비밀번호 찾기 기능이 있는 깔끔한 모달 창을 만들어줘"라고 입력합니다.</a:t>
            </a:r>
            <a:endParaRPr lang="en-US" sz="1000" dirty="0"/>
          </a:p>
        </p:txBody>
      </p:sp>
      <p:sp>
        <p:nvSpPr>
          <p:cNvPr id="16" name="Shape 14"/>
          <p:cNvSpPr/>
          <p:nvPr/>
        </p:nvSpPr>
        <p:spPr>
          <a:xfrm>
            <a:off x="457200" y="4107688"/>
            <a:ext cx="11277295" cy="658368"/>
          </a:xfrm>
          <a:prstGeom prst="roundRect">
            <a:avLst>
              <a:gd name="adj" fmla="val 11111"/>
            </a:avLst>
          </a:prstGeom>
          <a:solidFill>
            <a:srgbClr val="FFFFFF"/>
          </a:solidFill>
          <a:ln w="9525">
            <a:solidFill>
              <a:srgbClr val="F0D4C4"/>
            </a:solidFill>
            <a:prstDash val="solid"/>
          </a:ln>
        </p:spPr>
      </p:sp>
      <p:sp>
        <p:nvSpPr>
          <p:cNvPr id="17" name="Shape 15"/>
          <p:cNvSpPr/>
          <p:nvPr/>
        </p:nvSpPr>
        <p:spPr>
          <a:xfrm>
            <a:off x="548640" y="4244848"/>
            <a:ext cx="384048" cy="384048"/>
          </a:xfrm>
          <a:prstGeom prst="roundRect">
            <a:avLst>
              <a:gd name="adj" fmla="val 23810"/>
            </a:avLst>
          </a:prstGeom>
          <a:solidFill>
            <a:srgbClr val="D97757"/>
          </a:solidFill>
          <a:ln w="12700">
            <a:solidFill>
              <a:srgbClr val="D97757"/>
            </a:solidFill>
            <a:prstDash val="solid"/>
          </a:ln>
        </p:spPr>
      </p:sp>
      <p:sp>
        <p:nvSpPr>
          <p:cNvPr id="18" name="Text 16"/>
          <p:cNvSpPr/>
          <p:nvPr/>
        </p:nvSpPr>
        <p:spPr>
          <a:xfrm>
            <a:off x="548640" y="4244848"/>
            <a:ext cx="384048" cy="384048"/>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19" name="Text 17"/>
          <p:cNvSpPr/>
          <p:nvPr/>
        </p:nvSpPr>
        <p:spPr>
          <a:xfrm>
            <a:off x="1042416" y="4171696"/>
            <a:ext cx="10600639" cy="237744"/>
          </a:xfrm>
          <a:prstGeom prst="rect">
            <a:avLst/>
          </a:prstGeom>
          <a:noFill/>
          <a:ln/>
        </p:spPr>
        <p:txBody>
          <a:bodyPr wrap="square" rtlCol="0" anchor="t"/>
          <a:lstStyle/>
          <a:p>
            <a:pPr indent="0" marL="0">
              <a:buNone/>
            </a:pPr>
            <a:r>
              <a:rPr lang="en-US" sz="1100" b="1" dirty="0">
                <a:solidFill>
                  <a:srgbClr val="1A1A2E"/>
                </a:solidFill>
                <a:latin typeface="Malgun Gothic" pitchFamily="34" charset="0"/>
                <a:ea typeface="Malgun Gothic" pitchFamily="34" charset="-122"/>
                <a:cs typeface="Malgun Gothic" pitchFamily="34" charset="-120"/>
              </a:rPr>
              <a:t>렌더링 결과 확인</a:t>
            </a:r>
            <a:endParaRPr lang="en-US" sz="1100" dirty="0"/>
          </a:p>
        </p:txBody>
      </p:sp>
      <p:sp>
        <p:nvSpPr>
          <p:cNvPr id="20" name="Text 18"/>
          <p:cNvSpPr/>
          <p:nvPr/>
        </p:nvSpPr>
        <p:spPr>
          <a:xfrm>
            <a:off x="1042416" y="4418584"/>
            <a:ext cx="10600639" cy="292608"/>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v0가 실시간으로 3개의 각기 다른 디자인 버전을 생성합니다. 마음에 드는 것을 고릅니다.</a:t>
            </a:r>
            <a:endParaRPr lang="en-US" sz="1000" dirty="0"/>
          </a:p>
        </p:txBody>
      </p:sp>
      <p:sp>
        <p:nvSpPr>
          <p:cNvPr id="21" name="Shape 19"/>
          <p:cNvSpPr/>
          <p:nvPr/>
        </p:nvSpPr>
        <p:spPr>
          <a:xfrm>
            <a:off x="457200" y="4903216"/>
            <a:ext cx="11277295" cy="658368"/>
          </a:xfrm>
          <a:prstGeom prst="roundRect">
            <a:avLst>
              <a:gd name="adj" fmla="val 11111"/>
            </a:avLst>
          </a:prstGeom>
          <a:solidFill>
            <a:srgbClr val="FFFFFF"/>
          </a:solidFill>
          <a:ln w="9525">
            <a:solidFill>
              <a:srgbClr val="F0D4C4"/>
            </a:solidFill>
            <a:prstDash val="solid"/>
          </a:ln>
        </p:spPr>
      </p:sp>
      <p:sp>
        <p:nvSpPr>
          <p:cNvPr id="22" name="Shape 20"/>
          <p:cNvSpPr/>
          <p:nvPr/>
        </p:nvSpPr>
        <p:spPr>
          <a:xfrm>
            <a:off x="548640" y="5040376"/>
            <a:ext cx="384048" cy="384048"/>
          </a:xfrm>
          <a:prstGeom prst="roundRect">
            <a:avLst>
              <a:gd name="adj" fmla="val 23810"/>
            </a:avLst>
          </a:prstGeom>
          <a:solidFill>
            <a:srgbClr val="D97757"/>
          </a:solidFill>
          <a:ln w="12700">
            <a:solidFill>
              <a:srgbClr val="D97757"/>
            </a:solidFill>
            <a:prstDash val="solid"/>
          </a:ln>
        </p:spPr>
      </p:sp>
      <p:sp>
        <p:nvSpPr>
          <p:cNvPr id="23" name="Text 21"/>
          <p:cNvSpPr/>
          <p:nvPr/>
        </p:nvSpPr>
        <p:spPr>
          <a:xfrm>
            <a:off x="548640" y="5040376"/>
            <a:ext cx="384048" cy="384048"/>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24" name="Text 22"/>
          <p:cNvSpPr/>
          <p:nvPr/>
        </p:nvSpPr>
        <p:spPr>
          <a:xfrm>
            <a:off x="1042416" y="4967224"/>
            <a:ext cx="10600639" cy="237744"/>
          </a:xfrm>
          <a:prstGeom prst="rect">
            <a:avLst/>
          </a:prstGeom>
          <a:noFill/>
          <a:ln/>
        </p:spPr>
        <p:txBody>
          <a:bodyPr wrap="square" rtlCol="0" anchor="t"/>
          <a:lstStyle/>
          <a:p>
            <a:pPr indent="0" marL="0">
              <a:buNone/>
            </a:pPr>
            <a:r>
              <a:rPr lang="en-US" sz="1100" b="1" dirty="0">
                <a:solidFill>
                  <a:srgbClr val="1A1A2E"/>
                </a:solidFill>
                <a:latin typeface="Malgun Gothic" pitchFamily="34" charset="0"/>
                <a:ea typeface="Malgun Gothic" pitchFamily="34" charset="-122"/>
                <a:cs typeface="Malgun Gothic" pitchFamily="34" charset="-120"/>
              </a:rPr>
              <a:t>대화형 수정</a:t>
            </a:r>
            <a:endParaRPr lang="en-US" sz="1100" dirty="0"/>
          </a:p>
        </p:txBody>
      </p:sp>
      <p:sp>
        <p:nvSpPr>
          <p:cNvPr id="25" name="Text 23"/>
          <p:cNvSpPr/>
          <p:nvPr/>
        </p:nvSpPr>
        <p:spPr>
          <a:xfrm>
            <a:off x="1042416" y="5214112"/>
            <a:ext cx="10600639" cy="292608"/>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버튼을 좀 더 크게 하고, 우측에 설명 이미지를 넣는 2단 구조로 바꿔줘"라고 추가 지시를 내립니다.</a:t>
            </a:r>
            <a:endParaRPr lang="en-US" sz="1000" dirty="0"/>
          </a:p>
        </p:txBody>
      </p:sp>
      <p:sp>
        <p:nvSpPr>
          <p:cNvPr id="26" name="Shape 24"/>
          <p:cNvSpPr/>
          <p:nvPr/>
        </p:nvSpPr>
        <p:spPr>
          <a:xfrm>
            <a:off x="457200" y="5698744"/>
            <a:ext cx="11277295" cy="658368"/>
          </a:xfrm>
          <a:prstGeom prst="roundRect">
            <a:avLst>
              <a:gd name="adj" fmla="val 11111"/>
            </a:avLst>
          </a:prstGeom>
          <a:solidFill>
            <a:srgbClr val="FFFFFF"/>
          </a:solidFill>
          <a:ln w="9525">
            <a:solidFill>
              <a:srgbClr val="F0D4C4"/>
            </a:solidFill>
            <a:prstDash val="solid"/>
          </a:ln>
        </p:spPr>
      </p:sp>
      <p:sp>
        <p:nvSpPr>
          <p:cNvPr id="27" name="Shape 25"/>
          <p:cNvSpPr/>
          <p:nvPr/>
        </p:nvSpPr>
        <p:spPr>
          <a:xfrm>
            <a:off x="548640" y="5835904"/>
            <a:ext cx="384048" cy="384048"/>
          </a:xfrm>
          <a:prstGeom prst="roundRect">
            <a:avLst>
              <a:gd name="adj" fmla="val 23810"/>
            </a:avLst>
          </a:prstGeom>
          <a:solidFill>
            <a:srgbClr val="D97757"/>
          </a:solidFill>
          <a:ln w="12700">
            <a:solidFill>
              <a:srgbClr val="D97757"/>
            </a:solidFill>
            <a:prstDash val="solid"/>
          </a:ln>
        </p:spPr>
      </p:sp>
      <p:sp>
        <p:nvSpPr>
          <p:cNvPr id="28" name="Text 26"/>
          <p:cNvSpPr/>
          <p:nvPr/>
        </p:nvSpPr>
        <p:spPr>
          <a:xfrm>
            <a:off x="548640" y="5835904"/>
            <a:ext cx="384048" cy="384048"/>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29" name="Text 27"/>
          <p:cNvSpPr/>
          <p:nvPr/>
        </p:nvSpPr>
        <p:spPr>
          <a:xfrm>
            <a:off x="1042416" y="5762752"/>
            <a:ext cx="10600639" cy="237744"/>
          </a:xfrm>
          <a:prstGeom prst="rect">
            <a:avLst/>
          </a:prstGeom>
          <a:noFill/>
          <a:ln/>
        </p:spPr>
        <p:txBody>
          <a:bodyPr wrap="square" rtlCol="0" anchor="t"/>
          <a:lstStyle/>
          <a:p>
            <a:pPr indent="0" marL="0">
              <a:buNone/>
            </a:pPr>
            <a:r>
              <a:rPr lang="en-US" sz="1100" b="1" dirty="0">
                <a:solidFill>
                  <a:srgbClr val="1A1A2E"/>
                </a:solidFill>
                <a:latin typeface="Malgun Gothic" pitchFamily="34" charset="0"/>
                <a:ea typeface="Malgun Gothic" pitchFamily="34" charset="-122"/>
                <a:cs typeface="Malgun Gothic" pitchFamily="34" charset="-120"/>
              </a:rPr>
              <a:t>코드 내보내기</a:t>
            </a:r>
            <a:endParaRPr lang="en-US" sz="1100" dirty="0"/>
          </a:p>
        </p:txBody>
      </p:sp>
      <p:sp>
        <p:nvSpPr>
          <p:cNvPr id="30" name="Text 28"/>
          <p:cNvSpPr/>
          <p:nvPr/>
        </p:nvSpPr>
        <p:spPr>
          <a:xfrm>
            <a:off x="1042416" y="6009640"/>
            <a:ext cx="10600639" cy="292608"/>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화면 우측 상단의 '&lt;&gt; Code' 버튼을 눌러 React 코드를 확인합니다.</a:t>
            </a:r>
            <a:endParaRPr lang="en-US" sz="1000" dirty="0"/>
          </a:p>
        </p:txBody>
      </p:sp>
      <p:sp>
        <p:nvSpPr>
          <p:cNvPr id="31" name="Shape 29"/>
          <p:cNvSpPr/>
          <p:nvPr/>
        </p:nvSpPr>
        <p:spPr>
          <a:xfrm>
            <a:off x="457200" y="6494272"/>
            <a:ext cx="11277295" cy="658368"/>
          </a:xfrm>
          <a:prstGeom prst="roundRect">
            <a:avLst>
              <a:gd name="adj" fmla="val 11111"/>
            </a:avLst>
          </a:prstGeom>
          <a:solidFill>
            <a:srgbClr val="FFFFFF"/>
          </a:solidFill>
          <a:ln w="9525">
            <a:solidFill>
              <a:srgbClr val="F0D4C4"/>
            </a:solidFill>
            <a:prstDash val="solid"/>
          </a:ln>
        </p:spPr>
      </p:sp>
      <p:sp>
        <p:nvSpPr>
          <p:cNvPr id="32" name="Shape 30"/>
          <p:cNvSpPr/>
          <p:nvPr/>
        </p:nvSpPr>
        <p:spPr>
          <a:xfrm>
            <a:off x="548640" y="6631432"/>
            <a:ext cx="384048" cy="384048"/>
          </a:xfrm>
          <a:prstGeom prst="roundRect">
            <a:avLst>
              <a:gd name="adj" fmla="val 23810"/>
            </a:avLst>
          </a:prstGeom>
          <a:solidFill>
            <a:srgbClr val="D97757"/>
          </a:solidFill>
          <a:ln w="12700">
            <a:solidFill>
              <a:srgbClr val="D97757"/>
            </a:solidFill>
            <a:prstDash val="solid"/>
          </a:ln>
        </p:spPr>
      </p:sp>
      <p:sp>
        <p:nvSpPr>
          <p:cNvPr id="33" name="Text 31"/>
          <p:cNvSpPr/>
          <p:nvPr/>
        </p:nvSpPr>
        <p:spPr>
          <a:xfrm>
            <a:off x="548640" y="6631432"/>
            <a:ext cx="384048" cy="384048"/>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5</a:t>
            </a:r>
            <a:endParaRPr lang="en-US" sz="1300" dirty="0"/>
          </a:p>
        </p:txBody>
      </p:sp>
      <p:sp>
        <p:nvSpPr>
          <p:cNvPr id="34" name="Text 32"/>
          <p:cNvSpPr/>
          <p:nvPr/>
        </p:nvSpPr>
        <p:spPr>
          <a:xfrm>
            <a:off x="1042416" y="6558280"/>
            <a:ext cx="10600639" cy="237744"/>
          </a:xfrm>
          <a:prstGeom prst="rect">
            <a:avLst/>
          </a:prstGeom>
          <a:noFill/>
          <a:ln/>
        </p:spPr>
        <p:txBody>
          <a:bodyPr wrap="square" rtlCol="0" anchor="t"/>
          <a:lstStyle/>
          <a:p>
            <a:pPr indent="0" marL="0">
              <a:buNone/>
            </a:pPr>
            <a:r>
              <a:rPr lang="en-US" sz="1100" b="1" dirty="0">
                <a:solidFill>
                  <a:srgbClr val="1A1A2E"/>
                </a:solidFill>
                <a:latin typeface="Malgun Gothic" pitchFamily="34" charset="0"/>
                <a:ea typeface="Malgun Gothic" pitchFamily="34" charset="-122"/>
                <a:cs typeface="Malgun Gothic" pitchFamily="34" charset="-120"/>
              </a:rPr>
              <a:t>내 프로젝트 적용</a:t>
            </a:r>
            <a:endParaRPr lang="en-US" sz="1100" dirty="0"/>
          </a:p>
        </p:txBody>
      </p:sp>
      <p:sp>
        <p:nvSpPr>
          <p:cNvPr id="35" name="Text 33"/>
          <p:cNvSpPr/>
          <p:nvPr/>
        </p:nvSpPr>
        <p:spPr>
          <a:xfrm>
            <a:off x="1042416" y="6805168"/>
            <a:ext cx="10600639" cy="292608"/>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복사한 코드를 내 로컬 React/Next.js 프로젝트의 `components` 폴더에 그대로 붙여넣습니다.</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172A"/>
          </a:solidFill>
          <a:ln w="12700">
            <a:solidFill>
              <a:srgbClr val="0F172A"/>
            </a:solidFill>
            <a:prstDash val="solid"/>
          </a:ln>
        </p:spPr>
      </p:sp>
      <p:sp>
        <p:nvSpPr>
          <p:cNvPr id="3" name="Shape 1"/>
          <p:cNvSpPr/>
          <p:nvPr/>
        </p:nvSpPr>
        <p:spPr>
          <a:xfrm>
            <a:off x="502920" y="228600"/>
            <a:ext cx="502920" cy="502920"/>
          </a:xfrm>
          <a:prstGeom prst="roundRect">
            <a:avLst>
              <a:gd name="adj" fmla="val 18182"/>
            </a:avLst>
          </a:prstGeom>
          <a:solidFill>
            <a:srgbClr val="D97757"/>
          </a:solidFill>
          <a:ln w="12700">
            <a:solidFill>
              <a:srgbClr val="D97757"/>
            </a:solidFill>
            <a:prstDash val="solid"/>
          </a:ln>
        </p:spPr>
      </p:sp>
      <p:sp>
        <p:nvSpPr>
          <p:cNvPr id="4" name="Text 2"/>
          <p:cNvSpPr/>
          <p:nvPr/>
        </p:nvSpPr>
        <p:spPr>
          <a:xfrm>
            <a:off x="502920" y="228600"/>
            <a:ext cx="502920" cy="502920"/>
          </a:xfrm>
          <a:prstGeom prst="rect">
            <a:avLst/>
          </a:prstGeom>
          <a:noFill/>
          <a:ln/>
        </p:spPr>
        <p:txBody>
          <a:bodyPr wrap="square"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5" name="Text 3"/>
          <p:cNvSpPr/>
          <p:nvPr/>
        </p:nvSpPr>
        <p:spPr>
          <a:xfrm>
            <a:off x="1143000" y="0"/>
            <a:ext cx="10957255" cy="960120"/>
          </a:xfrm>
          <a:prstGeom prst="rect">
            <a:avLst/>
          </a:prstGeom>
          <a:noFill/>
          <a:ln/>
        </p:spPr>
        <p:txBody>
          <a:bodyPr wrap="square"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AI 도구별 역할 비교 가이드</a:t>
            </a:r>
            <a:endParaRPr lang="en-US" sz="2200" dirty="0"/>
          </a:p>
        </p:txBody>
      </p:sp>
      <p:sp>
        <p:nvSpPr>
          <p:cNvPr id="6" name="Shape 4"/>
          <p:cNvSpPr/>
          <p:nvPr/>
        </p:nvSpPr>
        <p:spPr>
          <a:xfrm>
            <a:off x="457200" y="1143000"/>
            <a:ext cx="11277295" cy="740410"/>
          </a:xfrm>
          <a:prstGeom prst="roundRect">
            <a:avLst>
              <a:gd name="adj" fmla="val 9880"/>
            </a:avLst>
          </a:prstGeom>
          <a:solidFill>
            <a:srgbClr val="FFFFFF"/>
          </a:solidFill>
          <a:ln w="9525">
            <a:solidFill>
              <a:srgbClr val="F0D4C4"/>
            </a:solidFill>
            <a:prstDash val="solid"/>
          </a:ln>
        </p:spPr>
      </p:sp>
      <p:sp>
        <p:nvSpPr>
          <p:cNvPr id="7" name="Text 5"/>
          <p:cNvSpPr/>
          <p:nvPr/>
        </p:nvSpPr>
        <p:spPr>
          <a:xfrm>
            <a:off x="685800" y="1325880"/>
            <a:ext cx="10820095" cy="237490"/>
          </a:xfrm>
          <a:prstGeom prst="rect">
            <a:avLst/>
          </a:prstGeom>
          <a:noFill/>
          <a:ln/>
        </p:spPr>
        <p:txBody>
          <a:bodyPr wrap="square" rtlCol="0" anchor="t"/>
          <a:lstStyle/>
          <a:p>
            <a:pPr indent="0" marL="0">
              <a:buNone/>
            </a:pPr>
            <a:r>
              <a:rPr lang="en-US" sz="1100" dirty="0">
                <a:solidFill>
                  <a:srgbClr val="475569"/>
                </a:solidFill>
                <a:latin typeface="Malgun Gothic" pitchFamily="34" charset="0"/>
                <a:ea typeface="Malgun Gothic" pitchFamily="34" charset="-122"/>
                <a:cs typeface="Malgun Gothic" pitchFamily="34" charset="-120"/>
              </a:rPr>
              <a:t>유사한 AI 도구들과의 명확한 용도 차이입니다.</a:t>
            </a:r>
            <a:endParaRPr lang="en-US" sz="1100" dirty="0"/>
          </a:p>
        </p:txBody>
      </p:sp>
      <p:sp>
        <p:nvSpPr>
          <p:cNvPr id="8" name="Shape 6"/>
          <p:cNvSpPr/>
          <p:nvPr/>
        </p:nvSpPr>
        <p:spPr>
          <a:xfrm>
            <a:off x="457200" y="2020570"/>
            <a:ext cx="3667658" cy="1280160"/>
          </a:xfrm>
          <a:prstGeom prst="roundRect">
            <a:avLst>
              <a:gd name="adj" fmla="val 5714"/>
            </a:avLst>
          </a:prstGeom>
          <a:solidFill>
            <a:srgbClr val="FFFFFF"/>
          </a:solidFill>
          <a:ln w="9525">
            <a:solidFill>
              <a:srgbClr val="F0D4C4"/>
            </a:solidFill>
            <a:prstDash val="solid"/>
          </a:ln>
        </p:spPr>
      </p:sp>
      <p:sp>
        <p:nvSpPr>
          <p:cNvPr id="9" name="Text 7"/>
          <p:cNvSpPr/>
          <p:nvPr/>
        </p:nvSpPr>
        <p:spPr>
          <a:xfrm>
            <a:off x="566928" y="2112010"/>
            <a:ext cx="3448202" cy="274320"/>
          </a:xfrm>
          <a:prstGeom prst="rect">
            <a:avLst/>
          </a:prstGeom>
          <a:noFill/>
          <a:ln/>
        </p:spPr>
        <p:txBody>
          <a:bodyPr wrap="square" rtlCol="0" anchor="ctr"/>
          <a:lstStyle/>
          <a:p>
            <a:pPr indent="0" marL="0">
              <a:buNone/>
            </a:pPr>
            <a:r>
              <a:rPr lang="en-US" sz="1400" b="1" dirty="0">
                <a:solidFill>
                  <a:srgbClr val="B85F3F"/>
                </a:solidFill>
                <a:latin typeface="Malgun Gothic" pitchFamily="34" charset="0"/>
                <a:ea typeface="Malgun Gothic" pitchFamily="34" charset="-122"/>
                <a:cs typeface="Malgun Gothic" pitchFamily="34" charset="-120"/>
              </a:rPr>
              <a:t>v0.dev (부분 집중)</a:t>
            </a:r>
            <a:endParaRPr lang="en-US" sz="1400" dirty="0"/>
          </a:p>
        </p:txBody>
      </p:sp>
      <p:sp>
        <p:nvSpPr>
          <p:cNvPr id="10" name="Text 8"/>
          <p:cNvSpPr/>
          <p:nvPr/>
        </p:nvSpPr>
        <p:spPr>
          <a:xfrm>
            <a:off x="566928" y="2404618"/>
            <a:ext cx="3448202" cy="548640"/>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앱 전체가 아니라 '결제 폼', '차트 화면', '네비게이션 바' 같은 특정 UI 조각(컴포넌트)을 찍어낼 때 최강입니다.</a:t>
            </a:r>
            <a:endParaRPr lang="en-US" sz="1000" dirty="0"/>
          </a:p>
        </p:txBody>
      </p:sp>
      <p:sp>
        <p:nvSpPr>
          <p:cNvPr id="11" name="Shape 9"/>
          <p:cNvSpPr/>
          <p:nvPr/>
        </p:nvSpPr>
        <p:spPr>
          <a:xfrm>
            <a:off x="566928" y="2980690"/>
            <a:ext cx="3448202" cy="256032"/>
          </a:xfrm>
          <a:prstGeom prst="roundRect">
            <a:avLst>
              <a:gd name="adj" fmla="val 21429"/>
            </a:avLst>
          </a:prstGeom>
          <a:solidFill>
            <a:srgbClr val="FDF0EB"/>
          </a:solidFill>
          <a:ln w="12700">
            <a:solidFill>
              <a:srgbClr val="FDF0EB"/>
            </a:solidFill>
            <a:prstDash val="solid"/>
          </a:ln>
        </p:spPr>
      </p:sp>
      <p:sp>
        <p:nvSpPr>
          <p:cNvPr id="12" name="Text 10"/>
          <p:cNvSpPr/>
          <p:nvPr/>
        </p:nvSpPr>
        <p:spPr>
          <a:xfrm>
            <a:off x="566928" y="2980690"/>
            <a:ext cx="3448202" cy="256032"/>
          </a:xfrm>
          <a:prstGeom prst="rect">
            <a:avLst/>
          </a:prstGeom>
          <a:noFill/>
          <a:ln/>
        </p:spPr>
        <p:txBody>
          <a:bodyPr wrap="square" rtlCol="0" anchor="ctr"/>
          <a:lstStyle/>
          <a:p>
            <a:pPr algn="ctr" indent="0" marL="0">
              <a:buNone/>
            </a:pPr>
            <a:r>
              <a:rPr lang="en-US" sz="800" b="1" dirty="0">
                <a:solidFill>
                  <a:srgbClr val="B85F3F"/>
                </a:solidFill>
                <a:latin typeface="Malgun Gothic" pitchFamily="34" charset="0"/>
                <a:ea typeface="Malgun Gothic" pitchFamily="34" charset="-122"/>
                <a:cs typeface="Malgun Gothic" pitchFamily="34" charset="-120"/>
              </a:rPr>
              <a:t>고품질 부품 생산</a:t>
            </a:r>
            <a:endParaRPr lang="en-US" sz="800" dirty="0"/>
          </a:p>
        </p:txBody>
      </p:sp>
      <p:sp>
        <p:nvSpPr>
          <p:cNvPr id="13" name="Shape 11"/>
          <p:cNvSpPr/>
          <p:nvPr/>
        </p:nvSpPr>
        <p:spPr>
          <a:xfrm>
            <a:off x="4262018" y="2020570"/>
            <a:ext cx="3667658" cy="1280160"/>
          </a:xfrm>
          <a:prstGeom prst="roundRect">
            <a:avLst>
              <a:gd name="adj" fmla="val 5714"/>
            </a:avLst>
          </a:prstGeom>
          <a:solidFill>
            <a:srgbClr val="FFFFFF"/>
          </a:solidFill>
          <a:ln w="9525">
            <a:solidFill>
              <a:srgbClr val="F0D4C4"/>
            </a:solidFill>
            <a:prstDash val="solid"/>
          </a:ln>
        </p:spPr>
      </p:sp>
      <p:sp>
        <p:nvSpPr>
          <p:cNvPr id="14" name="Text 12"/>
          <p:cNvSpPr/>
          <p:nvPr/>
        </p:nvSpPr>
        <p:spPr>
          <a:xfrm>
            <a:off x="4371746" y="2112010"/>
            <a:ext cx="3448202" cy="274320"/>
          </a:xfrm>
          <a:prstGeom prst="rect">
            <a:avLst/>
          </a:prstGeom>
          <a:noFill/>
          <a:ln/>
        </p:spPr>
        <p:txBody>
          <a:bodyPr wrap="square" rtlCol="0" anchor="ctr"/>
          <a:lstStyle/>
          <a:p>
            <a:pPr indent="0" marL="0">
              <a:buNone/>
            </a:pPr>
            <a:r>
              <a:rPr lang="en-US" sz="1400" b="1" dirty="0">
                <a:solidFill>
                  <a:srgbClr val="B85F3F"/>
                </a:solidFill>
                <a:latin typeface="Malgun Gothic" pitchFamily="34" charset="0"/>
                <a:ea typeface="Malgun Gothic" pitchFamily="34" charset="-122"/>
                <a:cs typeface="Malgun Gothic" pitchFamily="34" charset="-120"/>
              </a:rPr>
              <a:t>Lovable (전체 집중)</a:t>
            </a:r>
            <a:endParaRPr lang="en-US" sz="1400" dirty="0"/>
          </a:p>
        </p:txBody>
      </p:sp>
      <p:sp>
        <p:nvSpPr>
          <p:cNvPr id="15" name="Text 13"/>
          <p:cNvSpPr/>
          <p:nvPr/>
        </p:nvSpPr>
        <p:spPr>
          <a:xfrm>
            <a:off x="4371746" y="2404618"/>
            <a:ext cx="3448202" cy="548640"/>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UI 조각이 아니라 데이터베이스와 로그인 로직까지 연결된 '전체 앱'을 한 번에 만들 때 사용합니다.</a:t>
            </a:r>
            <a:endParaRPr lang="en-US" sz="1000" dirty="0"/>
          </a:p>
        </p:txBody>
      </p:sp>
      <p:sp>
        <p:nvSpPr>
          <p:cNvPr id="16" name="Shape 14"/>
          <p:cNvSpPr/>
          <p:nvPr/>
        </p:nvSpPr>
        <p:spPr>
          <a:xfrm>
            <a:off x="4371746" y="2980690"/>
            <a:ext cx="3448202" cy="256032"/>
          </a:xfrm>
          <a:prstGeom prst="roundRect">
            <a:avLst>
              <a:gd name="adj" fmla="val 21429"/>
            </a:avLst>
          </a:prstGeom>
          <a:solidFill>
            <a:srgbClr val="FDF0EB"/>
          </a:solidFill>
          <a:ln w="12700">
            <a:solidFill>
              <a:srgbClr val="FDF0EB"/>
            </a:solidFill>
            <a:prstDash val="solid"/>
          </a:ln>
        </p:spPr>
      </p:sp>
      <p:sp>
        <p:nvSpPr>
          <p:cNvPr id="17" name="Text 15"/>
          <p:cNvSpPr/>
          <p:nvPr/>
        </p:nvSpPr>
        <p:spPr>
          <a:xfrm>
            <a:off x="4371746" y="2980690"/>
            <a:ext cx="3448202" cy="256032"/>
          </a:xfrm>
          <a:prstGeom prst="rect">
            <a:avLst/>
          </a:prstGeom>
          <a:noFill/>
          <a:ln/>
        </p:spPr>
        <p:txBody>
          <a:bodyPr wrap="square" rtlCol="0" anchor="ctr"/>
          <a:lstStyle/>
          <a:p>
            <a:pPr algn="ctr" indent="0" marL="0">
              <a:buNone/>
            </a:pPr>
            <a:r>
              <a:rPr lang="en-US" sz="800" b="1" dirty="0">
                <a:solidFill>
                  <a:srgbClr val="B85F3F"/>
                </a:solidFill>
                <a:latin typeface="Malgun Gothic" pitchFamily="34" charset="0"/>
                <a:ea typeface="Malgun Gothic" pitchFamily="34" charset="-122"/>
                <a:cs typeface="Malgun Gothic" pitchFamily="34" charset="-120"/>
              </a:rPr>
              <a:t>공장 전체 건설</a:t>
            </a:r>
            <a:endParaRPr lang="en-US" sz="800" dirty="0"/>
          </a:p>
        </p:txBody>
      </p:sp>
      <p:sp>
        <p:nvSpPr>
          <p:cNvPr id="18" name="Shape 16"/>
          <p:cNvSpPr/>
          <p:nvPr/>
        </p:nvSpPr>
        <p:spPr>
          <a:xfrm>
            <a:off x="8066837" y="2020570"/>
            <a:ext cx="3667658" cy="1280160"/>
          </a:xfrm>
          <a:prstGeom prst="roundRect">
            <a:avLst>
              <a:gd name="adj" fmla="val 5714"/>
            </a:avLst>
          </a:prstGeom>
          <a:solidFill>
            <a:srgbClr val="FFFFFF"/>
          </a:solidFill>
          <a:ln w="9525">
            <a:solidFill>
              <a:srgbClr val="F0D4C4"/>
            </a:solidFill>
            <a:prstDash val="solid"/>
          </a:ln>
        </p:spPr>
      </p:sp>
      <p:sp>
        <p:nvSpPr>
          <p:cNvPr id="19" name="Text 17"/>
          <p:cNvSpPr/>
          <p:nvPr/>
        </p:nvSpPr>
        <p:spPr>
          <a:xfrm>
            <a:off x="8176565" y="2112010"/>
            <a:ext cx="3448202" cy="274320"/>
          </a:xfrm>
          <a:prstGeom prst="rect">
            <a:avLst/>
          </a:prstGeom>
          <a:noFill/>
          <a:ln/>
        </p:spPr>
        <p:txBody>
          <a:bodyPr wrap="square" rtlCol="0" anchor="ctr"/>
          <a:lstStyle/>
          <a:p>
            <a:pPr indent="0" marL="0">
              <a:buNone/>
            </a:pPr>
            <a:r>
              <a:rPr lang="en-US" sz="1400" b="1" dirty="0">
                <a:solidFill>
                  <a:srgbClr val="B85F3F"/>
                </a:solidFill>
                <a:latin typeface="Malgun Gothic" pitchFamily="34" charset="0"/>
                <a:ea typeface="Malgun Gothic" pitchFamily="34" charset="-122"/>
                <a:cs typeface="Malgun Gothic" pitchFamily="34" charset="-120"/>
              </a:rPr>
              <a:t>Cursor (직접 수정)</a:t>
            </a:r>
            <a:endParaRPr lang="en-US" sz="1400" dirty="0"/>
          </a:p>
        </p:txBody>
      </p:sp>
      <p:sp>
        <p:nvSpPr>
          <p:cNvPr id="20" name="Text 18"/>
          <p:cNvSpPr/>
          <p:nvPr/>
        </p:nvSpPr>
        <p:spPr>
          <a:xfrm>
            <a:off x="8176565" y="2404618"/>
            <a:ext cx="3448202" cy="548640"/>
          </a:xfrm>
          <a:prstGeom prst="rect">
            <a:avLst/>
          </a:prstGeom>
          <a:noFill/>
          <a:ln/>
        </p:spPr>
        <p:txBody>
          <a:bodyPr wrap="square" rtlCol="0" anchor="t"/>
          <a:lstStyle/>
          <a:p>
            <a:pPr indent="0" marL="0">
              <a:buNone/>
            </a:pPr>
            <a:r>
              <a:rPr lang="en-US" sz="1000" dirty="0">
                <a:solidFill>
                  <a:srgbClr val="475569"/>
                </a:solidFill>
                <a:latin typeface="Malgun Gothic" pitchFamily="34" charset="0"/>
                <a:ea typeface="Malgun Gothic" pitchFamily="34" charset="-122"/>
                <a:cs typeface="Malgun Gothic" pitchFamily="34" charset="-120"/>
              </a:rPr>
              <a:t>v0나 Lovable이 짜준 코드를 가져와 내 입맛에 맞게 세밀하게 수정하고 디버깅할 때 사용합니다.</a:t>
            </a:r>
            <a:endParaRPr lang="en-US" sz="1000" dirty="0"/>
          </a:p>
        </p:txBody>
      </p:sp>
      <p:sp>
        <p:nvSpPr>
          <p:cNvPr id="21" name="Shape 19"/>
          <p:cNvSpPr/>
          <p:nvPr/>
        </p:nvSpPr>
        <p:spPr>
          <a:xfrm>
            <a:off x="8176565" y="2980690"/>
            <a:ext cx="3448202" cy="256032"/>
          </a:xfrm>
          <a:prstGeom prst="roundRect">
            <a:avLst>
              <a:gd name="adj" fmla="val 21429"/>
            </a:avLst>
          </a:prstGeom>
          <a:solidFill>
            <a:srgbClr val="FDF0EB"/>
          </a:solidFill>
          <a:ln w="12700">
            <a:solidFill>
              <a:srgbClr val="FDF0EB"/>
            </a:solidFill>
            <a:prstDash val="solid"/>
          </a:ln>
        </p:spPr>
      </p:sp>
      <p:sp>
        <p:nvSpPr>
          <p:cNvPr id="22" name="Text 20"/>
          <p:cNvSpPr/>
          <p:nvPr/>
        </p:nvSpPr>
        <p:spPr>
          <a:xfrm>
            <a:off x="8176565" y="2980690"/>
            <a:ext cx="3448202" cy="256032"/>
          </a:xfrm>
          <a:prstGeom prst="rect">
            <a:avLst/>
          </a:prstGeom>
          <a:noFill/>
          <a:ln/>
        </p:spPr>
        <p:txBody>
          <a:bodyPr wrap="square" rtlCol="0" anchor="ctr"/>
          <a:lstStyle/>
          <a:p>
            <a:pPr algn="ctr" indent="0" marL="0">
              <a:buNone/>
            </a:pPr>
            <a:r>
              <a:rPr lang="en-US" sz="800" b="1" dirty="0">
                <a:solidFill>
                  <a:srgbClr val="B85F3F"/>
                </a:solidFill>
                <a:latin typeface="Malgun Gothic" pitchFamily="34" charset="0"/>
                <a:ea typeface="Malgun Gothic" pitchFamily="34" charset="-122"/>
                <a:cs typeface="Malgun Gothic" pitchFamily="34" charset="-120"/>
              </a:rPr>
              <a:t>마감 및 디테일 장인</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F172A"/>
          </a:solidFill>
          <a:ln w="12700">
            <a:solidFill>
              <a:srgbClr val="0F172A"/>
            </a:solidFill>
            <a:prstDash val="solid"/>
          </a:ln>
        </p:spPr>
      </p:sp>
      <p:sp>
        <p:nvSpPr>
          <p:cNvPr id="3" name="Shape 1"/>
          <p:cNvSpPr/>
          <p:nvPr/>
        </p:nvSpPr>
        <p:spPr>
          <a:xfrm>
            <a:off x="502920" y="228600"/>
            <a:ext cx="502920" cy="502920"/>
          </a:xfrm>
          <a:prstGeom prst="roundRect">
            <a:avLst>
              <a:gd name="adj" fmla="val 18182"/>
            </a:avLst>
          </a:prstGeom>
          <a:solidFill>
            <a:srgbClr val="D97757"/>
          </a:solidFill>
          <a:ln w="12700">
            <a:solidFill>
              <a:srgbClr val="D97757"/>
            </a:solidFill>
            <a:prstDash val="solid"/>
          </a:ln>
        </p:spPr>
      </p:sp>
      <p:sp>
        <p:nvSpPr>
          <p:cNvPr id="4" name="Text 2"/>
          <p:cNvSpPr/>
          <p:nvPr/>
        </p:nvSpPr>
        <p:spPr>
          <a:xfrm>
            <a:off x="502920" y="228600"/>
            <a:ext cx="502920" cy="502920"/>
          </a:xfrm>
          <a:prstGeom prst="rect">
            <a:avLst/>
          </a:prstGeom>
          <a:noFill/>
          <a:ln/>
        </p:spPr>
        <p:txBody>
          <a:bodyPr wrap="square"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4</a:t>
            </a:r>
            <a:endParaRPr lang="en-US" sz="1600" dirty="0"/>
          </a:p>
        </p:txBody>
      </p:sp>
      <p:sp>
        <p:nvSpPr>
          <p:cNvPr id="5" name="Text 3"/>
          <p:cNvSpPr/>
          <p:nvPr/>
        </p:nvSpPr>
        <p:spPr>
          <a:xfrm>
            <a:off x="1143000" y="0"/>
            <a:ext cx="10957255" cy="960120"/>
          </a:xfrm>
          <a:prstGeom prst="rect">
            <a:avLst/>
          </a:prstGeom>
          <a:noFill/>
          <a:ln/>
        </p:spPr>
        <p:txBody>
          <a:bodyPr wrap="square"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마무리 체크리스트</a:t>
            </a:r>
            <a:endParaRPr lang="en-US" sz="2200" dirty="0"/>
          </a:p>
        </p:txBody>
      </p:sp>
      <p:sp>
        <p:nvSpPr>
          <p:cNvPr id="6" name="Shape 4"/>
          <p:cNvSpPr/>
          <p:nvPr/>
        </p:nvSpPr>
        <p:spPr>
          <a:xfrm>
            <a:off x="457200" y="1143000"/>
            <a:ext cx="11277295" cy="2753360"/>
          </a:xfrm>
          <a:prstGeom prst="roundRect">
            <a:avLst>
              <a:gd name="adj" fmla="val 2657"/>
            </a:avLst>
          </a:prstGeom>
          <a:solidFill>
            <a:srgbClr val="FFFFFF"/>
          </a:solidFill>
          <a:ln w="9525">
            <a:solidFill>
              <a:srgbClr val="F0D4C4"/>
            </a:solidFill>
            <a:prstDash val="solid"/>
          </a:ln>
        </p:spPr>
      </p:sp>
      <p:sp>
        <p:nvSpPr>
          <p:cNvPr id="7" name="Text 5"/>
          <p:cNvSpPr/>
          <p:nvPr/>
        </p:nvSpPr>
        <p:spPr>
          <a:xfrm>
            <a:off x="685800" y="1325880"/>
            <a:ext cx="10820095" cy="347980"/>
          </a:xfrm>
          <a:prstGeom prst="rect">
            <a:avLst/>
          </a:prstGeom>
          <a:noFill/>
          <a:ln/>
        </p:spPr>
        <p:txBody>
          <a:bodyPr wrap="square" rtlCol="0" anchor="t"/>
          <a:lstStyle/>
          <a:p>
            <a:pPr indent="0" marL="0">
              <a:buNone/>
            </a:pPr>
            <a:r>
              <a:rPr lang="en-US" sz="1400" b="1" dirty="0">
                <a:solidFill>
                  <a:srgbClr val="B85F3F"/>
                </a:solidFill>
                <a:latin typeface="Malgun Gothic" pitchFamily="34" charset="0"/>
                <a:ea typeface="Malgun Gothic" pitchFamily="34" charset="-122"/>
                <a:cs typeface="Malgun Gothic" pitchFamily="34" charset="-120"/>
              </a:rPr>
              <a:t>내 프로젝트에 붙여넣기 전 점검</a:t>
            </a:r>
            <a:endParaRPr lang="en-US" sz="1400" dirty="0"/>
          </a:p>
        </p:txBody>
      </p:sp>
      <p:sp>
        <p:nvSpPr>
          <p:cNvPr id="8" name="Text 6"/>
          <p:cNvSpPr/>
          <p:nvPr/>
        </p:nvSpPr>
        <p:spPr>
          <a:xfrm>
            <a:off x="685800" y="1742440"/>
            <a:ext cx="10820095" cy="326390"/>
          </a:xfrm>
          <a:prstGeom prst="rect">
            <a:avLst/>
          </a:prstGeom>
          <a:noFill/>
          <a:ln/>
        </p:spPr>
        <p:txBody>
          <a:bodyPr wrap="square" rtlCol="0" anchor="t"/>
          <a:lstStyle/>
          <a:p>
            <a:pPr indent="0" marL="0">
              <a:buNone/>
            </a:pPr>
            <a:r>
              <a:rPr lang="en-US" sz="1300" b="1" dirty="0">
                <a:solidFill>
                  <a:srgbClr val="1A1A2E"/>
                </a:solidFill>
                <a:latin typeface="Malgun Gothic" pitchFamily="34" charset="0"/>
                <a:ea typeface="Malgun Gothic" pitchFamily="34" charset="-122"/>
                <a:cs typeface="Malgun Gothic" pitchFamily="34" charset="-120"/>
              </a:rPr>
              <a:t>내 프로젝트에 붙여넣기 전 점검</a:t>
            </a:r>
            <a:endParaRPr lang="en-US" sz="1300" dirty="0"/>
          </a:p>
        </p:txBody>
      </p:sp>
      <p:sp>
        <p:nvSpPr>
          <p:cNvPr id="9" name="Text 7"/>
          <p:cNvSpPr/>
          <p:nvPr/>
        </p:nvSpPr>
        <p:spPr>
          <a:xfrm>
            <a:off x="685800" y="2160270"/>
            <a:ext cx="10820095" cy="712470"/>
          </a:xfrm>
          <a:prstGeom prst="rect">
            <a:avLst/>
          </a:prstGeom>
          <a:noFill/>
          <a:ln/>
        </p:spPr>
        <p:txBody>
          <a:bodyPr wrap="square" rtlCol="0" anchor="t"/>
          <a:lstStyle/>
          <a:p>
            <a:pPr indent="0" marL="0">
              <a:buNone/>
            </a:pPr>
            <a:r>
              <a:rPr lang="en-US" sz="1100" dirty="0">
                <a:solidFill>
                  <a:srgbClr val="475569"/>
                </a:solidFill>
                <a:latin typeface="Malgun Gothic" pitchFamily="34" charset="0"/>
                <a:ea typeface="Malgun Gothic" pitchFamily="34" charset="-122"/>
                <a:cs typeface="Malgun Gothic" pitchFamily="34" charset="-120"/>
              </a:rPr>
              <a:t>• 로컬 프로젝트에 Tailwind CSS 설정이 완벽하게 되어 있는가? (v0의 코드는 Tailwind 기반입니다)
</a:t>
            </a:r>
            <a:pPr indent="0" marL="0">
              <a:buNone/>
            </a:pPr>
            <a:r>
              <a:rPr lang="en-US" sz="1100" dirty="0">
                <a:solidFill>
                  <a:srgbClr val="475569"/>
                </a:solidFill>
                <a:latin typeface="Malgun Gothic" pitchFamily="34" charset="0"/>
                <a:ea typeface="Malgun Gothic" pitchFamily="34" charset="-122"/>
                <a:cs typeface="Malgun Gothic" pitchFamily="34" charset="-120"/>
              </a:rPr>
              <a:t>• lucide-react 같은 기본 아이콘 라이브러리가 프로젝트에 설치되어 있는가?
</a:t>
            </a:r>
            <a:pPr indent="0" marL="0">
              <a:buNone/>
            </a:pPr>
            <a:r>
              <a:rPr lang="en-US" sz="1100" dirty="0">
                <a:solidFill>
                  <a:srgbClr val="475569"/>
                </a:solidFill>
                <a:latin typeface="Malgun Gothic" pitchFamily="34" charset="0"/>
                <a:ea typeface="Malgun Gothic" pitchFamily="34" charset="-122"/>
                <a:cs typeface="Malgun Gothic" pitchFamily="34" charset="-120"/>
              </a:rPr>
              <a:t>• 복사한 코드에 포함된 상태(State) 관리 로직이 내 앱의 데이터 흐름과 잘 맞는지 검토했는가?
</a:t>
            </a:r>
            <a:endParaRPr lang="en-US" sz="1100" dirty="0"/>
          </a:p>
        </p:txBody>
      </p:sp>
      <p:sp>
        <p:nvSpPr>
          <p:cNvPr id="10" name="Shape 8"/>
          <p:cNvSpPr/>
          <p:nvPr/>
        </p:nvSpPr>
        <p:spPr>
          <a:xfrm>
            <a:off x="685800" y="3009900"/>
            <a:ext cx="64008" cy="612140"/>
          </a:xfrm>
          <a:prstGeom prst="rect">
            <a:avLst/>
          </a:prstGeom>
          <a:solidFill>
            <a:srgbClr val="D97757"/>
          </a:solidFill>
          <a:ln w="12700">
            <a:solidFill>
              <a:srgbClr val="D97757"/>
            </a:solidFill>
            <a:prstDash val="solid"/>
          </a:ln>
        </p:spPr>
      </p:sp>
      <p:sp>
        <p:nvSpPr>
          <p:cNvPr id="11" name="Shape 9"/>
          <p:cNvSpPr/>
          <p:nvPr/>
        </p:nvSpPr>
        <p:spPr>
          <a:xfrm>
            <a:off x="749808" y="3009900"/>
            <a:ext cx="10756087" cy="612140"/>
          </a:xfrm>
          <a:prstGeom prst="rect">
            <a:avLst/>
          </a:prstGeom>
          <a:solidFill>
            <a:srgbClr val="FDF0EB"/>
          </a:solidFill>
          <a:ln w="12700">
            <a:solidFill>
              <a:srgbClr val="FDF0EB"/>
            </a:solidFill>
            <a:prstDash val="solid"/>
          </a:ln>
        </p:spPr>
      </p:sp>
      <p:sp>
        <p:nvSpPr>
          <p:cNvPr id="12" name="Text 10"/>
          <p:cNvSpPr/>
          <p:nvPr/>
        </p:nvSpPr>
        <p:spPr>
          <a:xfrm>
            <a:off x="841248" y="3064764"/>
            <a:ext cx="10628071" cy="520700"/>
          </a:xfrm>
          <a:prstGeom prst="rect">
            <a:avLst/>
          </a:prstGeom>
          <a:noFill/>
          <a:ln/>
        </p:spPr>
        <p:txBody>
          <a:bodyPr wrap="square" rtlCol="0" anchor="ctr"/>
          <a:lstStyle/>
          <a:p>
            <a:pPr indent="0" marL="0">
              <a:buNone/>
            </a:pPr>
            <a:r>
              <a:rPr lang="en-US" sz="1100" i="1" dirty="0">
                <a:solidFill>
                  <a:srgbClr val="8B4530"/>
                </a:solidFill>
                <a:latin typeface="Malgun Gothic" pitchFamily="34" charset="0"/>
                <a:ea typeface="Malgun Gothic" pitchFamily="34" charset="-122"/>
                <a:cs typeface="Malgun Gothic" pitchFamily="34" charset="-120"/>
              </a:rPr>
              <a:t>💡 TIP: 처음부터 완벽하고 긴 프롬프트를 작성하려고 애쓰지 마세요. "대시보드 레이아웃 짜줘"처럼 뼈대만 먼저 요청한 뒤, 생성된 화면을 보면서 특정 영역을 클릭해 "이 버튼 색상을 바꿔줘", "여기에 데이터 표를 추가해줘"처럼 대화하듯 살을 붙여나가는 방식이 훨씬 빠르고 정확한 결과물을 만들어냅니다.</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2026-05-13T01:19:29Z</dcterms:created>
  <dcterms:modified xsi:type="dcterms:W3CDTF">2026-05-13T01:19:29Z</dcterms:modified>
</cp:coreProperties>
</file>