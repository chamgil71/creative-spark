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53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70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8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dirty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shortcode 전체를 보여주는 예시 파일입니다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가능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소개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Suite는 아이디어 생성부터 배포까지 전 과정을 지원하는 통합 플랫폼입니다.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 예시: 이 도구가 잘하는 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814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2254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2254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2254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만들 수 있습니다.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4428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5868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55868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친화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5868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스마트폰에서도 주요 기능을 바로 사용할 수 있습니다.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18041" y="2703576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9481" y="2795016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09481" y="3233928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09481" y="3508248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C9D949-C3B9-42DF-AC3F-36ECBE65542B}"/>
              </a:ext>
            </a:extLst>
          </p:cNvPr>
          <p:cNvSpPr txBox="1"/>
          <p:nvPr/>
        </p:nvSpPr>
        <p:spPr>
          <a:xfrm>
            <a:off x="351206" y="4264153"/>
            <a:ext cx="61020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::: icon-grid</a:t>
            </a:r>
          </a:p>
          <a:p>
            <a:r>
              <a:rPr lang="en-US" altLang="ko-KR" sz="1000" dirty="0"/>
              <a:t>- icon: ⚡</a:t>
            </a:r>
          </a:p>
          <a:p>
            <a:r>
              <a:rPr lang="en-US" altLang="ko-KR" sz="1000" dirty="0"/>
              <a:t>  title: </a:t>
            </a:r>
            <a:r>
              <a:rPr lang="ko-KR" altLang="en-US" sz="1000" dirty="0"/>
              <a:t>빠른 작업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desc: </a:t>
            </a:r>
            <a:r>
              <a:rPr lang="ko-KR" altLang="en-US" sz="1000" dirty="0"/>
              <a:t>반복 작업을 줄이고 결과물을 빠르게 만듭니다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icon: </a:t>
            </a:r>
            <a:r>
              <a:rPr lang="ko-KR" altLang="en-US" sz="1000" dirty="0"/>
              <a:t>🎨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title: </a:t>
            </a:r>
            <a:r>
              <a:rPr lang="ko-KR" altLang="en-US" sz="1000" dirty="0"/>
              <a:t>쉬운 디자인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desc: </a:t>
            </a:r>
            <a:r>
              <a:rPr lang="ko-KR" altLang="en-US" sz="1000" dirty="0"/>
              <a:t>템플릿과 </a:t>
            </a:r>
            <a:r>
              <a:rPr lang="ko-KR" altLang="en-US" sz="1000" dirty="0" err="1"/>
              <a:t>프리셋으로</a:t>
            </a:r>
            <a:r>
              <a:rPr lang="ko-KR" altLang="en-US" sz="1000" dirty="0"/>
              <a:t> 초보자도 보기 좋은 결과를 만들 수 있습니다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icon: </a:t>
            </a:r>
            <a:r>
              <a:rPr lang="ko-KR" altLang="en-US" sz="1000" dirty="0"/>
              <a:t>📱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title: </a:t>
            </a:r>
            <a:r>
              <a:rPr lang="ko-KR" altLang="en-US" sz="1000" dirty="0"/>
              <a:t>모바일 친화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desc: </a:t>
            </a:r>
            <a:r>
              <a:rPr lang="ko-KR" altLang="en-US" sz="1000" dirty="0"/>
              <a:t>스마트폰에서도 주요 기능을 바로 사용할 수 있습니다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icon: </a:t>
            </a:r>
            <a:r>
              <a:rPr lang="ko-KR" altLang="en-US" sz="1000" dirty="0"/>
              <a:t>🤝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title: </a:t>
            </a:r>
            <a:r>
              <a:rPr lang="ko-KR" altLang="en-US" sz="1000" dirty="0"/>
              <a:t>팀 협업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desc: </a:t>
            </a:r>
            <a:r>
              <a:rPr lang="ko-KR" altLang="en-US" sz="1000" dirty="0"/>
              <a:t>링크 공유와 댓글로 팀 작업을 이어갈 수 있습니다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:::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모듈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모듈은 독립적으로 사용하거나 함께 연결해 강력한 워크플로우를 구성할 수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 예시: 핵심 기능 카드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81330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03276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34365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2018" y="270357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2018" y="2703576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281330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71746" y="303276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71746" y="334365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반복해서 만들 수 있습니다.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6837" y="270357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6837" y="2703576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565" y="281330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76565" y="303276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76565" y="334365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팀원 피드백을 받을 수 있습니다.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16321-E3FB-496B-BF10-D011C7625268}"/>
              </a:ext>
            </a:extLst>
          </p:cNvPr>
          <p:cNvSpPr txBox="1"/>
          <p:nvPr/>
        </p:nvSpPr>
        <p:spPr>
          <a:xfrm>
            <a:off x="519531" y="4093464"/>
            <a:ext cx="61020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::: feature-grid</a:t>
            </a:r>
          </a:p>
          <a:p>
            <a:r>
              <a:rPr lang="en-US" altLang="ko-KR" sz="1200" dirty="0"/>
              <a:t>- tag: </a:t>
            </a:r>
            <a:r>
              <a:rPr lang="ko-KR" altLang="en-US" sz="1200" dirty="0"/>
              <a:t>핵심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icon: </a:t>
            </a:r>
            <a:r>
              <a:rPr lang="ko-KR" altLang="en-US" sz="1200" dirty="0"/>
              <a:t>🧠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title: AI </a:t>
            </a:r>
            <a:r>
              <a:rPr lang="ko-KR" altLang="en-US" sz="1200" dirty="0"/>
              <a:t>자동화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desc: </a:t>
            </a:r>
            <a:r>
              <a:rPr lang="ko-KR" altLang="en-US" sz="1200" dirty="0"/>
              <a:t>사용자의 입력을 바탕으로 초안</a:t>
            </a:r>
            <a:r>
              <a:rPr lang="en-US" altLang="ko-KR" sz="1200" dirty="0"/>
              <a:t>, </a:t>
            </a:r>
            <a:r>
              <a:rPr lang="ko-KR" altLang="en-US" sz="1200" dirty="0"/>
              <a:t>편집</a:t>
            </a:r>
            <a:r>
              <a:rPr lang="en-US" altLang="ko-KR" sz="1200" dirty="0"/>
              <a:t>, </a:t>
            </a:r>
            <a:r>
              <a:rPr lang="ko-KR" altLang="en-US" sz="1200" dirty="0"/>
              <a:t>요약</a:t>
            </a:r>
            <a:r>
              <a:rPr lang="en-US" altLang="ko-KR" sz="1200" dirty="0"/>
              <a:t>, </a:t>
            </a:r>
            <a:r>
              <a:rPr lang="ko-KR" altLang="en-US" sz="1200" dirty="0"/>
              <a:t>추천을 자동 생성합니다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- tag: </a:t>
            </a:r>
            <a:r>
              <a:rPr lang="ko-KR" altLang="en-US" sz="1200" dirty="0"/>
              <a:t>실전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icon: </a:t>
            </a:r>
            <a:r>
              <a:rPr lang="ko-KR" altLang="en-US" sz="1200" dirty="0"/>
              <a:t>🧰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title: </a:t>
            </a:r>
            <a:r>
              <a:rPr lang="ko-KR" altLang="en-US" sz="1200" dirty="0"/>
              <a:t>템플릿 활용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desc: </a:t>
            </a:r>
            <a:r>
              <a:rPr lang="ko-KR" altLang="en-US" sz="1200" dirty="0"/>
              <a:t>자주 쓰는 형식을 저장해 같은 품질의 결과물을 반복해서 만들 수 있습니다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- tag: </a:t>
            </a:r>
            <a:r>
              <a:rPr lang="ko-KR" altLang="en-US" sz="1200" dirty="0"/>
              <a:t>공유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icon: </a:t>
            </a:r>
            <a:r>
              <a:rPr lang="ko-KR" altLang="en-US" sz="1200" dirty="0"/>
              <a:t>🔗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title: </a:t>
            </a:r>
            <a:r>
              <a:rPr lang="ko-KR" altLang="en-US" sz="1200" dirty="0"/>
              <a:t>링크 배포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desc: </a:t>
            </a:r>
            <a:r>
              <a:rPr lang="ko-KR" altLang="en-US" sz="1200" dirty="0"/>
              <a:t>완성된 결과를 링크나 파일로 공유하고 팀원 피드백을 받을 수 있습니다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:::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사람이 따라 할 수 있는 순서로 정리했습니다.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steps 예시: 기본 사용 흐름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224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22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76758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301447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3509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539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53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349910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374599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고르거나 빈 프로젝트에서 시작합니다.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661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854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85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42306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넣기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447751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이미지, 파일, 링크 등 필요한 자료를 추가합니다.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9813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170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01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496214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내보내기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209032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이미지, 영상, 링크 등 목적에 맞는 형식으로 저장합니다.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A17884-F758-4211-BE12-1C9087FAD4BF}"/>
              </a:ext>
            </a:extLst>
          </p:cNvPr>
          <p:cNvSpPr txBox="1"/>
          <p:nvPr/>
        </p:nvSpPr>
        <p:spPr>
          <a:xfrm>
            <a:off x="5910072" y="4605528"/>
            <a:ext cx="61020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::: steps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title: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계정 만들기</a:t>
            </a:r>
          </a:p>
          <a:p>
            <a:r>
              <a:rPr lang="ko-KR" altLang="en-US" sz="12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desc: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공식 사이트에 접속해 이메일 또는 소셜 계정으로 로그인합니다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title: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새 프로젝트 만들기</a:t>
            </a:r>
          </a:p>
          <a:p>
            <a:r>
              <a:rPr lang="ko-KR" altLang="en-US" sz="12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desc: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템플릿을 고르거나 빈 프로젝트에서 시작합니다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title: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콘텐츠 넣기</a:t>
            </a:r>
          </a:p>
          <a:p>
            <a:r>
              <a:rPr lang="ko-KR" altLang="en-US" sz="12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desc: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텍스트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이미지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파일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링크 등 필요한 자료를 추가합니다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title: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결과 내보내기</a:t>
            </a:r>
          </a:p>
          <a:p>
            <a:r>
              <a:rPr lang="ko-KR" altLang="en-US" sz="12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desc: PDF,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이미지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영상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링크 등 목적에 맞는 형식으로 저장합니다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:::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추천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목적에 따라 시작점이 달라집니다.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compare-grid 예시: 사용자 유형별 가이드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기본 워크플로우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62018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1746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제작자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1746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템플릿으로 저장하고 자동화 기능을 활용합니다.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1746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1746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Pro 기능 검토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66837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6565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작업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6565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링크, 댓글, 권한 관리가 가능한 플랜을 선택합니다.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76565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6565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팀 플랜</a:t>
            </a:r>
            <a:endParaRPr lang="en-US" sz="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DAF1D5-DADA-4762-AC5C-0303B308E01A}"/>
              </a:ext>
            </a:extLst>
          </p:cNvPr>
          <p:cNvSpPr txBox="1"/>
          <p:nvPr/>
        </p:nvSpPr>
        <p:spPr>
          <a:xfrm>
            <a:off x="4306824" y="4276774"/>
            <a:ext cx="610209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::: compare-grid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title: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처음 배우는 사용자</a:t>
            </a:r>
          </a:p>
          <a:p>
            <a:r>
              <a:rPr lang="ko-KR" altLang="en-US" sz="12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desc: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무료 플랜과 기본 템플릿으로 시작합니다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  note: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추천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기본 워크플로우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title: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반복 제작자</a:t>
            </a:r>
          </a:p>
          <a:p>
            <a:r>
              <a:rPr lang="ko-KR" altLang="en-US" sz="12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desc: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자주 쓰는 형식을 템플릿으로 저장하고 자동화 기능을 활용합니다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  note: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추천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: Pro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기능 검토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title: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팀 작업</a:t>
            </a:r>
          </a:p>
          <a:p>
            <a:r>
              <a:rPr lang="ko-KR" altLang="en-US" sz="12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desc: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공유 링크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댓글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권한 관리가 가능한 플랜을 선택합니다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  note: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추천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200" b="0" dirty="0">
                <a:effectLst/>
                <a:latin typeface="Consolas" panose="020B0609020204030204" pitchFamily="49" charset="0"/>
              </a:rPr>
              <a:t>팀 플랜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:::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도구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Suite와 함께 사용하면 더욱 강력한 도구들입니다.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tool-card 예시: 추천 도구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703576"/>
            <a:ext cx="475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33856" y="2795016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" y="3069336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runwayml.com · 영상 편집 특화 AI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55503" y="29458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99104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499104"/>
            <a:ext cx="475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33856" y="3590544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Midjourney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3864864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midjourney.com · 이미지 생성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55503" y="37414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E263DD-D565-4710-83A9-8AF146D9A381}"/>
              </a:ext>
            </a:extLst>
          </p:cNvPr>
          <p:cNvSpPr txBox="1"/>
          <p:nvPr/>
        </p:nvSpPr>
        <p:spPr>
          <a:xfrm>
            <a:off x="2886456" y="4396246"/>
            <a:ext cx="61020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::: tool-card</a:t>
            </a:r>
          </a:p>
          <a:p>
            <a:r>
              <a:rPr lang="en-US" altLang="ko-KR" sz="1200" dirty="0"/>
              <a:t>- icon: </a:t>
            </a:r>
            <a:r>
              <a:rPr lang="ko-KR" altLang="en-US" sz="1200" dirty="0"/>
              <a:t>🎬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name: Runway Gen-4</a:t>
            </a:r>
          </a:p>
          <a:p>
            <a:r>
              <a:rPr lang="en-US" altLang="ko-KR" sz="1200" dirty="0"/>
              <a:t>  tagline: runwayml.com · </a:t>
            </a:r>
            <a:r>
              <a:rPr lang="ko-KR" altLang="en-US" sz="1200" dirty="0"/>
              <a:t>영상 편집 특화 </a:t>
            </a:r>
            <a:r>
              <a:rPr lang="en-US" altLang="ko-KR" sz="1200" dirty="0"/>
              <a:t>AI </a:t>
            </a:r>
            <a:r>
              <a:rPr lang="ko-KR" altLang="en-US" sz="1200" dirty="0"/>
              <a:t>플랫폼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badge: </a:t>
            </a:r>
            <a:r>
              <a:rPr lang="ko-KR" altLang="en-US" sz="1200" dirty="0"/>
              <a:t>무료</a:t>
            </a:r>
            <a:r>
              <a:rPr lang="en-US" altLang="ko-KR" sz="1200" dirty="0"/>
              <a:t>/Pro</a:t>
            </a:r>
          </a:p>
          <a:p>
            <a:r>
              <a:rPr lang="en-US" altLang="ko-KR" sz="1200" dirty="0"/>
              <a:t>  color: "#7C3AED"</a:t>
            </a:r>
          </a:p>
          <a:p>
            <a:r>
              <a:rPr lang="en-US" altLang="ko-KR" sz="1200" dirty="0"/>
              <a:t>- icon: </a:t>
            </a:r>
            <a:r>
              <a:rPr lang="ko-KR" altLang="en-US" sz="1200" dirty="0"/>
              <a:t>🖼️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name: </a:t>
            </a:r>
            <a:r>
              <a:rPr lang="en-US" altLang="ko-KR" sz="1200" dirty="0" err="1"/>
              <a:t>Midjourney</a:t>
            </a:r>
            <a:endParaRPr lang="en-US" altLang="ko-KR" sz="1200" dirty="0"/>
          </a:p>
          <a:p>
            <a:r>
              <a:rPr lang="en-US" altLang="ko-KR" sz="1200" dirty="0"/>
              <a:t>  tagline: midjourney.com · </a:t>
            </a:r>
            <a:r>
              <a:rPr lang="ko-KR" altLang="en-US" sz="1200" dirty="0"/>
              <a:t>이미지 생성 </a:t>
            </a:r>
            <a:r>
              <a:rPr lang="en-US" altLang="ko-KR" sz="1200" dirty="0"/>
              <a:t>AI</a:t>
            </a:r>
          </a:p>
          <a:p>
            <a:r>
              <a:rPr lang="en-US" altLang="ko-KR" sz="1200" dirty="0"/>
              <a:t>  badge: Pro</a:t>
            </a:r>
          </a:p>
          <a:p>
            <a:r>
              <a:rPr lang="en-US" altLang="ko-KR" sz="1200" dirty="0"/>
              <a:t>  color: "#E11D48"</a:t>
            </a:r>
          </a:p>
          <a:p>
            <a:r>
              <a:rPr lang="en-US" altLang="ko-KR" sz="1200" dirty="0"/>
              <a:t>:::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흐름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아이디어에서 배포까지 전체 과정을 한눈에 파악하세요.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예시: 5단계 제작 순서도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7094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56550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6550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11414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11414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6444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55900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5900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0764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10764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5795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55251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5251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10115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검토·수정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10115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35145" y="301447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54601" y="2703576"/>
            <a:ext cx="2079894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54601" y="2776728"/>
            <a:ext cx="20798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09465" y="3087624"/>
            <a:ext cx="1970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09465" y="3325368"/>
            <a:ext cx="197016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D97B01-AE43-4AA6-B1C7-FA648D0CD909}"/>
              </a:ext>
            </a:extLst>
          </p:cNvPr>
          <p:cNvSpPr txBox="1"/>
          <p:nvPr/>
        </p:nvSpPr>
        <p:spPr>
          <a:xfrm>
            <a:off x="528889" y="3480817"/>
            <a:ext cx="265931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::: workflow</a:t>
            </a:r>
          </a:p>
          <a:p>
            <a:r>
              <a:rPr lang="en-US" altLang="ko-KR" sz="1200" dirty="0"/>
              <a:t>- icon: </a:t>
            </a:r>
            <a:r>
              <a:rPr lang="ko-KR" altLang="en-US" sz="1200" dirty="0"/>
              <a:t>💡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name: </a:t>
            </a:r>
            <a:r>
              <a:rPr lang="ko-KR" altLang="en-US" sz="1200" dirty="0"/>
              <a:t>아이디어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tool: Claude AI</a:t>
            </a:r>
          </a:p>
          <a:p>
            <a:r>
              <a:rPr lang="en-US" altLang="ko-KR" sz="1200" dirty="0"/>
              <a:t>- icon: ⚡</a:t>
            </a:r>
          </a:p>
          <a:p>
            <a:r>
              <a:rPr lang="en-US" altLang="ko-KR" sz="1200" dirty="0"/>
              <a:t>  name: </a:t>
            </a:r>
            <a:r>
              <a:rPr lang="ko-KR" altLang="en-US" sz="1200" dirty="0"/>
              <a:t>초안 생성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tool: Gamma</a:t>
            </a:r>
          </a:p>
          <a:p>
            <a:r>
              <a:rPr lang="en-US" altLang="ko-KR" sz="1200" dirty="0"/>
              <a:t>- icon: </a:t>
            </a:r>
            <a:r>
              <a:rPr lang="ko-KR" altLang="en-US" sz="1200" dirty="0"/>
              <a:t>🎨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name: </a:t>
            </a:r>
            <a:r>
              <a:rPr lang="ko-KR" altLang="en-US" sz="1200" dirty="0"/>
              <a:t>디자인 보정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tool: Canva</a:t>
            </a:r>
          </a:p>
          <a:p>
            <a:r>
              <a:rPr lang="en-US" altLang="ko-KR" sz="1200" dirty="0"/>
              <a:t>- icon: </a:t>
            </a:r>
            <a:r>
              <a:rPr lang="ko-KR" altLang="en-US" sz="1200" dirty="0"/>
              <a:t>✅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name: </a:t>
            </a:r>
            <a:r>
              <a:rPr lang="ko-KR" altLang="en-US" sz="1200" dirty="0"/>
              <a:t>검토</a:t>
            </a:r>
            <a:r>
              <a:rPr lang="en-US" altLang="ko-KR" sz="1200" dirty="0"/>
              <a:t>·</a:t>
            </a:r>
            <a:r>
              <a:rPr lang="ko-KR" altLang="en-US" sz="1200" dirty="0"/>
              <a:t>수정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tool: </a:t>
            </a:r>
            <a:r>
              <a:rPr lang="ko-KR" altLang="en-US" sz="1200" dirty="0"/>
              <a:t>팀 협업</a:t>
            </a:r>
          </a:p>
          <a:p>
            <a:r>
              <a:rPr lang="en-US" altLang="ko-KR" sz="1200" dirty="0"/>
              <a:t>- icon: </a:t>
            </a:r>
            <a:r>
              <a:rPr lang="ko-KR" altLang="en-US" sz="1200" dirty="0"/>
              <a:t>📤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name: </a:t>
            </a:r>
            <a:r>
              <a:rPr lang="ko-KR" altLang="en-US" sz="1200" dirty="0"/>
              <a:t>공유</a:t>
            </a:r>
            <a:r>
              <a:rPr lang="en-US" altLang="ko-KR" sz="1200" dirty="0"/>
              <a:t>·</a:t>
            </a:r>
            <a:r>
              <a:rPr lang="ko-KR" altLang="en-US" sz="1200" dirty="0"/>
              <a:t>배포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tool: </a:t>
            </a:r>
            <a:r>
              <a:rPr lang="ko-KR" altLang="en-US" sz="1200" dirty="0"/>
              <a:t>링크</a:t>
            </a:r>
            <a:r>
              <a:rPr lang="en-US" altLang="ko-KR" sz="1200" dirty="0"/>
              <a:t>/PDF</a:t>
            </a:r>
          </a:p>
          <a:p>
            <a:r>
              <a:rPr lang="en-US" altLang="ko-KR" sz="1200" dirty="0"/>
              <a:t>:::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플랜 중 목적에 맞는 플랜을 선택하세요.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plan-grid 예시: Free / Pro / Enterprise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235000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45720"/>
          </a:xfrm>
          <a:prstGeom prst="rect">
            <a:avLst/>
          </a:prstGeom>
          <a:solidFill>
            <a:srgbClr val="F0D4C4"/>
          </a:solidFill>
          <a:ln w="12700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기능 모두 사용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하루 10회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커뮤니티 지원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5GB 저장공간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669536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669536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62018" y="2703576"/>
            <a:ext cx="3667658" cy="2350008"/>
          </a:xfrm>
          <a:prstGeom prst="roundRect">
            <a:avLst>
              <a:gd name="adj" fmla="val 3113"/>
            </a:avLst>
          </a:prstGeom>
          <a:solidFill>
            <a:srgbClr val="FDF0EB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2018" y="2703576"/>
            <a:ext cx="3667658" cy="457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1746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1746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71746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71746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사용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1746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우선 지원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71746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기능 전체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71746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접근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71746" y="4386072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50GB 저장공간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71746" y="4669536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1746" y="4669536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$20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66837" y="2703576"/>
            <a:ext cx="3667658" cy="235000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6837" y="2703576"/>
            <a:ext cx="3667658" cy="45720"/>
          </a:xfrm>
          <a:prstGeom prst="rect">
            <a:avLst/>
          </a:prstGeom>
          <a:solidFill>
            <a:srgbClr val="F0D4C4"/>
          </a:solidFill>
          <a:ln w="12700">
            <a:solidFill>
              <a:srgbClr val="F0D4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6565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76565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76565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76565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계정 관리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76565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담당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76565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보장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76565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SSO 연동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76565" y="4386072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저장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76565" y="4669536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6565" y="4669536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필요</a:t>
            </a:r>
            <a:endParaRPr lang="en-US" sz="8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71DC92-AF66-4289-BEB5-F1326C6BFE3A}"/>
              </a:ext>
            </a:extLst>
          </p:cNvPr>
          <p:cNvSpPr txBox="1"/>
          <p:nvPr/>
        </p:nvSpPr>
        <p:spPr>
          <a:xfrm>
            <a:off x="566928" y="4317367"/>
            <a:ext cx="61020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::: plan-grid</a:t>
            </a:r>
          </a:p>
          <a:p>
            <a:r>
              <a:rPr lang="en-US" altLang="ko-KR" sz="1200" dirty="0"/>
              <a:t>- title: Free</a:t>
            </a:r>
          </a:p>
          <a:p>
            <a:r>
              <a:rPr lang="en-US" altLang="ko-KR" sz="1200" dirty="0"/>
              <a:t>  badge: </a:t>
            </a:r>
            <a:r>
              <a:rPr lang="ko-KR" altLang="en-US" sz="1200" dirty="0"/>
              <a:t>무료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features: </a:t>
            </a:r>
            <a:r>
              <a:rPr lang="ko-KR" altLang="en-US" sz="1200" dirty="0"/>
              <a:t>기본 기능 모두 사용 </a:t>
            </a:r>
            <a:r>
              <a:rPr lang="en-US" altLang="ko-KR" sz="1200" dirty="0"/>
              <a:t>| </a:t>
            </a:r>
            <a:r>
              <a:rPr lang="ko-KR" altLang="en-US" sz="1200" dirty="0"/>
              <a:t>하루 </a:t>
            </a:r>
            <a:r>
              <a:rPr lang="en-US" altLang="ko-KR" sz="1200" dirty="0"/>
              <a:t>10</a:t>
            </a:r>
            <a:r>
              <a:rPr lang="ko-KR" altLang="en-US" sz="1200" dirty="0"/>
              <a:t>회 사용 </a:t>
            </a:r>
            <a:r>
              <a:rPr lang="en-US" altLang="ko-KR" sz="1200" dirty="0"/>
              <a:t>| </a:t>
            </a:r>
            <a:r>
              <a:rPr lang="ko-KR" altLang="en-US" sz="1200" dirty="0"/>
              <a:t>커뮤니티 지원 </a:t>
            </a:r>
            <a:r>
              <a:rPr lang="en-US" altLang="ko-KR" sz="1200" dirty="0"/>
              <a:t>| 5GB </a:t>
            </a:r>
            <a:r>
              <a:rPr lang="ko-KR" altLang="en-US" sz="1200" dirty="0"/>
              <a:t>저장공간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note: </a:t>
            </a:r>
            <a:r>
              <a:rPr lang="ko-KR" altLang="en-US" sz="1200" dirty="0"/>
              <a:t>지금 바로 시작</a:t>
            </a:r>
          </a:p>
          <a:p>
            <a:r>
              <a:rPr lang="en-US" altLang="ko-KR" sz="1200" dirty="0"/>
              <a:t>- title: Pro</a:t>
            </a:r>
          </a:p>
          <a:p>
            <a:r>
              <a:rPr lang="en-US" altLang="ko-KR" sz="1200" dirty="0"/>
              <a:t>  badge: </a:t>
            </a:r>
            <a:r>
              <a:rPr lang="ko-KR" altLang="en-US" sz="1200" dirty="0"/>
              <a:t>추천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featured: "true"</a:t>
            </a:r>
          </a:p>
          <a:p>
            <a:r>
              <a:rPr lang="en-US" altLang="ko-KR" sz="1200" dirty="0"/>
              <a:t>  features: </a:t>
            </a:r>
            <a:r>
              <a:rPr lang="ko-KR" altLang="en-US" sz="1200" dirty="0"/>
              <a:t>무제한 사용 </a:t>
            </a:r>
            <a:r>
              <a:rPr lang="en-US" altLang="ko-KR" sz="1200" dirty="0"/>
              <a:t>| </a:t>
            </a:r>
            <a:r>
              <a:rPr lang="ko-KR" altLang="en-US" sz="1200" dirty="0"/>
              <a:t>우선 지원 </a:t>
            </a:r>
            <a:r>
              <a:rPr lang="en-US" altLang="ko-KR" sz="1200" dirty="0"/>
              <a:t>| </a:t>
            </a:r>
            <a:r>
              <a:rPr lang="ko-KR" altLang="en-US" sz="1200" dirty="0"/>
              <a:t>고급 기능 전체 </a:t>
            </a:r>
            <a:r>
              <a:rPr lang="en-US" altLang="ko-KR" sz="1200" dirty="0"/>
              <a:t>| API </a:t>
            </a:r>
            <a:r>
              <a:rPr lang="ko-KR" altLang="en-US" sz="1200" dirty="0"/>
              <a:t>접근 </a:t>
            </a:r>
            <a:r>
              <a:rPr lang="en-US" altLang="ko-KR" sz="1200" dirty="0"/>
              <a:t>| 50GB </a:t>
            </a:r>
            <a:r>
              <a:rPr lang="ko-KR" altLang="en-US" sz="1200" dirty="0"/>
              <a:t>저장공간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note: </a:t>
            </a:r>
            <a:r>
              <a:rPr lang="ko-KR" altLang="en-US" sz="1200" dirty="0"/>
              <a:t>월 </a:t>
            </a:r>
            <a:r>
              <a:rPr lang="en-US" altLang="ko-KR" sz="1200" dirty="0"/>
              <a:t>$20</a:t>
            </a:r>
          </a:p>
          <a:p>
            <a:r>
              <a:rPr lang="en-US" altLang="ko-KR" sz="1200" dirty="0"/>
              <a:t>- title: Enterprise</a:t>
            </a:r>
          </a:p>
          <a:p>
            <a:r>
              <a:rPr lang="en-US" altLang="ko-KR" sz="1200" dirty="0"/>
              <a:t>  badge: </a:t>
            </a:r>
            <a:r>
              <a:rPr lang="ko-KR" altLang="en-US" sz="1200" dirty="0"/>
              <a:t>팀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features: </a:t>
            </a:r>
            <a:r>
              <a:rPr lang="ko-KR" altLang="en-US" sz="1200" dirty="0"/>
              <a:t>팀 계정 관리 </a:t>
            </a:r>
            <a:r>
              <a:rPr lang="en-US" altLang="ko-KR" sz="1200" dirty="0"/>
              <a:t>| </a:t>
            </a:r>
            <a:r>
              <a:rPr lang="ko-KR" altLang="en-US" sz="1200" dirty="0"/>
              <a:t>전용 지원 담당 </a:t>
            </a:r>
            <a:r>
              <a:rPr lang="en-US" altLang="ko-KR" sz="1200" dirty="0"/>
              <a:t>| SLA </a:t>
            </a:r>
            <a:r>
              <a:rPr lang="ko-KR" altLang="en-US" sz="1200" dirty="0"/>
              <a:t>보장 </a:t>
            </a:r>
            <a:r>
              <a:rPr lang="en-US" altLang="ko-KR" sz="1200" dirty="0"/>
              <a:t>| SSO </a:t>
            </a:r>
            <a:r>
              <a:rPr lang="ko-KR" altLang="en-US" sz="1200" dirty="0"/>
              <a:t>연동 </a:t>
            </a:r>
            <a:r>
              <a:rPr lang="en-US" altLang="ko-KR" sz="1200" dirty="0"/>
              <a:t>| </a:t>
            </a:r>
            <a:r>
              <a:rPr lang="ko-KR" altLang="en-US" sz="1200" dirty="0"/>
              <a:t>무제한 저장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note: </a:t>
            </a:r>
            <a:r>
              <a:rPr lang="ko-KR" altLang="en-US" sz="1200" dirty="0"/>
              <a:t>문의 필요</a:t>
            </a:r>
          </a:p>
          <a:p>
            <a:r>
              <a:rPr lang="en-US" altLang="ko-KR" sz="1200" dirty="0"/>
              <a:t>:::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기능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 제공하는 주요 기능 목록입니다.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skill-list 예시: 기능 가로 행 목록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1330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13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95016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자동화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60726" y="2795016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보고서·제안서를 한 번에 생성합니다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0232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899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89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71672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60726" y="3471672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API로 기존 시스템과 바로 연결됩니다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6888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661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6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148328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0726" y="4148328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기반으로 내용을 분류·요약·추출합니다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33544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432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4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824984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대시보드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0726" y="4824984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데이터를 시각화하여 인사이트를 제공합니다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서비스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서비스와 즉시 연동됩니다.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badge-grid 예시: 연동 서비스 그리드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84007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4007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8871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38871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0814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814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65678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5678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7621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7621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92485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SendGrid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92485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4428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4428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9292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9292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91234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1234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46099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46099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18041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18041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72905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72905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버전관리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444848" y="2703576"/>
            <a:ext cx="1289647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44848" y="2795016"/>
            <a:ext cx="12896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499712" y="3142488"/>
            <a:ext cx="11799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Zapier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99712" y="3398520"/>
            <a:ext cx="117991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시나리오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어떻게 사용하는지 확인하세요.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 예시: 사용자 유형별 3단 배치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사용자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직관적인 UI와 기본 템플릿으로 별도 설정 없이 바로 시작할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2018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62018" y="2703576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팀·조직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4898" y="3258566"/>
            <a:ext cx="3301898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관리와 공유 설정으로 여러 명이 함께 작업 환경을 구성합니다.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6837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6837" y="2703576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9717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9717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웹훅으로 기존 시스템에 통합하거나 자체 워크플로우를 자동화합니다.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 예시: 본문 + 하단 칩 배치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17446"/>
            <a:ext cx="11277295" cy="10668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82038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Creative Suite를 선택해야 하는 이유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7243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도구와의 가장 큰 차이는 설정 없이도 강력한 기본값이 제공된다는 점입니다. 복잡한 구성 없이 5분 안에 첫 번째 결과를 만들 수 있으며, 필요할 때만 세부 설정을 조정하면 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30947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8107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04694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1854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온보딩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78441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5601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심화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52188" y="309397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89348" y="309397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제공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옵션 비교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compare-2col 예시: 클라우드 vs 자체 호스팅</a:t>
            </a:r>
            <a:endParaRPr lang="en-US" sz="13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A6679BE-27A9-40F7-A280-CCFA7344FF9C}"/>
              </a:ext>
            </a:extLst>
          </p:cNvPr>
          <p:cNvGrpSpPr/>
          <p:nvPr/>
        </p:nvGrpSpPr>
        <p:grpSpPr>
          <a:xfrm>
            <a:off x="457200" y="1917446"/>
            <a:ext cx="11277296" cy="2501392"/>
            <a:chOff x="457200" y="1917446"/>
            <a:chExt cx="11277296" cy="2501392"/>
          </a:xfrm>
        </p:grpSpPr>
        <p:sp>
          <p:nvSpPr>
            <p:cNvPr id="8" name="Shape 6"/>
            <p:cNvSpPr/>
            <p:nvPr/>
          </p:nvSpPr>
          <p:spPr>
            <a:xfrm>
              <a:off x="457200" y="1917446"/>
              <a:ext cx="5524348" cy="2501392"/>
            </a:xfrm>
            <a:prstGeom prst="roundRect">
              <a:avLst>
                <a:gd name="adj" fmla="val 2924"/>
              </a:avLst>
            </a:prstGeom>
            <a:solidFill>
              <a:srgbClr val="FDF0EB"/>
            </a:solidFill>
            <a:ln w="19050">
              <a:solidFill>
                <a:srgbClr val="D97757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57200" y="1917446"/>
              <a:ext cx="5524348" cy="45720"/>
            </a:xfrm>
            <a:prstGeom prst="rect">
              <a:avLst/>
            </a:prstGeom>
            <a:solidFill>
              <a:srgbClr val="D97757"/>
            </a:solidFill>
            <a:ln w="12700">
              <a:solidFill>
                <a:srgbClr val="D97757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40080" y="2082038"/>
              <a:ext cx="5158588" cy="32639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8B45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자체 호스팅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40080" y="247243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B45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완전한 데이터 통제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40080" y="275564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B45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비용 최적화 가능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303885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B45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커스터마이징 자유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40080" y="332206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B45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초기 설정 필요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0080" y="360527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B45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DevOps 역량 필요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40080" y="3998214"/>
              <a:ext cx="5158588" cy="256032"/>
            </a:xfrm>
            <a:prstGeom prst="roundRect">
              <a:avLst>
                <a:gd name="adj" fmla="val 28571"/>
              </a:avLst>
            </a:prstGeom>
            <a:solidFill>
              <a:srgbClr val="D97757"/>
            </a:solidFill>
            <a:ln w="12700">
              <a:solidFill>
                <a:srgbClr val="D97757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640080" y="3998214"/>
              <a:ext cx="515858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기술팀 보유 시 추천</a:t>
              </a:r>
              <a:endParaRPr lang="en-US" sz="8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210148" y="1917446"/>
              <a:ext cx="5524348" cy="2501392"/>
            </a:xfrm>
            <a:prstGeom prst="roundRect">
              <a:avLst>
                <a:gd name="adj" fmla="val 2924"/>
              </a:avLst>
            </a:prstGeom>
            <a:solidFill>
              <a:srgbClr val="FFFFFF"/>
            </a:solidFill>
            <a:ln w="9525">
              <a:solidFill>
                <a:srgbClr val="F0D4C4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6210148" y="1917446"/>
              <a:ext cx="5524348" cy="45720"/>
            </a:xfrm>
            <a:prstGeom prst="rect">
              <a:avLst/>
            </a:prstGeom>
            <a:solidFill>
              <a:srgbClr val="475569"/>
            </a:solidFill>
            <a:ln w="12700">
              <a:solidFill>
                <a:srgbClr val="47556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393028" y="2082038"/>
              <a:ext cx="5158588" cy="32639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2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클라우드 SaaS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393028" y="247243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즉시 사용 가능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393028" y="275564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자동 업데이트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93028" y="303885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전용 지원 서비스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393028" y="332206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사용량 기반 과금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393028" y="3605276"/>
              <a:ext cx="5158588" cy="2832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• 99.9% SLA 보장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393028" y="3998214"/>
              <a:ext cx="5158588" cy="256032"/>
            </a:xfrm>
            <a:prstGeom prst="roundRect">
              <a:avLst>
                <a:gd name="adj" fmla="val 28571"/>
              </a:avLst>
            </a:prstGeom>
            <a:solidFill>
              <a:srgbClr val="FDF0EB"/>
            </a:solidFill>
            <a:ln w="12700">
              <a:solidFill>
                <a:srgbClr val="FDF0EB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393028" y="3998214"/>
              <a:ext cx="515858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B85F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빠른 시작에 추천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숏 코드 생성 요망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360424"/>
            <a:ext cx="5524348" cy="6858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666" y="1360424"/>
            <a:ext cx="56051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54861" y="1451864"/>
            <a:ext cx="444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54862" y="1726184"/>
            <a:ext cx="444822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runwayml.com · 영상 편집 특화 AI 플랫폼</a:t>
            </a:r>
            <a:endParaRPr lang="en-US" sz="9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04D66E5-7E66-41FC-99A1-2A40A1717FE1}"/>
              </a:ext>
            </a:extLst>
          </p:cNvPr>
          <p:cNvGrpSpPr/>
          <p:nvPr/>
        </p:nvGrpSpPr>
        <p:grpSpPr>
          <a:xfrm>
            <a:off x="6210148" y="1313688"/>
            <a:ext cx="5456072" cy="685800"/>
            <a:chOff x="457200" y="3499104"/>
            <a:chExt cx="4686301" cy="685800"/>
          </a:xfrm>
        </p:grpSpPr>
        <p:sp>
          <p:nvSpPr>
            <p:cNvPr id="15" name="Shape 13"/>
            <p:cNvSpPr/>
            <p:nvPr/>
          </p:nvSpPr>
          <p:spPr>
            <a:xfrm>
              <a:off x="457200" y="3499104"/>
              <a:ext cx="4686301" cy="685800"/>
            </a:xfrm>
            <a:prstGeom prst="roundRect">
              <a:avLst>
                <a:gd name="adj" fmla="val 5333"/>
              </a:avLst>
            </a:prstGeom>
            <a:solidFill>
              <a:srgbClr val="E11D48"/>
            </a:solidFill>
            <a:ln w="12700">
              <a:solidFill>
                <a:srgbClr val="E11D48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03504" y="3499104"/>
              <a:ext cx="475488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</a:rPr>
                <a:t>🖼️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133857" y="3590544"/>
              <a:ext cx="388772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/>
                <a:t>TITLE</a:t>
              </a:r>
            </a:p>
          </p:txBody>
        </p:sp>
      </p:grpSp>
      <p:sp>
        <p:nvSpPr>
          <p:cNvPr id="18" name="Text 16"/>
          <p:cNvSpPr/>
          <p:nvPr/>
        </p:nvSpPr>
        <p:spPr>
          <a:xfrm>
            <a:off x="1133856" y="3864864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midjourney.com · 이미지 생성 AI</a:t>
            </a:r>
            <a:endParaRPr lang="en-US" sz="9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05BCFB2E-C2A7-47F6-A55D-FB618068C627}"/>
              </a:ext>
            </a:extLst>
          </p:cNvPr>
          <p:cNvSpPr/>
          <p:nvPr/>
        </p:nvSpPr>
        <p:spPr>
          <a:xfrm>
            <a:off x="457200" y="2064512"/>
            <a:ext cx="5524348" cy="2501392"/>
          </a:xfrm>
          <a:prstGeom prst="roundRect">
            <a:avLst>
              <a:gd name="adj" fmla="val 2924"/>
            </a:avLst>
          </a:prstGeom>
          <a:solidFill>
            <a:srgbClr val="FDF0EB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0DF9505F-17BD-4DA5-A226-E8B2BCDFF4E5}"/>
              </a:ext>
            </a:extLst>
          </p:cNvPr>
          <p:cNvSpPr/>
          <p:nvPr/>
        </p:nvSpPr>
        <p:spPr>
          <a:xfrm>
            <a:off x="457200" y="2064512"/>
            <a:ext cx="5524348" cy="457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168563F4-2525-4E3C-A084-271465C11AD4}"/>
              </a:ext>
            </a:extLst>
          </p:cNvPr>
          <p:cNvSpPr/>
          <p:nvPr/>
        </p:nvSpPr>
        <p:spPr>
          <a:xfrm>
            <a:off x="640080" y="2229104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4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05DBDB00-5F2C-4862-9195-A2DC18AFEB7F}"/>
              </a:ext>
            </a:extLst>
          </p:cNvPr>
          <p:cNvSpPr/>
          <p:nvPr/>
        </p:nvSpPr>
        <p:spPr>
          <a:xfrm>
            <a:off x="640080" y="261950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desc</a:t>
            </a:r>
            <a:endParaRPr lang="en-US" sz="11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4DD23E6F-CED0-437E-9F6D-82B47B4D89D1}"/>
              </a:ext>
            </a:extLst>
          </p:cNvPr>
          <p:cNvSpPr/>
          <p:nvPr/>
        </p:nvSpPr>
        <p:spPr>
          <a:xfrm>
            <a:off x="640080" y="290271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9FBB4EB-64B3-46D6-8B10-0C182E0524C7}"/>
              </a:ext>
            </a:extLst>
          </p:cNvPr>
          <p:cNvSpPr/>
          <p:nvPr/>
        </p:nvSpPr>
        <p:spPr>
          <a:xfrm>
            <a:off x="640080" y="318592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2F3D1B8C-2023-4DED-B111-80CA2FF028F5}"/>
              </a:ext>
            </a:extLst>
          </p:cNvPr>
          <p:cNvSpPr/>
          <p:nvPr/>
        </p:nvSpPr>
        <p:spPr>
          <a:xfrm>
            <a:off x="640080" y="346913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5EA6D55-1497-4FC4-BEAC-66C324F9B6AF}"/>
              </a:ext>
            </a:extLst>
          </p:cNvPr>
          <p:cNvSpPr/>
          <p:nvPr/>
        </p:nvSpPr>
        <p:spPr>
          <a:xfrm>
            <a:off x="640080" y="375234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4B81B888-0D75-417A-A368-4D7410CD612A}"/>
              </a:ext>
            </a:extLst>
          </p:cNvPr>
          <p:cNvSpPr/>
          <p:nvPr/>
        </p:nvSpPr>
        <p:spPr>
          <a:xfrm>
            <a:off x="640080" y="4145280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41AA1A51-474D-4C77-AC91-28708F00EC30}"/>
              </a:ext>
            </a:extLst>
          </p:cNvPr>
          <p:cNvSpPr/>
          <p:nvPr/>
        </p:nvSpPr>
        <p:spPr>
          <a:xfrm>
            <a:off x="640080" y="4145280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AAFA178C-EB69-47BD-9A8F-3277DED20A37}"/>
              </a:ext>
            </a:extLst>
          </p:cNvPr>
          <p:cNvSpPr/>
          <p:nvPr/>
        </p:nvSpPr>
        <p:spPr>
          <a:xfrm>
            <a:off x="6210148" y="2000504"/>
            <a:ext cx="5456072" cy="2501392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0606E7D1-EFFA-43C8-A773-71911238C66F}"/>
              </a:ext>
            </a:extLst>
          </p:cNvPr>
          <p:cNvSpPr/>
          <p:nvPr/>
        </p:nvSpPr>
        <p:spPr>
          <a:xfrm>
            <a:off x="6210148" y="1986280"/>
            <a:ext cx="5456072" cy="599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E6E48432-4256-43B8-9F55-D371CF21DAA5}"/>
              </a:ext>
            </a:extLst>
          </p:cNvPr>
          <p:cNvSpPr/>
          <p:nvPr/>
        </p:nvSpPr>
        <p:spPr>
          <a:xfrm>
            <a:off x="6393028" y="2165096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SaaS</a:t>
            </a:r>
            <a:endParaRPr lang="en-US" sz="140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3FB4AE44-FEF6-43C4-B8CC-93F48782ACDA}"/>
              </a:ext>
            </a:extLst>
          </p:cNvPr>
          <p:cNvSpPr/>
          <p:nvPr/>
        </p:nvSpPr>
        <p:spPr>
          <a:xfrm>
            <a:off x="6393028" y="4081272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C27B1B0B-F79A-4B31-A60B-2BD555DCC5F5}"/>
              </a:ext>
            </a:extLst>
          </p:cNvPr>
          <p:cNvSpPr/>
          <p:nvPr/>
        </p:nvSpPr>
        <p:spPr>
          <a:xfrm>
            <a:off x="6393028" y="4081272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</a:t>
            </a:r>
            <a:endParaRPr lang="en-US" sz="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F55630-2EB5-4216-A157-4A51A64D360D}"/>
              </a:ext>
            </a:extLst>
          </p:cNvPr>
          <p:cNvSpPr txBox="1"/>
          <p:nvPr/>
        </p:nvSpPr>
        <p:spPr>
          <a:xfrm>
            <a:off x="354330" y="5050282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compare-2col</a:t>
            </a:r>
            <a:endParaRPr lang="ko-KR" altLang="en-US" dirty="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D252EEEB-E421-4CDB-9D88-E003039DAE3A}"/>
              </a:ext>
            </a:extLst>
          </p:cNvPr>
          <p:cNvSpPr/>
          <p:nvPr/>
        </p:nvSpPr>
        <p:spPr>
          <a:xfrm>
            <a:off x="411479" y="5591556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tool-card 예시: 추천 도구</a:t>
            </a:r>
            <a:endParaRPr lang="en-US" sz="13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ABE8F48D-36A4-44AC-9B65-E4D9C332AE03}"/>
              </a:ext>
            </a:extLst>
          </p:cNvPr>
          <p:cNvSpPr/>
          <p:nvPr/>
        </p:nvSpPr>
        <p:spPr>
          <a:xfrm>
            <a:off x="7037001" y="1726184"/>
            <a:ext cx="444822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Tag</a:t>
            </a:r>
            <a:endParaRPr lang="en-US" sz="9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BC143193-B978-4CC5-8554-4D3460B734A3}"/>
              </a:ext>
            </a:extLst>
          </p:cNvPr>
          <p:cNvSpPr/>
          <p:nvPr/>
        </p:nvSpPr>
        <p:spPr>
          <a:xfrm>
            <a:off x="6393028" y="261950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desc</a:t>
            </a:r>
            <a:endParaRPr lang="en-US" sz="1100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7B602328-CF1B-4214-8047-A9F12F683021}"/>
              </a:ext>
            </a:extLst>
          </p:cNvPr>
          <p:cNvSpPr/>
          <p:nvPr/>
        </p:nvSpPr>
        <p:spPr>
          <a:xfrm>
            <a:off x="6393028" y="290271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032DB63D-B6AD-4423-8F77-3E2B35C4D839}"/>
              </a:ext>
            </a:extLst>
          </p:cNvPr>
          <p:cNvSpPr/>
          <p:nvPr/>
        </p:nvSpPr>
        <p:spPr>
          <a:xfrm>
            <a:off x="6393028" y="318592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5D0823A4-1FA8-4A13-85D9-4CF496B9DFC3}"/>
              </a:ext>
            </a:extLst>
          </p:cNvPr>
          <p:cNvSpPr/>
          <p:nvPr/>
        </p:nvSpPr>
        <p:spPr>
          <a:xfrm>
            <a:off x="6393028" y="346913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30D86A4B-BA97-45C2-B45A-2A370825CFDA}"/>
              </a:ext>
            </a:extLst>
          </p:cNvPr>
          <p:cNvSpPr/>
          <p:nvPr/>
        </p:nvSpPr>
        <p:spPr>
          <a:xfrm>
            <a:off x="6393028" y="3752342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68755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B4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시작해보세요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94484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D4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숏코드를 직접 사용해보며 나만의 가이드를 만들어보세요.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32808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template.md 열기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1397</Words>
  <Application>Microsoft Office PowerPoint</Application>
  <PresentationFormat>와이드스크린</PresentationFormat>
  <Paragraphs>346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Minsuk Shin</cp:lastModifiedBy>
  <cp:revision>6</cp:revision>
  <dcterms:created xsi:type="dcterms:W3CDTF">2026-05-11T02:11:55Z</dcterms:created>
  <dcterms:modified xsi:type="dcterms:W3CDTF">2026-05-12T09:07:21Z</dcterms:modified>
</cp:coreProperties>
</file>