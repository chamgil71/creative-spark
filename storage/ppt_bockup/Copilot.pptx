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457200" y="2103120"/>
            <a:ext cx="164592" cy="1554480"/>
          </a:xfrm>
          <a:prstGeom prst="rect">
            <a:avLst/>
          </a:prstGeom>
          <a:solidFill>
            <a:srgbClr val="D97757"/>
          </a:solidFill>
          <a:ln w="12700">
            <a:solidFill>
              <a:srgbClr val="D97757"/>
            </a:solidFill>
            <a:prstDash val="solid"/>
          </a:ln>
        </p:spPr>
      </p:sp>
      <p:sp>
        <p:nvSpPr>
          <p:cNvPr id="3" name="Text 1"/>
          <p:cNvSpPr/>
          <p:nvPr/>
        </p:nvSpPr>
        <p:spPr>
          <a:xfrm>
            <a:off x="914400" y="2194560"/>
            <a:ext cx="10820095" cy="1097280"/>
          </a:xfrm>
          <a:prstGeom prst="rect">
            <a:avLst/>
          </a:prstGeom>
          <a:noFill/>
          <a:ln/>
        </p:spPr>
        <p:txBody>
          <a:bodyPr wrap="square" rtlCol="0" anchor="t"/>
          <a:lstStyle/>
          <a:p>
            <a:pPr indent="0" marL="0">
              <a:buNone/>
            </a:pPr>
            <a:r>
              <a:rPr lang="en-US" sz="4000" b="1" dirty="0">
                <a:solidFill>
                  <a:srgbClr val="FFFFFF"/>
                </a:solidFill>
                <a:latin typeface="Malgun Gothic" pitchFamily="34" charset="0"/>
                <a:ea typeface="Malgun Gothic" pitchFamily="34" charset="-122"/>
                <a:cs typeface="Malgun Gothic" pitchFamily="34" charset="-120"/>
              </a:rPr>
              <a:t>GitHub Copilot 완전 활용 가이드</a:t>
            </a:r>
            <a:endParaRPr lang="en-US" sz="4000" dirty="0"/>
          </a:p>
        </p:txBody>
      </p:sp>
      <p:sp>
        <p:nvSpPr>
          <p:cNvPr id="4" name="Text 2"/>
          <p:cNvSpPr/>
          <p:nvPr/>
        </p:nvSpPr>
        <p:spPr>
          <a:xfrm>
            <a:off x="914400" y="3291840"/>
            <a:ext cx="10820095" cy="365760"/>
          </a:xfrm>
          <a:prstGeom prst="rect">
            <a:avLst/>
          </a:prstGeom>
          <a:noFill/>
          <a:ln/>
        </p:spPr>
        <p:txBody>
          <a:bodyPr wrap="square" rtlCol="0" anchor="ctr"/>
          <a:lstStyle/>
          <a:p>
            <a:pPr indent="0" marL="0">
              <a:buNone/>
            </a:pPr>
            <a:r>
              <a:rPr lang="en-US" sz="1600" dirty="0">
                <a:solidFill>
                  <a:srgbClr val="8892B0"/>
                </a:solidFill>
                <a:latin typeface="Malgun Gothic" pitchFamily="34" charset="0"/>
                <a:ea typeface="Malgun Gothic" pitchFamily="34" charset="-122"/>
                <a:cs typeface="Malgun Gothic" pitchFamily="34" charset="-120"/>
              </a:rPr>
              <a:t>편집기 안에서 내 코딩 스타일을 파악해 실시간으로 코드를 완성해주는 전 세계 1위 AI 짝꿍</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F172A"/>
          </a:solidFill>
          <a:ln w="12700">
            <a:solidFill>
              <a:srgbClr val="0F172A"/>
            </a:solidFill>
            <a:prstDash val="solid"/>
          </a:ln>
        </p:spPr>
      </p:sp>
      <p:sp>
        <p:nvSpPr>
          <p:cNvPr id="3" name="Shape 1"/>
          <p:cNvSpPr/>
          <p:nvPr/>
        </p:nvSpPr>
        <p:spPr>
          <a:xfrm>
            <a:off x="502920" y="228600"/>
            <a:ext cx="502920" cy="502920"/>
          </a:xfrm>
          <a:prstGeom prst="roundRect">
            <a:avLst>
              <a:gd name="adj" fmla="val 18182"/>
            </a:avLst>
          </a:prstGeom>
          <a:solidFill>
            <a:srgbClr val="D97757"/>
          </a:solidFill>
          <a:ln w="12700">
            <a:solidFill>
              <a:srgbClr val="D97757"/>
            </a:solidFill>
            <a:prstDash val="solid"/>
          </a:ln>
        </p:spPr>
      </p:sp>
      <p:sp>
        <p:nvSpPr>
          <p:cNvPr id="4" name="Text 2"/>
          <p:cNvSpPr/>
          <p:nvPr/>
        </p:nvSpPr>
        <p:spPr>
          <a:xfrm>
            <a:off x="502920" y="228600"/>
            <a:ext cx="502920" cy="502920"/>
          </a:xfrm>
          <a:prstGeom prst="rect">
            <a:avLst/>
          </a:prstGeom>
          <a:noFill/>
          <a:ln/>
        </p:spPr>
        <p:txBody>
          <a:bodyPr wrap="square"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1</a:t>
            </a:r>
            <a:endParaRPr lang="en-US" sz="1600" dirty="0"/>
          </a:p>
        </p:txBody>
      </p:sp>
      <p:sp>
        <p:nvSpPr>
          <p:cNvPr id="5" name="Text 3"/>
          <p:cNvSpPr/>
          <p:nvPr/>
        </p:nvSpPr>
        <p:spPr>
          <a:xfrm>
            <a:off x="1143000" y="0"/>
            <a:ext cx="10957255" cy="960120"/>
          </a:xfrm>
          <a:prstGeom prst="rect">
            <a:avLst/>
          </a:prstGeom>
          <a:noFill/>
          <a:ln/>
        </p:spPr>
        <p:txBody>
          <a:bodyPr wrap="square" rtlCol="0" anchor="ctr"/>
          <a:lstStyle/>
          <a:p>
            <a:pPr indent="0" marL="0">
              <a:buNone/>
            </a:pPr>
            <a:r>
              <a:rPr lang="en-US" sz="2200" b="1" dirty="0">
                <a:solidFill>
                  <a:srgbClr val="FFFFFF"/>
                </a:solidFill>
                <a:latin typeface="Malgun Gothic" pitchFamily="34" charset="0"/>
                <a:ea typeface="Malgun Gothic" pitchFamily="34" charset="-122"/>
                <a:cs typeface="Malgun Gothic" pitchFamily="34" charset="-120"/>
              </a:rPr>
              <a:t>Copilot은 어떤 도구인가</a:t>
            </a:r>
            <a:endParaRPr lang="en-US" sz="2200" dirty="0"/>
          </a:p>
        </p:txBody>
      </p:sp>
      <p:sp>
        <p:nvSpPr>
          <p:cNvPr id="6" name="Shape 4"/>
          <p:cNvSpPr/>
          <p:nvPr/>
        </p:nvSpPr>
        <p:spPr>
          <a:xfrm>
            <a:off x="457200" y="1143000"/>
            <a:ext cx="11277295" cy="977900"/>
          </a:xfrm>
          <a:prstGeom prst="roundRect">
            <a:avLst>
              <a:gd name="adj" fmla="val 7481"/>
            </a:avLst>
          </a:prstGeom>
          <a:solidFill>
            <a:srgbClr val="FFFFFF"/>
          </a:solidFill>
          <a:ln w="9525">
            <a:solidFill>
              <a:srgbClr val="F0D4C4"/>
            </a:solidFill>
            <a:prstDash val="solid"/>
          </a:ln>
        </p:spPr>
      </p:sp>
      <p:sp>
        <p:nvSpPr>
          <p:cNvPr id="7" name="Text 5"/>
          <p:cNvSpPr/>
          <p:nvPr/>
        </p:nvSpPr>
        <p:spPr>
          <a:xfrm>
            <a:off x="685800" y="1325880"/>
            <a:ext cx="10820095" cy="474980"/>
          </a:xfrm>
          <a:prstGeom prst="rect">
            <a:avLst/>
          </a:prstGeom>
          <a:noFill/>
          <a:ln/>
        </p:spPr>
        <p:txBody>
          <a:bodyPr wrap="square" rtlCol="0" anchor="t"/>
          <a:lstStyle/>
          <a:p>
            <a:pPr indent="0" marL="0">
              <a:buNone/>
            </a:pPr>
            <a:r>
              <a:rPr lang="en-US" sz="1100" dirty="0">
                <a:solidFill>
                  <a:srgbClr val="475569"/>
                </a:solidFill>
                <a:latin typeface="Malgun Gothic" pitchFamily="34" charset="0"/>
                <a:ea typeface="Malgun Gothic" pitchFamily="34" charset="-122"/>
                <a:cs typeface="Malgun Gothic" pitchFamily="34" charset="-120"/>
              </a:rPr>
              <a:t>GitHub Copilot은 VS Code, IntelliJ 같은 코드 에디터에 확장 프로그램 형태로 설치되어, 개발자가 코드를 치는 동안 다음 줄이나 전체 함수를 실시간으로 유추하고 제안해주는 AI 어시스턴트입니다. 단순히 검색된 코드를 붙여넣는 것이 아니라, 현재 열려 있는 파일과 프로젝트의 맥락을 읽어 내 프로젝트 스타일에 딱 맞는 코드를 짜줍니다.</a:t>
            </a:r>
            <a:endParaRPr lang="en-US" sz="1100" dirty="0"/>
          </a:p>
        </p:txBody>
      </p:sp>
      <p:sp>
        <p:nvSpPr>
          <p:cNvPr id="8" name="Shape 6"/>
          <p:cNvSpPr/>
          <p:nvPr/>
        </p:nvSpPr>
        <p:spPr>
          <a:xfrm>
            <a:off x="457200" y="2258060"/>
            <a:ext cx="11277295" cy="1154430"/>
          </a:xfrm>
          <a:prstGeom prst="roundRect">
            <a:avLst>
              <a:gd name="adj" fmla="val 6337"/>
            </a:avLst>
          </a:prstGeom>
          <a:solidFill>
            <a:srgbClr val="FFFFFF"/>
          </a:solidFill>
          <a:ln w="9525">
            <a:solidFill>
              <a:srgbClr val="F0D4C4"/>
            </a:solidFill>
            <a:prstDash val="solid"/>
          </a:ln>
        </p:spPr>
      </p:sp>
      <p:sp>
        <p:nvSpPr>
          <p:cNvPr id="9" name="Text 7"/>
          <p:cNvSpPr/>
          <p:nvPr/>
        </p:nvSpPr>
        <p:spPr>
          <a:xfrm>
            <a:off x="685800" y="2440940"/>
            <a:ext cx="10820095" cy="347980"/>
          </a:xfrm>
          <a:prstGeom prst="rect">
            <a:avLst/>
          </a:prstGeom>
          <a:noFill/>
          <a:ln/>
        </p:spPr>
        <p:txBody>
          <a:bodyPr wrap="square" rtlCol="0" anchor="t"/>
          <a:lstStyle/>
          <a:p>
            <a:pPr indent="0" marL="0">
              <a:buNone/>
            </a:pPr>
            <a:r>
              <a:rPr lang="en-US" sz="1400" b="1" dirty="0">
                <a:solidFill>
                  <a:srgbClr val="B85F3F"/>
                </a:solidFill>
                <a:latin typeface="Malgun Gothic" pitchFamily="34" charset="0"/>
                <a:ea typeface="Malgun Gothic" pitchFamily="34" charset="-122"/>
                <a:cs typeface="Malgun Gothic" pitchFamily="34" charset="-120"/>
              </a:rPr>
              <a:t>한눈에 보는 핵심 기능</a:t>
            </a:r>
            <a:endParaRPr lang="en-US" sz="1400" dirty="0"/>
          </a:p>
        </p:txBody>
      </p:sp>
      <p:sp>
        <p:nvSpPr>
          <p:cNvPr id="10" name="Text 8"/>
          <p:cNvSpPr/>
          <p:nvPr/>
        </p:nvSpPr>
        <p:spPr>
          <a:xfrm>
            <a:off x="685800" y="2857500"/>
            <a:ext cx="10820095" cy="326390"/>
          </a:xfrm>
          <a:prstGeom prst="rect">
            <a:avLst/>
          </a:prstGeom>
          <a:noFill/>
          <a:ln/>
        </p:spPr>
        <p:txBody>
          <a:bodyPr wrap="square" rtlCol="0" anchor="t"/>
          <a:lstStyle/>
          <a:p>
            <a:pPr indent="0" marL="0">
              <a:buNone/>
            </a:pPr>
            <a:r>
              <a:rPr lang="en-US" sz="1300" b="1" dirty="0">
                <a:solidFill>
                  <a:srgbClr val="1A1A2E"/>
                </a:solidFill>
                <a:latin typeface="Malgun Gothic" pitchFamily="34" charset="0"/>
                <a:ea typeface="Malgun Gothic" pitchFamily="34" charset="-122"/>
                <a:cs typeface="Malgun Gothic" pitchFamily="34" charset="-120"/>
              </a:rPr>
              <a:t>한눈에 보는 핵심 기능</a:t>
            </a:r>
            <a:endParaRPr lang="en-US" sz="1300" dirty="0"/>
          </a:p>
        </p:txBody>
      </p:sp>
      <p:sp>
        <p:nvSpPr>
          <p:cNvPr id="11" name="Shape 9"/>
          <p:cNvSpPr/>
          <p:nvPr/>
        </p:nvSpPr>
        <p:spPr>
          <a:xfrm>
            <a:off x="457200" y="3549650"/>
            <a:ext cx="2716454" cy="1280160"/>
          </a:xfrm>
          <a:prstGeom prst="roundRect">
            <a:avLst>
              <a:gd name="adj" fmla="val 5714"/>
            </a:avLst>
          </a:prstGeom>
          <a:solidFill>
            <a:srgbClr val="FFFFFF"/>
          </a:solidFill>
          <a:ln w="9525">
            <a:solidFill>
              <a:srgbClr val="F0D4C4"/>
            </a:solidFill>
            <a:prstDash val="solid"/>
          </a:ln>
        </p:spPr>
      </p:sp>
      <p:sp>
        <p:nvSpPr>
          <p:cNvPr id="12" name="Text 10"/>
          <p:cNvSpPr/>
          <p:nvPr/>
        </p:nvSpPr>
        <p:spPr>
          <a:xfrm>
            <a:off x="548640" y="3641090"/>
            <a:ext cx="2533574" cy="384048"/>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3" name="Text 11"/>
          <p:cNvSpPr/>
          <p:nvPr/>
        </p:nvSpPr>
        <p:spPr>
          <a:xfrm>
            <a:off x="548640" y="4080002"/>
            <a:ext cx="2533574" cy="256032"/>
          </a:xfrm>
          <a:prstGeom prst="rect">
            <a:avLst/>
          </a:prstGeom>
          <a:noFill/>
          <a:ln/>
        </p:spPr>
        <p:txBody>
          <a:bodyPr wrap="square" rtlCol="0" anchor="ctr"/>
          <a:lstStyle/>
          <a:p>
            <a:pPr algn="ctr" indent="0" marL="0">
              <a:buNone/>
            </a:pPr>
            <a:r>
              <a:rPr lang="en-US" sz="1100" b="1" dirty="0">
                <a:solidFill>
                  <a:srgbClr val="1A1A2E"/>
                </a:solidFill>
                <a:latin typeface="Malgun Gothic" pitchFamily="34" charset="0"/>
                <a:ea typeface="Malgun Gothic" pitchFamily="34" charset="-122"/>
                <a:cs typeface="Malgun Gothic" pitchFamily="34" charset="-120"/>
              </a:rPr>
              <a:t>고스트 텍스트 자동완성</a:t>
            </a:r>
            <a:endParaRPr lang="en-US" sz="1100" dirty="0"/>
          </a:p>
        </p:txBody>
      </p:sp>
      <p:sp>
        <p:nvSpPr>
          <p:cNvPr id="14" name="Text 12"/>
          <p:cNvSpPr/>
          <p:nvPr/>
        </p:nvSpPr>
        <p:spPr>
          <a:xfrm>
            <a:off x="548640" y="4354322"/>
            <a:ext cx="2533574" cy="420624"/>
          </a:xfrm>
          <a:prstGeom prst="rect">
            <a:avLst/>
          </a:prstGeom>
          <a:noFill/>
          <a:ln/>
        </p:spPr>
        <p:txBody>
          <a:bodyPr wrap="square" rtlCol="0" anchor="t"/>
          <a:lstStyle/>
          <a:p>
            <a:pPr algn="ctr" indent="0" marL="0">
              <a:buNone/>
            </a:pPr>
            <a:r>
              <a:rPr lang="en-US" sz="1000" dirty="0">
                <a:solidFill>
                  <a:srgbClr val="475569"/>
                </a:solidFill>
                <a:latin typeface="Malgun Gothic" pitchFamily="34" charset="0"/>
                <a:ea typeface="Malgun Gothic" pitchFamily="34" charset="-122"/>
                <a:cs typeface="Malgun Gothic" pitchFamily="34" charset="-120"/>
              </a:rPr>
              <a:t>코드를 작성하는 도중 회색 글씨(Ghost Text)로 다음 로직이 추천되며, `Tab` 키로 즉시 적용합니다.</a:t>
            </a:r>
            <a:endParaRPr lang="en-US" sz="1000" dirty="0"/>
          </a:p>
        </p:txBody>
      </p:sp>
      <p:sp>
        <p:nvSpPr>
          <p:cNvPr id="15" name="Shape 13"/>
          <p:cNvSpPr/>
          <p:nvPr/>
        </p:nvSpPr>
        <p:spPr>
          <a:xfrm>
            <a:off x="3310814" y="3549650"/>
            <a:ext cx="2716454" cy="1280160"/>
          </a:xfrm>
          <a:prstGeom prst="roundRect">
            <a:avLst>
              <a:gd name="adj" fmla="val 5714"/>
            </a:avLst>
          </a:prstGeom>
          <a:solidFill>
            <a:srgbClr val="FFFFFF"/>
          </a:solidFill>
          <a:ln w="9525">
            <a:solidFill>
              <a:srgbClr val="F0D4C4"/>
            </a:solidFill>
            <a:prstDash val="solid"/>
          </a:ln>
        </p:spPr>
      </p:sp>
      <p:sp>
        <p:nvSpPr>
          <p:cNvPr id="16" name="Text 14"/>
          <p:cNvSpPr/>
          <p:nvPr/>
        </p:nvSpPr>
        <p:spPr>
          <a:xfrm>
            <a:off x="3402254" y="3641090"/>
            <a:ext cx="2533574" cy="384048"/>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7" name="Text 15"/>
          <p:cNvSpPr/>
          <p:nvPr/>
        </p:nvSpPr>
        <p:spPr>
          <a:xfrm>
            <a:off x="3402254" y="4080002"/>
            <a:ext cx="2533574" cy="256032"/>
          </a:xfrm>
          <a:prstGeom prst="rect">
            <a:avLst/>
          </a:prstGeom>
          <a:noFill/>
          <a:ln/>
        </p:spPr>
        <p:txBody>
          <a:bodyPr wrap="square" rtlCol="0" anchor="ctr"/>
          <a:lstStyle/>
          <a:p>
            <a:pPr algn="ctr" indent="0" marL="0">
              <a:buNone/>
            </a:pPr>
            <a:r>
              <a:rPr lang="en-US" sz="1100" b="1" dirty="0">
                <a:solidFill>
                  <a:srgbClr val="1A1A2E"/>
                </a:solidFill>
                <a:latin typeface="Malgun Gothic" pitchFamily="34" charset="0"/>
                <a:ea typeface="Malgun Gothic" pitchFamily="34" charset="-122"/>
                <a:cs typeface="Malgun Gothic" pitchFamily="34" charset="-120"/>
              </a:rPr>
              <a:t>Copilot Chat</a:t>
            </a:r>
            <a:endParaRPr lang="en-US" sz="1100" dirty="0"/>
          </a:p>
        </p:txBody>
      </p:sp>
      <p:sp>
        <p:nvSpPr>
          <p:cNvPr id="18" name="Text 16"/>
          <p:cNvSpPr/>
          <p:nvPr/>
        </p:nvSpPr>
        <p:spPr>
          <a:xfrm>
            <a:off x="3402254" y="4354322"/>
            <a:ext cx="2533574" cy="420624"/>
          </a:xfrm>
          <a:prstGeom prst="rect">
            <a:avLst/>
          </a:prstGeom>
          <a:noFill/>
          <a:ln/>
        </p:spPr>
        <p:txBody>
          <a:bodyPr wrap="square" rtlCol="0" anchor="t"/>
          <a:lstStyle/>
          <a:p>
            <a:pPr algn="ctr" indent="0" marL="0">
              <a:buNone/>
            </a:pPr>
            <a:r>
              <a:rPr lang="en-US" sz="1000" dirty="0">
                <a:solidFill>
                  <a:srgbClr val="475569"/>
                </a:solidFill>
                <a:latin typeface="Malgun Gothic" pitchFamily="34" charset="0"/>
                <a:ea typeface="Malgun Gothic" pitchFamily="34" charset="-122"/>
                <a:cs typeface="Malgun Gothic" pitchFamily="34" charset="-120"/>
              </a:rPr>
              <a:t>에디터 좌측 패널에서 ChatGPT처럼 대화하며 코드를 리팩토링하거나 테스트 코드를 짜달라고 요청합니다.</a:t>
            </a:r>
            <a:endParaRPr lang="en-US" sz="1000" dirty="0"/>
          </a:p>
        </p:txBody>
      </p:sp>
      <p:sp>
        <p:nvSpPr>
          <p:cNvPr id="19" name="Shape 17"/>
          <p:cNvSpPr/>
          <p:nvPr/>
        </p:nvSpPr>
        <p:spPr>
          <a:xfrm>
            <a:off x="6164428" y="3549650"/>
            <a:ext cx="2716454" cy="1280160"/>
          </a:xfrm>
          <a:prstGeom prst="roundRect">
            <a:avLst>
              <a:gd name="adj" fmla="val 5714"/>
            </a:avLst>
          </a:prstGeom>
          <a:solidFill>
            <a:srgbClr val="FFFFFF"/>
          </a:solidFill>
          <a:ln w="9525">
            <a:solidFill>
              <a:srgbClr val="F0D4C4"/>
            </a:solidFill>
            <a:prstDash val="solid"/>
          </a:ln>
        </p:spPr>
      </p:sp>
      <p:sp>
        <p:nvSpPr>
          <p:cNvPr id="20" name="Text 18"/>
          <p:cNvSpPr/>
          <p:nvPr/>
        </p:nvSpPr>
        <p:spPr>
          <a:xfrm>
            <a:off x="6255868" y="3641090"/>
            <a:ext cx="2533574" cy="384048"/>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21" name="Text 19"/>
          <p:cNvSpPr/>
          <p:nvPr/>
        </p:nvSpPr>
        <p:spPr>
          <a:xfrm>
            <a:off x="6255868" y="4080002"/>
            <a:ext cx="2533574" cy="256032"/>
          </a:xfrm>
          <a:prstGeom prst="rect">
            <a:avLst/>
          </a:prstGeom>
          <a:noFill/>
          <a:ln/>
        </p:spPr>
        <p:txBody>
          <a:bodyPr wrap="square" rtlCol="0" anchor="ctr"/>
          <a:lstStyle/>
          <a:p>
            <a:pPr algn="ctr" indent="0" marL="0">
              <a:buNone/>
            </a:pPr>
            <a:r>
              <a:rPr lang="en-US" sz="1100" b="1" dirty="0">
                <a:solidFill>
                  <a:srgbClr val="1A1A2E"/>
                </a:solidFill>
                <a:latin typeface="Malgun Gothic" pitchFamily="34" charset="0"/>
                <a:ea typeface="Malgun Gothic" pitchFamily="34" charset="-122"/>
                <a:cs typeface="Malgun Gothic" pitchFamily="34" charset="-120"/>
              </a:rPr>
              <a:t>인라인 에디팅</a:t>
            </a:r>
            <a:endParaRPr lang="en-US" sz="1100" dirty="0"/>
          </a:p>
        </p:txBody>
      </p:sp>
      <p:sp>
        <p:nvSpPr>
          <p:cNvPr id="22" name="Text 20"/>
          <p:cNvSpPr/>
          <p:nvPr/>
        </p:nvSpPr>
        <p:spPr>
          <a:xfrm>
            <a:off x="6255868" y="4354322"/>
            <a:ext cx="2533574" cy="420624"/>
          </a:xfrm>
          <a:prstGeom prst="rect">
            <a:avLst/>
          </a:prstGeom>
          <a:noFill/>
          <a:ln/>
        </p:spPr>
        <p:txBody>
          <a:bodyPr wrap="square" rtlCol="0" anchor="t"/>
          <a:lstStyle/>
          <a:p>
            <a:pPr algn="ctr" indent="0" marL="0">
              <a:buNone/>
            </a:pPr>
            <a:r>
              <a:rPr lang="en-US" sz="1000" dirty="0">
                <a:solidFill>
                  <a:srgbClr val="475569"/>
                </a:solidFill>
                <a:latin typeface="Malgun Gothic" pitchFamily="34" charset="0"/>
                <a:ea typeface="Malgun Gothic" pitchFamily="34" charset="-122"/>
                <a:cs typeface="Malgun Gothic" pitchFamily="34" charset="-120"/>
              </a:rPr>
              <a:t>코드 중간에서 `Ctrl + I` (Mac: `Cmd + I`)를 눌러 프롬프트 창을 띄우고 특정 블록만 바로 수정합니다.</a:t>
            </a:r>
            <a:endParaRPr lang="en-US" sz="1000" dirty="0"/>
          </a:p>
        </p:txBody>
      </p:sp>
      <p:sp>
        <p:nvSpPr>
          <p:cNvPr id="23" name="Shape 21"/>
          <p:cNvSpPr/>
          <p:nvPr/>
        </p:nvSpPr>
        <p:spPr>
          <a:xfrm>
            <a:off x="9018041" y="3549650"/>
            <a:ext cx="2716454" cy="1280160"/>
          </a:xfrm>
          <a:prstGeom prst="roundRect">
            <a:avLst>
              <a:gd name="adj" fmla="val 5714"/>
            </a:avLst>
          </a:prstGeom>
          <a:solidFill>
            <a:srgbClr val="FFFFFF"/>
          </a:solidFill>
          <a:ln w="9525">
            <a:solidFill>
              <a:srgbClr val="F0D4C4"/>
            </a:solidFill>
            <a:prstDash val="solid"/>
          </a:ln>
        </p:spPr>
      </p:sp>
      <p:sp>
        <p:nvSpPr>
          <p:cNvPr id="24" name="Text 22"/>
          <p:cNvSpPr/>
          <p:nvPr/>
        </p:nvSpPr>
        <p:spPr>
          <a:xfrm>
            <a:off x="9109481" y="3641090"/>
            <a:ext cx="2533574" cy="384048"/>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25" name="Text 23"/>
          <p:cNvSpPr/>
          <p:nvPr/>
        </p:nvSpPr>
        <p:spPr>
          <a:xfrm>
            <a:off x="9109481" y="4080002"/>
            <a:ext cx="2533574" cy="256032"/>
          </a:xfrm>
          <a:prstGeom prst="rect">
            <a:avLst/>
          </a:prstGeom>
          <a:noFill/>
          <a:ln/>
        </p:spPr>
        <p:txBody>
          <a:bodyPr wrap="square" rtlCol="0" anchor="ctr"/>
          <a:lstStyle/>
          <a:p>
            <a:pPr algn="ctr" indent="0" marL="0">
              <a:buNone/>
            </a:pPr>
            <a:r>
              <a:rPr lang="en-US" sz="1100" b="1" dirty="0">
                <a:solidFill>
                  <a:srgbClr val="1A1A2E"/>
                </a:solidFill>
                <a:latin typeface="Malgun Gothic" pitchFamily="34" charset="0"/>
                <a:ea typeface="Malgun Gothic" pitchFamily="34" charset="-122"/>
                <a:cs typeface="Malgun Gothic" pitchFamily="34" charset="-120"/>
              </a:rPr>
              <a:t>Copilot CLI</a:t>
            </a:r>
            <a:endParaRPr lang="en-US" sz="1100" dirty="0"/>
          </a:p>
        </p:txBody>
      </p:sp>
      <p:sp>
        <p:nvSpPr>
          <p:cNvPr id="26" name="Text 24"/>
          <p:cNvSpPr/>
          <p:nvPr/>
        </p:nvSpPr>
        <p:spPr>
          <a:xfrm>
            <a:off x="9109481" y="4354322"/>
            <a:ext cx="2533574" cy="420624"/>
          </a:xfrm>
          <a:prstGeom prst="rect">
            <a:avLst/>
          </a:prstGeom>
          <a:noFill/>
          <a:ln/>
        </p:spPr>
        <p:txBody>
          <a:bodyPr wrap="square" rtlCol="0" anchor="t"/>
          <a:lstStyle/>
          <a:p>
            <a:pPr algn="ctr" indent="0" marL="0">
              <a:buNone/>
            </a:pPr>
            <a:r>
              <a:rPr lang="en-US" sz="1000" dirty="0">
                <a:solidFill>
                  <a:srgbClr val="475569"/>
                </a:solidFill>
                <a:latin typeface="Malgun Gothic" pitchFamily="34" charset="0"/>
                <a:ea typeface="Malgun Gothic" pitchFamily="34" charset="-122"/>
                <a:cs typeface="Malgun Gothic" pitchFamily="34" charset="-120"/>
              </a:rPr>
              <a:t>터미널에서 외우기 힘든 Git 요령이나 복잡한 쉘(Shell) 명령어를 자연어로 물어보고 즉시 실행합니다.</a:t>
            </a:r>
            <a:endParaRPr lang="en-US" sz="1000" dirty="0"/>
          </a:p>
        </p:txBody>
      </p:sp>
      <p:sp>
        <p:nvSpPr>
          <p:cNvPr id="27" name="Shape 25"/>
          <p:cNvSpPr/>
          <p:nvPr/>
        </p:nvSpPr>
        <p:spPr>
          <a:xfrm>
            <a:off x="457200" y="5104130"/>
            <a:ext cx="11277295" cy="1154430"/>
          </a:xfrm>
          <a:prstGeom prst="roundRect">
            <a:avLst>
              <a:gd name="adj" fmla="val 6337"/>
            </a:avLst>
          </a:prstGeom>
          <a:solidFill>
            <a:srgbClr val="FFFFFF"/>
          </a:solidFill>
          <a:ln w="9525">
            <a:solidFill>
              <a:srgbClr val="F0D4C4"/>
            </a:solidFill>
            <a:prstDash val="solid"/>
          </a:ln>
        </p:spPr>
      </p:sp>
      <p:sp>
        <p:nvSpPr>
          <p:cNvPr id="28" name="Text 26"/>
          <p:cNvSpPr/>
          <p:nvPr/>
        </p:nvSpPr>
        <p:spPr>
          <a:xfrm>
            <a:off x="685800" y="5287010"/>
            <a:ext cx="10820095" cy="347980"/>
          </a:xfrm>
          <a:prstGeom prst="rect">
            <a:avLst/>
          </a:prstGeom>
          <a:noFill/>
          <a:ln/>
        </p:spPr>
        <p:txBody>
          <a:bodyPr wrap="square" rtlCol="0" anchor="t"/>
          <a:lstStyle/>
          <a:p>
            <a:pPr indent="0" marL="0">
              <a:buNone/>
            </a:pPr>
            <a:r>
              <a:rPr lang="en-US" sz="1400" b="1" dirty="0">
                <a:solidFill>
                  <a:srgbClr val="B85F3F"/>
                </a:solidFill>
                <a:latin typeface="Malgun Gothic" pitchFamily="34" charset="0"/>
                <a:ea typeface="Malgun Gothic" pitchFamily="34" charset="-122"/>
                <a:cs typeface="Malgun Gothic" pitchFamily="34" charset="-120"/>
              </a:rPr>
              <a:t>이런 분들께 강력 추천합니다</a:t>
            </a:r>
            <a:endParaRPr lang="en-US" sz="1400" dirty="0"/>
          </a:p>
        </p:txBody>
      </p:sp>
      <p:sp>
        <p:nvSpPr>
          <p:cNvPr id="29" name="Text 27"/>
          <p:cNvSpPr/>
          <p:nvPr/>
        </p:nvSpPr>
        <p:spPr>
          <a:xfrm>
            <a:off x="685800" y="5703570"/>
            <a:ext cx="10820095" cy="326390"/>
          </a:xfrm>
          <a:prstGeom prst="rect">
            <a:avLst/>
          </a:prstGeom>
          <a:noFill/>
          <a:ln/>
        </p:spPr>
        <p:txBody>
          <a:bodyPr wrap="square" rtlCol="0" anchor="t"/>
          <a:lstStyle/>
          <a:p>
            <a:pPr indent="0" marL="0">
              <a:buNone/>
            </a:pPr>
            <a:r>
              <a:rPr lang="en-US" sz="1300" b="1" dirty="0">
                <a:solidFill>
                  <a:srgbClr val="1A1A2E"/>
                </a:solidFill>
                <a:latin typeface="Malgun Gothic" pitchFamily="34" charset="0"/>
                <a:ea typeface="Malgun Gothic" pitchFamily="34" charset="-122"/>
                <a:cs typeface="Malgun Gothic" pitchFamily="34" charset="-120"/>
              </a:rPr>
              <a:t>이런 분들께 강력 추천합니다</a:t>
            </a:r>
            <a:endParaRPr lang="en-US" sz="1300" dirty="0"/>
          </a:p>
        </p:txBody>
      </p:sp>
      <p:sp>
        <p:nvSpPr>
          <p:cNvPr id="30" name="Shape 28"/>
          <p:cNvSpPr/>
          <p:nvPr/>
        </p:nvSpPr>
        <p:spPr>
          <a:xfrm>
            <a:off x="457200" y="6395720"/>
            <a:ext cx="3667658" cy="1371600"/>
          </a:xfrm>
          <a:prstGeom prst="roundRect">
            <a:avLst>
              <a:gd name="adj" fmla="val 5333"/>
            </a:avLst>
          </a:prstGeom>
          <a:solidFill>
            <a:srgbClr val="FFFFFF"/>
          </a:solidFill>
          <a:ln w="9525">
            <a:solidFill>
              <a:srgbClr val="F0D4C4"/>
            </a:solidFill>
            <a:prstDash val="solid"/>
          </a:ln>
        </p:spPr>
      </p:sp>
      <p:sp>
        <p:nvSpPr>
          <p:cNvPr id="31" name="Shape 29"/>
          <p:cNvSpPr/>
          <p:nvPr/>
        </p:nvSpPr>
        <p:spPr>
          <a:xfrm>
            <a:off x="457200" y="6395720"/>
            <a:ext cx="3667658" cy="36576"/>
          </a:xfrm>
          <a:prstGeom prst="rect">
            <a:avLst/>
          </a:prstGeom>
          <a:solidFill>
            <a:srgbClr val="D97757"/>
          </a:solidFill>
          <a:ln w="12700">
            <a:solidFill>
              <a:srgbClr val="D97757"/>
            </a:solidFill>
            <a:prstDash val="solid"/>
          </a:ln>
        </p:spPr>
      </p:sp>
      <p:sp>
        <p:nvSpPr>
          <p:cNvPr id="32" name="Text 30"/>
          <p:cNvSpPr/>
          <p:nvPr/>
        </p:nvSpPr>
        <p:spPr>
          <a:xfrm>
            <a:off x="566928" y="6505448"/>
            <a:ext cx="3448202" cy="201168"/>
          </a:xfrm>
          <a:prstGeom prst="rect">
            <a:avLst/>
          </a:prstGeom>
          <a:noFill/>
          <a:ln/>
        </p:spPr>
        <p:txBody>
          <a:bodyPr wrap="square" rtlCol="0" anchor="ctr"/>
          <a:lstStyle/>
          <a:p>
            <a:pPr indent="0" marL="0">
              <a:buNone/>
            </a:pPr>
            <a:r>
              <a:rPr lang="en-US" sz="800" b="1" dirty="0">
                <a:solidFill>
                  <a:srgbClr val="B85F3F"/>
                </a:solidFill>
                <a:latin typeface="Malgun Gothic" pitchFamily="34" charset="0"/>
                <a:ea typeface="Malgun Gothic" pitchFamily="34" charset="-122"/>
                <a:cs typeface="Malgun Gothic" pitchFamily="34" charset="-120"/>
              </a:rPr>
              <a:t>생산성</a:t>
            </a:r>
            <a:endParaRPr lang="en-US" sz="800" dirty="0"/>
          </a:p>
        </p:txBody>
      </p:sp>
      <p:sp>
        <p:nvSpPr>
          <p:cNvPr id="33" name="Text 31"/>
          <p:cNvSpPr/>
          <p:nvPr/>
        </p:nvSpPr>
        <p:spPr>
          <a:xfrm>
            <a:off x="566928" y="6724904"/>
            <a:ext cx="3448202" cy="274320"/>
          </a:xfrm>
          <a:prstGeom prst="rect">
            <a:avLst/>
          </a:prstGeom>
          <a:noFill/>
          <a:ln/>
        </p:spPr>
        <p:txBody>
          <a:bodyPr wrap="square" rtlCol="0" anchor="ctr"/>
          <a:lstStyle/>
          <a:p>
            <a:pPr indent="0" marL="0">
              <a:buNone/>
            </a:pPr>
            <a:r>
              <a:rPr lang="en-US" sz="1400" b="1" dirty="0">
                <a:solidFill>
                  <a:srgbClr val="1A1A2E"/>
                </a:solidFill>
                <a:latin typeface="Malgun Gothic" pitchFamily="34" charset="0"/>
                <a:ea typeface="Malgun Gothic" pitchFamily="34" charset="-122"/>
                <a:cs typeface="Malgun Gothic" pitchFamily="34" charset="-120"/>
              </a:rPr>
              <a:t>⚡ 반복 작업이 지겨운 개발자</a:t>
            </a:r>
            <a:endParaRPr lang="en-US" sz="1400" dirty="0"/>
          </a:p>
        </p:txBody>
      </p:sp>
      <p:sp>
        <p:nvSpPr>
          <p:cNvPr id="34" name="Text 32"/>
          <p:cNvSpPr/>
          <p:nvPr/>
        </p:nvSpPr>
        <p:spPr>
          <a:xfrm>
            <a:off x="566928" y="7035800"/>
            <a:ext cx="3448202" cy="658368"/>
          </a:xfrm>
          <a:prstGeom prst="rect">
            <a:avLst/>
          </a:prstGeom>
          <a:noFill/>
          <a:ln/>
        </p:spPr>
        <p:txBody>
          <a:bodyPr wrap="square" rtlCol="0" anchor="t"/>
          <a:lstStyle/>
          <a:p>
            <a:pPr indent="0" marL="0">
              <a:buNone/>
            </a:pPr>
            <a:r>
              <a:rPr lang="en-US" sz="1000" dirty="0">
                <a:solidFill>
                  <a:srgbClr val="475569"/>
                </a:solidFill>
                <a:latin typeface="Malgun Gothic" pitchFamily="34" charset="0"/>
                <a:ea typeface="Malgun Gothic" pitchFamily="34" charset="-122"/>
                <a:cs typeface="Malgun Gothic" pitchFamily="34" charset="-120"/>
              </a:rPr>
              <a:t>보일러플레이트 코드, DTO, 무의미한 Getter/Setter 작성에 시간을 낭비하고 싶지 않은 분.</a:t>
            </a:r>
            <a:endParaRPr lang="en-US" sz="1000" dirty="0"/>
          </a:p>
        </p:txBody>
      </p:sp>
      <p:sp>
        <p:nvSpPr>
          <p:cNvPr id="35" name="Shape 33"/>
          <p:cNvSpPr/>
          <p:nvPr/>
        </p:nvSpPr>
        <p:spPr>
          <a:xfrm>
            <a:off x="4262018" y="6395720"/>
            <a:ext cx="3667658" cy="1371600"/>
          </a:xfrm>
          <a:prstGeom prst="roundRect">
            <a:avLst>
              <a:gd name="adj" fmla="val 5333"/>
            </a:avLst>
          </a:prstGeom>
          <a:solidFill>
            <a:srgbClr val="FFFFFF"/>
          </a:solidFill>
          <a:ln w="9525">
            <a:solidFill>
              <a:srgbClr val="F0D4C4"/>
            </a:solidFill>
            <a:prstDash val="solid"/>
          </a:ln>
        </p:spPr>
      </p:sp>
      <p:sp>
        <p:nvSpPr>
          <p:cNvPr id="36" name="Shape 34"/>
          <p:cNvSpPr/>
          <p:nvPr/>
        </p:nvSpPr>
        <p:spPr>
          <a:xfrm>
            <a:off x="4262018" y="6395720"/>
            <a:ext cx="3667658" cy="36576"/>
          </a:xfrm>
          <a:prstGeom prst="rect">
            <a:avLst/>
          </a:prstGeom>
          <a:solidFill>
            <a:srgbClr val="D97757"/>
          </a:solidFill>
          <a:ln w="12700">
            <a:solidFill>
              <a:srgbClr val="D97757"/>
            </a:solidFill>
            <a:prstDash val="solid"/>
          </a:ln>
        </p:spPr>
      </p:sp>
      <p:sp>
        <p:nvSpPr>
          <p:cNvPr id="37" name="Text 35"/>
          <p:cNvSpPr/>
          <p:nvPr/>
        </p:nvSpPr>
        <p:spPr>
          <a:xfrm>
            <a:off x="4371746" y="6505448"/>
            <a:ext cx="3448202" cy="201168"/>
          </a:xfrm>
          <a:prstGeom prst="rect">
            <a:avLst/>
          </a:prstGeom>
          <a:noFill/>
          <a:ln/>
        </p:spPr>
        <p:txBody>
          <a:bodyPr wrap="square" rtlCol="0" anchor="ctr"/>
          <a:lstStyle/>
          <a:p>
            <a:pPr indent="0" marL="0">
              <a:buNone/>
            </a:pPr>
            <a:r>
              <a:rPr lang="en-US" sz="800" b="1" dirty="0">
                <a:solidFill>
                  <a:srgbClr val="B85F3F"/>
                </a:solidFill>
                <a:latin typeface="Malgun Gothic" pitchFamily="34" charset="0"/>
                <a:ea typeface="Malgun Gothic" pitchFamily="34" charset="-122"/>
                <a:cs typeface="Malgun Gothic" pitchFamily="34" charset="-120"/>
              </a:rPr>
              <a:t>풀스택</a:t>
            </a:r>
            <a:endParaRPr lang="en-US" sz="800" dirty="0"/>
          </a:p>
        </p:txBody>
      </p:sp>
      <p:sp>
        <p:nvSpPr>
          <p:cNvPr id="38" name="Text 36"/>
          <p:cNvSpPr/>
          <p:nvPr/>
        </p:nvSpPr>
        <p:spPr>
          <a:xfrm>
            <a:off x="4371746" y="6724904"/>
            <a:ext cx="3448202" cy="274320"/>
          </a:xfrm>
          <a:prstGeom prst="rect">
            <a:avLst/>
          </a:prstGeom>
          <a:noFill/>
          <a:ln/>
        </p:spPr>
        <p:txBody>
          <a:bodyPr wrap="square" rtlCol="0" anchor="ctr"/>
          <a:lstStyle/>
          <a:p>
            <a:pPr indent="0" marL="0">
              <a:buNone/>
            </a:pPr>
            <a:r>
              <a:rPr lang="en-US" sz="1400" b="1" dirty="0">
                <a:solidFill>
                  <a:srgbClr val="1A1A2E"/>
                </a:solidFill>
                <a:latin typeface="Malgun Gothic" pitchFamily="34" charset="0"/>
                <a:ea typeface="Malgun Gothic" pitchFamily="34" charset="-122"/>
                <a:cs typeface="Malgun Gothic" pitchFamily="34" charset="-120"/>
              </a:rPr>
              <a:t>🤹 새로운 언어를 익히는 중인 분</a:t>
            </a:r>
            <a:endParaRPr lang="en-US" sz="1400" dirty="0"/>
          </a:p>
        </p:txBody>
      </p:sp>
      <p:sp>
        <p:nvSpPr>
          <p:cNvPr id="39" name="Text 37"/>
          <p:cNvSpPr/>
          <p:nvPr/>
        </p:nvSpPr>
        <p:spPr>
          <a:xfrm>
            <a:off x="4371746" y="7035800"/>
            <a:ext cx="3448202" cy="658368"/>
          </a:xfrm>
          <a:prstGeom prst="rect">
            <a:avLst/>
          </a:prstGeom>
          <a:noFill/>
          <a:ln/>
        </p:spPr>
        <p:txBody>
          <a:bodyPr wrap="square" rtlCol="0" anchor="t"/>
          <a:lstStyle/>
          <a:p>
            <a:pPr indent="0" marL="0">
              <a:buNone/>
            </a:pPr>
            <a:r>
              <a:rPr lang="en-US" sz="1000" dirty="0">
                <a:solidFill>
                  <a:srgbClr val="475569"/>
                </a:solidFill>
                <a:latin typeface="Malgun Gothic" pitchFamily="34" charset="0"/>
                <a:ea typeface="Malgun Gothic" pitchFamily="34" charset="-122"/>
                <a:cs typeface="Malgun Gothic" pitchFamily="34" charset="-120"/>
              </a:rPr>
              <a:t>Python은 잘하지만 JS 문법이 헷갈릴 때, 검색창으로 가지 않고 에디터 안에서 바로 해결하고 싶은 분.</a:t>
            </a:r>
            <a:endParaRPr lang="en-US" sz="1000" dirty="0"/>
          </a:p>
        </p:txBody>
      </p:sp>
      <p:sp>
        <p:nvSpPr>
          <p:cNvPr id="40" name="Shape 38"/>
          <p:cNvSpPr/>
          <p:nvPr/>
        </p:nvSpPr>
        <p:spPr>
          <a:xfrm>
            <a:off x="8066837" y="6395720"/>
            <a:ext cx="3667658" cy="1371600"/>
          </a:xfrm>
          <a:prstGeom prst="roundRect">
            <a:avLst>
              <a:gd name="adj" fmla="val 5333"/>
            </a:avLst>
          </a:prstGeom>
          <a:solidFill>
            <a:srgbClr val="FFFFFF"/>
          </a:solidFill>
          <a:ln w="9525">
            <a:solidFill>
              <a:srgbClr val="F0D4C4"/>
            </a:solidFill>
            <a:prstDash val="solid"/>
          </a:ln>
        </p:spPr>
      </p:sp>
      <p:sp>
        <p:nvSpPr>
          <p:cNvPr id="41" name="Shape 39"/>
          <p:cNvSpPr/>
          <p:nvPr/>
        </p:nvSpPr>
        <p:spPr>
          <a:xfrm>
            <a:off x="8066837" y="6395720"/>
            <a:ext cx="3667658" cy="36576"/>
          </a:xfrm>
          <a:prstGeom prst="rect">
            <a:avLst/>
          </a:prstGeom>
          <a:solidFill>
            <a:srgbClr val="D97757"/>
          </a:solidFill>
          <a:ln w="12700">
            <a:solidFill>
              <a:srgbClr val="D97757"/>
            </a:solidFill>
            <a:prstDash val="solid"/>
          </a:ln>
        </p:spPr>
      </p:sp>
      <p:sp>
        <p:nvSpPr>
          <p:cNvPr id="42" name="Text 40"/>
          <p:cNvSpPr/>
          <p:nvPr/>
        </p:nvSpPr>
        <p:spPr>
          <a:xfrm>
            <a:off x="8176565" y="6505448"/>
            <a:ext cx="3448202" cy="201168"/>
          </a:xfrm>
          <a:prstGeom prst="rect">
            <a:avLst/>
          </a:prstGeom>
          <a:noFill/>
          <a:ln/>
        </p:spPr>
        <p:txBody>
          <a:bodyPr wrap="square" rtlCol="0" anchor="ctr"/>
          <a:lstStyle/>
          <a:p>
            <a:pPr indent="0" marL="0">
              <a:buNone/>
            </a:pPr>
            <a:r>
              <a:rPr lang="en-US" sz="800" b="1" dirty="0">
                <a:solidFill>
                  <a:srgbClr val="B85F3F"/>
                </a:solidFill>
                <a:latin typeface="Malgun Gothic" pitchFamily="34" charset="0"/>
                <a:ea typeface="Malgun Gothic" pitchFamily="34" charset="-122"/>
                <a:cs typeface="Malgun Gothic" pitchFamily="34" charset="-120"/>
              </a:rPr>
              <a:t>클린코드</a:t>
            </a:r>
            <a:endParaRPr lang="en-US" sz="800" dirty="0"/>
          </a:p>
        </p:txBody>
      </p:sp>
      <p:sp>
        <p:nvSpPr>
          <p:cNvPr id="43" name="Text 41"/>
          <p:cNvSpPr/>
          <p:nvPr/>
        </p:nvSpPr>
        <p:spPr>
          <a:xfrm>
            <a:off x="8176565" y="6724904"/>
            <a:ext cx="3448202" cy="274320"/>
          </a:xfrm>
          <a:prstGeom prst="rect">
            <a:avLst/>
          </a:prstGeom>
          <a:noFill/>
          <a:ln/>
        </p:spPr>
        <p:txBody>
          <a:bodyPr wrap="square" rtlCol="0" anchor="ctr"/>
          <a:lstStyle/>
          <a:p>
            <a:pPr indent="0" marL="0">
              <a:buNone/>
            </a:pPr>
            <a:r>
              <a:rPr lang="en-US" sz="1400" b="1" dirty="0">
                <a:solidFill>
                  <a:srgbClr val="1A1A2E"/>
                </a:solidFill>
                <a:latin typeface="Malgun Gothic" pitchFamily="34" charset="0"/>
                <a:ea typeface="Malgun Gothic" pitchFamily="34" charset="-122"/>
                <a:cs typeface="Malgun Gothic" pitchFamily="34" charset="-120"/>
              </a:rPr>
              <a:t>🧹 테스트/정규식 혐오자</a:t>
            </a:r>
            <a:endParaRPr lang="en-US" sz="1400" dirty="0"/>
          </a:p>
        </p:txBody>
      </p:sp>
      <p:sp>
        <p:nvSpPr>
          <p:cNvPr id="44" name="Text 42"/>
          <p:cNvSpPr/>
          <p:nvPr/>
        </p:nvSpPr>
        <p:spPr>
          <a:xfrm>
            <a:off x="8176565" y="7035800"/>
            <a:ext cx="3448202" cy="658368"/>
          </a:xfrm>
          <a:prstGeom prst="rect">
            <a:avLst/>
          </a:prstGeom>
          <a:noFill/>
          <a:ln/>
        </p:spPr>
        <p:txBody>
          <a:bodyPr wrap="square" rtlCol="0" anchor="t"/>
          <a:lstStyle/>
          <a:p>
            <a:pPr indent="0" marL="0">
              <a:buNone/>
            </a:pPr>
            <a:r>
              <a:rPr lang="en-US" sz="1000" dirty="0">
                <a:solidFill>
                  <a:srgbClr val="475569"/>
                </a:solidFill>
                <a:latin typeface="Malgun Gothic" pitchFamily="34" charset="0"/>
                <a:ea typeface="Malgun Gothic" pitchFamily="34" charset="-122"/>
                <a:cs typeface="Malgun Gothic" pitchFamily="34" charset="-120"/>
              </a:rPr>
              <a:t>짜기 귀찮은 단위 테스트 코드나, 머리 아픈 정규표현식을 3초 만에 완벽하게 생성하고 싶은 분.</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F172A"/>
          </a:solidFill>
          <a:ln w="12700">
            <a:solidFill>
              <a:srgbClr val="0F172A"/>
            </a:solidFill>
            <a:prstDash val="solid"/>
          </a:ln>
        </p:spPr>
      </p:sp>
      <p:sp>
        <p:nvSpPr>
          <p:cNvPr id="3" name="Shape 1"/>
          <p:cNvSpPr/>
          <p:nvPr/>
        </p:nvSpPr>
        <p:spPr>
          <a:xfrm>
            <a:off x="502920" y="228600"/>
            <a:ext cx="502920" cy="502920"/>
          </a:xfrm>
          <a:prstGeom prst="roundRect">
            <a:avLst>
              <a:gd name="adj" fmla="val 18182"/>
            </a:avLst>
          </a:prstGeom>
          <a:solidFill>
            <a:srgbClr val="D97757"/>
          </a:solidFill>
          <a:ln w="12700">
            <a:solidFill>
              <a:srgbClr val="D97757"/>
            </a:solidFill>
            <a:prstDash val="solid"/>
          </a:ln>
        </p:spPr>
      </p:sp>
      <p:sp>
        <p:nvSpPr>
          <p:cNvPr id="4" name="Text 2"/>
          <p:cNvSpPr/>
          <p:nvPr/>
        </p:nvSpPr>
        <p:spPr>
          <a:xfrm>
            <a:off x="502920" y="228600"/>
            <a:ext cx="502920" cy="502920"/>
          </a:xfrm>
          <a:prstGeom prst="rect">
            <a:avLst/>
          </a:prstGeom>
          <a:noFill/>
          <a:ln/>
        </p:spPr>
        <p:txBody>
          <a:bodyPr wrap="square"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2</a:t>
            </a:r>
            <a:endParaRPr lang="en-US" sz="1600" dirty="0"/>
          </a:p>
        </p:txBody>
      </p:sp>
      <p:sp>
        <p:nvSpPr>
          <p:cNvPr id="5" name="Text 3"/>
          <p:cNvSpPr/>
          <p:nvPr/>
        </p:nvSpPr>
        <p:spPr>
          <a:xfrm>
            <a:off x="1143000" y="0"/>
            <a:ext cx="10957255" cy="960120"/>
          </a:xfrm>
          <a:prstGeom prst="rect">
            <a:avLst/>
          </a:prstGeom>
          <a:noFill/>
          <a:ln/>
        </p:spPr>
        <p:txBody>
          <a:bodyPr wrap="square" rtlCol="0" anchor="ctr"/>
          <a:lstStyle/>
          <a:p>
            <a:pPr indent="0" marL="0">
              <a:buNone/>
            </a:pPr>
            <a:r>
              <a:rPr lang="en-US" sz="2200" b="1" dirty="0">
                <a:solidFill>
                  <a:srgbClr val="FFFFFF"/>
                </a:solidFill>
                <a:latin typeface="Malgun Gothic" pitchFamily="34" charset="0"/>
                <a:ea typeface="Malgun Gothic" pitchFamily="34" charset="-122"/>
                <a:cs typeface="Malgun Gothic" pitchFamily="34" charset="-120"/>
              </a:rPr>
              <a:t>시작하기: 에디터에 AI 심기</a:t>
            </a:r>
            <a:endParaRPr lang="en-US" sz="2200" dirty="0"/>
          </a:p>
        </p:txBody>
      </p:sp>
      <p:sp>
        <p:nvSpPr>
          <p:cNvPr id="6" name="Shape 4"/>
          <p:cNvSpPr/>
          <p:nvPr/>
        </p:nvSpPr>
        <p:spPr>
          <a:xfrm>
            <a:off x="457200" y="1143000"/>
            <a:ext cx="11277295" cy="740410"/>
          </a:xfrm>
          <a:prstGeom prst="roundRect">
            <a:avLst>
              <a:gd name="adj" fmla="val 9880"/>
            </a:avLst>
          </a:prstGeom>
          <a:solidFill>
            <a:srgbClr val="FFFFFF"/>
          </a:solidFill>
          <a:ln w="9525">
            <a:solidFill>
              <a:srgbClr val="F0D4C4"/>
            </a:solidFill>
            <a:prstDash val="solid"/>
          </a:ln>
        </p:spPr>
      </p:sp>
      <p:sp>
        <p:nvSpPr>
          <p:cNvPr id="7" name="Text 5"/>
          <p:cNvSpPr/>
          <p:nvPr/>
        </p:nvSpPr>
        <p:spPr>
          <a:xfrm>
            <a:off x="685800" y="1325880"/>
            <a:ext cx="10820095" cy="237490"/>
          </a:xfrm>
          <a:prstGeom prst="rect">
            <a:avLst/>
          </a:prstGeom>
          <a:noFill/>
          <a:ln/>
        </p:spPr>
        <p:txBody>
          <a:bodyPr wrap="square" rtlCol="0" anchor="t"/>
          <a:lstStyle/>
          <a:p>
            <a:pPr indent="0" marL="0">
              <a:buNone/>
            </a:pPr>
            <a:r>
              <a:rPr lang="en-US" sz="1100" dirty="0">
                <a:solidFill>
                  <a:srgbClr val="475569"/>
                </a:solidFill>
                <a:latin typeface="Malgun Gothic" pitchFamily="34" charset="0"/>
                <a:ea typeface="Malgun Gothic" pitchFamily="34" charset="-122"/>
                <a:cs typeface="Malgun Gothic" pitchFamily="34" charset="-120"/>
              </a:rPr>
              <a:t>가장 많이 사용하는 VS Code를 기준으로 한 초기 세팅입니다.</a:t>
            </a:r>
            <a:endParaRPr lang="en-US" sz="1100" dirty="0"/>
          </a:p>
        </p:txBody>
      </p:sp>
      <p:sp>
        <p:nvSpPr>
          <p:cNvPr id="8" name="Shape 6"/>
          <p:cNvSpPr/>
          <p:nvPr/>
        </p:nvSpPr>
        <p:spPr>
          <a:xfrm>
            <a:off x="457200" y="2020570"/>
            <a:ext cx="11277295" cy="1154430"/>
          </a:xfrm>
          <a:prstGeom prst="roundRect">
            <a:avLst>
              <a:gd name="adj" fmla="val 6337"/>
            </a:avLst>
          </a:prstGeom>
          <a:solidFill>
            <a:srgbClr val="FFFFFF"/>
          </a:solidFill>
          <a:ln w="9525">
            <a:solidFill>
              <a:srgbClr val="F0D4C4"/>
            </a:solidFill>
            <a:prstDash val="solid"/>
          </a:ln>
        </p:spPr>
      </p:sp>
      <p:sp>
        <p:nvSpPr>
          <p:cNvPr id="9" name="Text 7"/>
          <p:cNvSpPr/>
          <p:nvPr/>
        </p:nvSpPr>
        <p:spPr>
          <a:xfrm>
            <a:off x="685800" y="2203450"/>
            <a:ext cx="10820095" cy="347980"/>
          </a:xfrm>
          <a:prstGeom prst="rect">
            <a:avLst/>
          </a:prstGeom>
          <a:noFill/>
          <a:ln/>
        </p:spPr>
        <p:txBody>
          <a:bodyPr wrap="square" rtlCol="0" anchor="t"/>
          <a:lstStyle/>
          <a:p>
            <a:pPr indent="0" marL="0">
              <a:buNone/>
            </a:pPr>
            <a:r>
              <a:rPr lang="en-US" sz="1400" b="1" dirty="0">
                <a:solidFill>
                  <a:srgbClr val="B85F3F"/>
                </a:solidFill>
                <a:latin typeface="Malgun Gothic" pitchFamily="34" charset="0"/>
                <a:ea typeface="Malgun Gothic" pitchFamily="34" charset="-122"/>
                <a:cs typeface="Malgun Gothic" pitchFamily="34" charset="-120"/>
              </a:rPr>
              <a:t>3분 세팅 흐름</a:t>
            </a:r>
            <a:endParaRPr lang="en-US" sz="1400" dirty="0"/>
          </a:p>
        </p:txBody>
      </p:sp>
      <p:sp>
        <p:nvSpPr>
          <p:cNvPr id="10" name="Text 8"/>
          <p:cNvSpPr/>
          <p:nvPr/>
        </p:nvSpPr>
        <p:spPr>
          <a:xfrm>
            <a:off x="685800" y="2620010"/>
            <a:ext cx="10820095" cy="326390"/>
          </a:xfrm>
          <a:prstGeom prst="rect">
            <a:avLst/>
          </a:prstGeom>
          <a:noFill/>
          <a:ln/>
        </p:spPr>
        <p:txBody>
          <a:bodyPr wrap="square" rtlCol="0" anchor="t"/>
          <a:lstStyle/>
          <a:p>
            <a:pPr indent="0" marL="0">
              <a:buNone/>
            </a:pPr>
            <a:r>
              <a:rPr lang="en-US" sz="1300" b="1" dirty="0">
                <a:solidFill>
                  <a:srgbClr val="1A1A2E"/>
                </a:solidFill>
                <a:latin typeface="Malgun Gothic" pitchFamily="34" charset="0"/>
                <a:ea typeface="Malgun Gothic" pitchFamily="34" charset="-122"/>
                <a:cs typeface="Malgun Gothic" pitchFamily="34" charset="-120"/>
              </a:rPr>
              <a:t>3분 세팅 흐름</a:t>
            </a:r>
            <a:endParaRPr lang="en-US" sz="1300" dirty="0"/>
          </a:p>
        </p:txBody>
      </p:sp>
      <p:sp>
        <p:nvSpPr>
          <p:cNvPr id="11" name="Shape 9"/>
          <p:cNvSpPr/>
          <p:nvPr/>
        </p:nvSpPr>
        <p:spPr>
          <a:xfrm>
            <a:off x="457200" y="3312160"/>
            <a:ext cx="11277295" cy="658368"/>
          </a:xfrm>
          <a:prstGeom prst="roundRect">
            <a:avLst>
              <a:gd name="adj" fmla="val 11111"/>
            </a:avLst>
          </a:prstGeom>
          <a:solidFill>
            <a:srgbClr val="FFFFFF"/>
          </a:solidFill>
          <a:ln w="9525">
            <a:solidFill>
              <a:srgbClr val="F0D4C4"/>
            </a:solidFill>
            <a:prstDash val="solid"/>
          </a:ln>
        </p:spPr>
      </p:sp>
      <p:sp>
        <p:nvSpPr>
          <p:cNvPr id="12" name="Shape 10"/>
          <p:cNvSpPr/>
          <p:nvPr/>
        </p:nvSpPr>
        <p:spPr>
          <a:xfrm>
            <a:off x="548640" y="3449320"/>
            <a:ext cx="384048" cy="384048"/>
          </a:xfrm>
          <a:prstGeom prst="roundRect">
            <a:avLst>
              <a:gd name="adj" fmla="val 23810"/>
            </a:avLst>
          </a:prstGeom>
          <a:solidFill>
            <a:srgbClr val="D97757"/>
          </a:solidFill>
          <a:ln w="12700">
            <a:solidFill>
              <a:srgbClr val="D97757"/>
            </a:solidFill>
            <a:prstDash val="solid"/>
          </a:ln>
        </p:spPr>
      </p:sp>
      <p:sp>
        <p:nvSpPr>
          <p:cNvPr id="13" name="Text 11"/>
          <p:cNvSpPr/>
          <p:nvPr/>
        </p:nvSpPr>
        <p:spPr>
          <a:xfrm>
            <a:off x="548640" y="3449320"/>
            <a:ext cx="384048" cy="384048"/>
          </a:xfrm>
          <a:prstGeom prst="rect">
            <a:avLst/>
          </a:prstGeom>
          <a:noFill/>
          <a:ln/>
        </p:spPr>
        <p:txBody>
          <a:bodyPr wrap="square"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1</a:t>
            </a:r>
            <a:endParaRPr lang="en-US" sz="1300" dirty="0"/>
          </a:p>
        </p:txBody>
      </p:sp>
      <p:sp>
        <p:nvSpPr>
          <p:cNvPr id="14" name="Text 12"/>
          <p:cNvSpPr/>
          <p:nvPr/>
        </p:nvSpPr>
        <p:spPr>
          <a:xfrm>
            <a:off x="1042416" y="3376168"/>
            <a:ext cx="10600639" cy="237744"/>
          </a:xfrm>
          <a:prstGeom prst="rect">
            <a:avLst/>
          </a:prstGeom>
          <a:noFill/>
          <a:ln/>
        </p:spPr>
        <p:txBody>
          <a:bodyPr wrap="square" rtlCol="0" anchor="t"/>
          <a:lstStyle/>
          <a:p>
            <a:pPr indent="0" marL="0">
              <a:buNone/>
            </a:pPr>
            <a:r>
              <a:rPr lang="en-US" sz="1100" b="1" dirty="0">
                <a:solidFill>
                  <a:srgbClr val="1A1A2E"/>
                </a:solidFill>
                <a:latin typeface="Malgun Gothic" pitchFamily="34" charset="0"/>
                <a:ea typeface="Malgun Gothic" pitchFamily="34" charset="-122"/>
                <a:cs typeface="Malgun Gothic" pitchFamily="34" charset="-120"/>
              </a:rPr>
              <a:t>구독 활성화</a:t>
            </a:r>
            <a:endParaRPr lang="en-US" sz="1100" dirty="0"/>
          </a:p>
        </p:txBody>
      </p:sp>
      <p:sp>
        <p:nvSpPr>
          <p:cNvPr id="15" name="Text 13"/>
          <p:cNvSpPr/>
          <p:nvPr/>
        </p:nvSpPr>
        <p:spPr>
          <a:xfrm>
            <a:off x="1042416" y="3623056"/>
            <a:ext cx="10600639" cy="292608"/>
          </a:xfrm>
          <a:prstGeom prst="rect">
            <a:avLst/>
          </a:prstGeom>
          <a:noFill/>
          <a:ln/>
        </p:spPr>
        <p:txBody>
          <a:bodyPr wrap="square" rtlCol="0" anchor="t"/>
          <a:lstStyle/>
          <a:p>
            <a:pPr indent="0" marL="0">
              <a:buNone/>
            </a:pPr>
            <a:r>
              <a:rPr lang="en-US" sz="1000" dirty="0">
                <a:solidFill>
                  <a:srgbClr val="475569"/>
                </a:solidFill>
                <a:latin typeface="Malgun Gothic" pitchFamily="34" charset="0"/>
                <a:ea typeface="Malgun Gothic" pitchFamily="34" charset="-122"/>
                <a:cs typeface="Malgun Gothic" pitchFamily="34" charset="-120"/>
              </a:rPr>
              <a:t>GitHub 계정으로 로그인 후 Copilot 플랜을 구독합니다. (학생/오픈소스 메인테이너는 무료)</a:t>
            </a:r>
            <a:endParaRPr lang="en-US" sz="1000" dirty="0"/>
          </a:p>
        </p:txBody>
      </p:sp>
      <p:sp>
        <p:nvSpPr>
          <p:cNvPr id="16" name="Shape 14"/>
          <p:cNvSpPr/>
          <p:nvPr/>
        </p:nvSpPr>
        <p:spPr>
          <a:xfrm>
            <a:off x="457200" y="4107688"/>
            <a:ext cx="11277295" cy="658368"/>
          </a:xfrm>
          <a:prstGeom prst="roundRect">
            <a:avLst>
              <a:gd name="adj" fmla="val 11111"/>
            </a:avLst>
          </a:prstGeom>
          <a:solidFill>
            <a:srgbClr val="FFFFFF"/>
          </a:solidFill>
          <a:ln w="9525">
            <a:solidFill>
              <a:srgbClr val="F0D4C4"/>
            </a:solidFill>
            <a:prstDash val="solid"/>
          </a:ln>
        </p:spPr>
      </p:sp>
      <p:sp>
        <p:nvSpPr>
          <p:cNvPr id="17" name="Shape 15"/>
          <p:cNvSpPr/>
          <p:nvPr/>
        </p:nvSpPr>
        <p:spPr>
          <a:xfrm>
            <a:off x="548640" y="4244848"/>
            <a:ext cx="384048" cy="384048"/>
          </a:xfrm>
          <a:prstGeom prst="roundRect">
            <a:avLst>
              <a:gd name="adj" fmla="val 23810"/>
            </a:avLst>
          </a:prstGeom>
          <a:solidFill>
            <a:srgbClr val="D97757"/>
          </a:solidFill>
          <a:ln w="12700">
            <a:solidFill>
              <a:srgbClr val="D97757"/>
            </a:solidFill>
            <a:prstDash val="solid"/>
          </a:ln>
        </p:spPr>
      </p:sp>
      <p:sp>
        <p:nvSpPr>
          <p:cNvPr id="18" name="Text 16"/>
          <p:cNvSpPr/>
          <p:nvPr/>
        </p:nvSpPr>
        <p:spPr>
          <a:xfrm>
            <a:off x="548640" y="4244848"/>
            <a:ext cx="384048" cy="384048"/>
          </a:xfrm>
          <a:prstGeom prst="rect">
            <a:avLst/>
          </a:prstGeom>
          <a:noFill/>
          <a:ln/>
        </p:spPr>
        <p:txBody>
          <a:bodyPr wrap="square"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2</a:t>
            </a:r>
            <a:endParaRPr lang="en-US" sz="1300" dirty="0"/>
          </a:p>
        </p:txBody>
      </p:sp>
      <p:sp>
        <p:nvSpPr>
          <p:cNvPr id="19" name="Text 17"/>
          <p:cNvSpPr/>
          <p:nvPr/>
        </p:nvSpPr>
        <p:spPr>
          <a:xfrm>
            <a:off x="1042416" y="4171696"/>
            <a:ext cx="10600639" cy="237744"/>
          </a:xfrm>
          <a:prstGeom prst="rect">
            <a:avLst/>
          </a:prstGeom>
          <a:noFill/>
          <a:ln/>
        </p:spPr>
        <p:txBody>
          <a:bodyPr wrap="square" rtlCol="0" anchor="t"/>
          <a:lstStyle/>
          <a:p>
            <a:pPr indent="0" marL="0">
              <a:buNone/>
            </a:pPr>
            <a:r>
              <a:rPr lang="en-US" sz="1100" b="1" dirty="0">
                <a:solidFill>
                  <a:srgbClr val="1A1A2E"/>
                </a:solidFill>
                <a:latin typeface="Malgun Gothic" pitchFamily="34" charset="0"/>
                <a:ea typeface="Malgun Gothic" pitchFamily="34" charset="-122"/>
                <a:cs typeface="Malgun Gothic" pitchFamily="34" charset="-120"/>
              </a:rPr>
              <a:t>확장 프로그램 설치</a:t>
            </a:r>
            <a:endParaRPr lang="en-US" sz="1100" dirty="0"/>
          </a:p>
        </p:txBody>
      </p:sp>
      <p:sp>
        <p:nvSpPr>
          <p:cNvPr id="20" name="Text 18"/>
          <p:cNvSpPr/>
          <p:nvPr/>
        </p:nvSpPr>
        <p:spPr>
          <a:xfrm>
            <a:off x="1042416" y="4418584"/>
            <a:ext cx="10600639" cy="292608"/>
          </a:xfrm>
          <a:prstGeom prst="rect">
            <a:avLst/>
          </a:prstGeom>
          <a:noFill/>
          <a:ln/>
        </p:spPr>
        <p:txBody>
          <a:bodyPr wrap="square" rtlCol="0" anchor="t"/>
          <a:lstStyle/>
          <a:p>
            <a:pPr indent="0" marL="0">
              <a:buNone/>
            </a:pPr>
            <a:r>
              <a:rPr lang="en-US" sz="1000" dirty="0">
                <a:solidFill>
                  <a:srgbClr val="475569"/>
                </a:solidFill>
                <a:latin typeface="Malgun Gothic" pitchFamily="34" charset="0"/>
                <a:ea typeface="Malgun Gothic" pitchFamily="34" charset="-122"/>
                <a:cs typeface="Malgun Gothic" pitchFamily="34" charset="-120"/>
              </a:rPr>
              <a:t>VS Code의 Extensions 탭에서 'GitHub Copilot'과 'GitHub Copilot Chat' 두 가지를 설치합니다.</a:t>
            </a:r>
            <a:endParaRPr lang="en-US" sz="1000" dirty="0"/>
          </a:p>
        </p:txBody>
      </p:sp>
      <p:sp>
        <p:nvSpPr>
          <p:cNvPr id="21" name="Shape 19"/>
          <p:cNvSpPr/>
          <p:nvPr/>
        </p:nvSpPr>
        <p:spPr>
          <a:xfrm>
            <a:off x="457200" y="4903216"/>
            <a:ext cx="11277295" cy="658368"/>
          </a:xfrm>
          <a:prstGeom prst="roundRect">
            <a:avLst>
              <a:gd name="adj" fmla="val 11111"/>
            </a:avLst>
          </a:prstGeom>
          <a:solidFill>
            <a:srgbClr val="FFFFFF"/>
          </a:solidFill>
          <a:ln w="9525">
            <a:solidFill>
              <a:srgbClr val="F0D4C4"/>
            </a:solidFill>
            <a:prstDash val="solid"/>
          </a:ln>
        </p:spPr>
      </p:sp>
      <p:sp>
        <p:nvSpPr>
          <p:cNvPr id="22" name="Shape 20"/>
          <p:cNvSpPr/>
          <p:nvPr/>
        </p:nvSpPr>
        <p:spPr>
          <a:xfrm>
            <a:off x="548640" y="5040376"/>
            <a:ext cx="384048" cy="384048"/>
          </a:xfrm>
          <a:prstGeom prst="roundRect">
            <a:avLst>
              <a:gd name="adj" fmla="val 23810"/>
            </a:avLst>
          </a:prstGeom>
          <a:solidFill>
            <a:srgbClr val="D97757"/>
          </a:solidFill>
          <a:ln w="12700">
            <a:solidFill>
              <a:srgbClr val="D97757"/>
            </a:solidFill>
            <a:prstDash val="solid"/>
          </a:ln>
        </p:spPr>
      </p:sp>
      <p:sp>
        <p:nvSpPr>
          <p:cNvPr id="23" name="Text 21"/>
          <p:cNvSpPr/>
          <p:nvPr/>
        </p:nvSpPr>
        <p:spPr>
          <a:xfrm>
            <a:off x="548640" y="5040376"/>
            <a:ext cx="384048" cy="384048"/>
          </a:xfrm>
          <a:prstGeom prst="rect">
            <a:avLst/>
          </a:prstGeom>
          <a:noFill/>
          <a:ln/>
        </p:spPr>
        <p:txBody>
          <a:bodyPr wrap="square"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3</a:t>
            </a:r>
            <a:endParaRPr lang="en-US" sz="1300" dirty="0"/>
          </a:p>
        </p:txBody>
      </p:sp>
      <p:sp>
        <p:nvSpPr>
          <p:cNvPr id="24" name="Text 22"/>
          <p:cNvSpPr/>
          <p:nvPr/>
        </p:nvSpPr>
        <p:spPr>
          <a:xfrm>
            <a:off x="1042416" y="4967224"/>
            <a:ext cx="10600639" cy="237744"/>
          </a:xfrm>
          <a:prstGeom prst="rect">
            <a:avLst/>
          </a:prstGeom>
          <a:noFill/>
          <a:ln/>
        </p:spPr>
        <p:txBody>
          <a:bodyPr wrap="square" rtlCol="0" anchor="t"/>
          <a:lstStyle/>
          <a:p>
            <a:pPr indent="0" marL="0">
              <a:buNone/>
            </a:pPr>
            <a:r>
              <a:rPr lang="en-US" sz="1100" b="1" dirty="0">
                <a:solidFill>
                  <a:srgbClr val="1A1A2E"/>
                </a:solidFill>
                <a:latin typeface="Malgun Gothic" pitchFamily="34" charset="0"/>
                <a:ea typeface="Malgun Gothic" pitchFamily="34" charset="-122"/>
                <a:cs typeface="Malgun Gothic" pitchFamily="34" charset="-120"/>
              </a:rPr>
              <a:t>로그인 및 연동</a:t>
            </a:r>
            <a:endParaRPr lang="en-US" sz="1100" dirty="0"/>
          </a:p>
        </p:txBody>
      </p:sp>
      <p:sp>
        <p:nvSpPr>
          <p:cNvPr id="25" name="Text 23"/>
          <p:cNvSpPr/>
          <p:nvPr/>
        </p:nvSpPr>
        <p:spPr>
          <a:xfrm>
            <a:off x="1042416" y="5214112"/>
            <a:ext cx="10600639" cy="292608"/>
          </a:xfrm>
          <a:prstGeom prst="rect">
            <a:avLst/>
          </a:prstGeom>
          <a:noFill/>
          <a:ln/>
        </p:spPr>
        <p:txBody>
          <a:bodyPr wrap="square" rtlCol="0" anchor="t"/>
          <a:lstStyle/>
          <a:p>
            <a:pPr indent="0" marL="0">
              <a:buNone/>
            </a:pPr>
            <a:r>
              <a:rPr lang="en-US" sz="1000" dirty="0">
                <a:solidFill>
                  <a:srgbClr val="475569"/>
                </a:solidFill>
                <a:latin typeface="Malgun Gothic" pitchFamily="34" charset="0"/>
                <a:ea typeface="Malgun Gothic" pitchFamily="34" charset="-122"/>
                <a:cs typeface="Malgun Gothic" pitchFamily="34" charset="-120"/>
              </a:rPr>
              <a:t>VS Code 우측 하단에 나타난 Copilot 아이콘을 클릭하여 GitHub 계정으로 로그인합니다.</a:t>
            </a:r>
            <a:endParaRPr lang="en-US" sz="1000" dirty="0"/>
          </a:p>
        </p:txBody>
      </p:sp>
      <p:sp>
        <p:nvSpPr>
          <p:cNvPr id="26" name="Shape 24"/>
          <p:cNvSpPr/>
          <p:nvPr/>
        </p:nvSpPr>
        <p:spPr>
          <a:xfrm>
            <a:off x="457200" y="5698744"/>
            <a:ext cx="11277295" cy="658368"/>
          </a:xfrm>
          <a:prstGeom prst="roundRect">
            <a:avLst>
              <a:gd name="adj" fmla="val 11111"/>
            </a:avLst>
          </a:prstGeom>
          <a:solidFill>
            <a:srgbClr val="FFFFFF"/>
          </a:solidFill>
          <a:ln w="9525">
            <a:solidFill>
              <a:srgbClr val="F0D4C4"/>
            </a:solidFill>
            <a:prstDash val="solid"/>
          </a:ln>
        </p:spPr>
      </p:sp>
      <p:sp>
        <p:nvSpPr>
          <p:cNvPr id="27" name="Shape 25"/>
          <p:cNvSpPr/>
          <p:nvPr/>
        </p:nvSpPr>
        <p:spPr>
          <a:xfrm>
            <a:off x="548640" y="5835904"/>
            <a:ext cx="384048" cy="384048"/>
          </a:xfrm>
          <a:prstGeom prst="roundRect">
            <a:avLst>
              <a:gd name="adj" fmla="val 23810"/>
            </a:avLst>
          </a:prstGeom>
          <a:solidFill>
            <a:srgbClr val="D97757"/>
          </a:solidFill>
          <a:ln w="12700">
            <a:solidFill>
              <a:srgbClr val="D97757"/>
            </a:solidFill>
            <a:prstDash val="solid"/>
          </a:ln>
        </p:spPr>
      </p:sp>
      <p:sp>
        <p:nvSpPr>
          <p:cNvPr id="28" name="Text 26"/>
          <p:cNvSpPr/>
          <p:nvPr/>
        </p:nvSpPr>
        <p:spPr>
          <a:xfrm>
            <a:off x="548640" y="5835904"/>
            <a:ext cx="384048" cy="384048"/>
          </a:xfrm>
          <a:prstGeom prst="rect">
            <a:avLst/>
          </a:prstGeom>
          <a:noFill/>
          <a:ln/>
        </p:spPr>
        <p:txBody>
          <a:bodyPr wrap="square"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4</a:t>
            </a:r>
            <a:endParaRPr lang="en-US" sz="1300" dirty="0"/>
          </a:p>
        </p:txBody>
      </p:sp>
      <p:sp>
        <p:nvSpPr>
          <p:cNvPr id="29" name="Text 27"/>
          <p:cNvSpPr/>
          <p:nvPr/>
        </p:nvSpPr>
        <p:spPr>
          <a:xfrm>
            <a:off x="1042416" y="5762752"/>
            <a:ext cx="10600639" cy="237744"/>
          </a:xfrm>
          <a:prstGeom prst="rect">
            <a:avLst/>
          </a:prstGeom>
          <a:noFill/>
          <a:ln/>
        </p:spPr>
        <p:txBody>
          <a:bodyPr wrap="square" rtlCol="0" anchor="t"/>
          <a:lstStyle/>
          <a:p>
            <a:pPr indent="0" marL="0">
              <a:buNone/>
            </a:pPr>
            <a:r>
              <a:rPr lang="en-US" sz="1100" b="1" dirty="0">
                <a:solidFill>
                  <a:srgbClr val="1A1A2E"/>
                </a:solidFill>
                <a:latin typeface="Malgun Gothic" pitchFamily="34" charset="0"/>
                <a:ea typeface="Malgun Gothic" pitchFamily="34" charset="-122"/>
                <a:cs typeface="Malgun Gothic" pitchFamily="34" charset="-120"/>
              </a:rPr>
              <a:t>주석으로 코딩하기</a:t>
            </a:r>
            <a:endParaRPr lang="en-US" sz="1100" dirty="0"/>
          </a:p>
        </p:txBody>
      </p:sp>
      <p:sp>
        <p:nvSpPr>
          <p:cNvPr id="30" name="Text 28"/>
          <p:cNvSpPr/>
          <p:nvPr/>
        </p:nvSpPr>
        <p:spPr>
          <a:xfrm>
            <a:off x="1042416" y="6009640"/>
            <a:ext cx="10600639" cy="292608"/>
          </a:xfrm>
          <a:prstGeom prst="rect">
            <a:avLst/>
          </a:prstGeom>
          <a:noFill/>
          <a:ln/>
        </p:spPr>
        <p:txBody>
          <a:bodyPr wrap="square" rtlCol="0" anchor="t"/>
          <a:lstStyle/>
          <a:p>
            <a:pPr indent="0" marL="0">
              <a:buNone/>
            </a:pPr>
            <a:r>
              <a:rPr lang="en-US" sz="1000" dirty="0">
                <a:solidFill>
                  <a:srgbClr val="475569"/>
                </a:solidFill>
                <a:latin typeface="Malgun Gothic" pitchFamily="34" charset="0"/>
                <a:ea typeface="Malgun Gothic" pitchFamily="34" charset="-122"/>
                <a:cs typeface="Malgun Gothic" pitchFamily="34" charset="-120"/>
              </a:rPr>
              <a:t>에디터에 `// 주어진 URL에서 이미지를 다운로드하는 함수` 라고 적고 `Enter`를 친 후 1초를 기다립니다.</a:t>
            </a:r>
            <a:endParaRPr lang="en-US" sz="1000" dirty="0"/>
          </a:p>
        </p:txBody>
      </p:sp>
      <p:sp>
        <p:nvSpPr>
          <p:cNvPr id="31" name="Shape 29"/>
          <p:cNvSpPr/>
          <p:nvPr/>
        </p:nvSpPr>
        <p:spPr>
          <a:xfrm>
            <a:off x="457200" y="6494272"/>
            <a:ext cx="11277295" cy="658368"/>
          </a:xfrm>
          <a:prstGeom prst="roundRect">
            <a:avLst>
              <a:gd name="adj" fmla="val 11111"/>
            </a:avLst>
          </a:prstGeom>
          <a:solidFill>
            <a:srgbClr val="FFFFFF"/>
          </a:solidFill>
          <a:ln w="9525">
            <a:solidFill>
              <a:srgbClr val="F0D4C4"/>
            </a:solidFill>
            <a:prstDash val="solid"/>
          </a:ln>
        </p:spPr>
      </p:sp>
      <p:sp>
        <p:nvSpPr>
          <p:cNvPr id="32" name="Shape 30"/>
          <p:cNvSpPr/>
          <p:nvPr/>
        </p:nvSpPr>
        <p:spPr>
          <a:xfrm>
            <a:off x="548640" y="6631432"/>
            <a:ext cx="384048" cy="384048"/>
          </a:xfrm>
          <a:prstGeom prst="roundRect">
            <a:avLst>
              <a:gd name="adj" fmla="val 23810"/>
            </a:avLst>
          </a:prstGeom>
          <a:solidFill>
            <a:srgbClr val="D97757"/>
          </a:solidFill>
          <a:ln w="12700">
            <a:solidFill>
              <a:srgbClr val="D97757"/>
            </a:solidFill>
            <a:prstDash val="solid"/>
          </a:ln>
        </p:spPr>
      </p:sp>
      <p:sp>
        <p:nvSpPr>
          <p:cNvPr id="33" name="Text 31"/>
          <p:cNvSpPr/>
          <p:nvPr/>
        </p:nvSpPr>
        <p:spPr>
          <a:xfrm>
            <a:off x="548640" y="6631432"/>
            <a:ext cx="384048" cy="384048"/>
          </a:xfrm>
          <a:prstGeom prst="rect">
            <a:avLst/>
          </a:prstGeom>
          <a:noFill/>
          <a:ln/>
        </p:spPr>
        <p:txBody>
          <a:bodyPr wrap="square"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5</a:t>
            </a:r>
            <a:endParaRPr lang="en-US" sz="1300" dirty="0"/>
          </a:p>
        </p:txBody>
      </p:sp>
      <p:sp>
        <p:nvSpPr>
          <p:cNvPr id="34" name="Text 32"/>
          <p:cNvSpPr/>
          <p:nvPr/>
        </p:nvSpPr>
        <p:spPr>
          <a:xfrm>
            <a:off x="1042416" y="6558280"/>
            <a:ext cx="10600639" cy="237744"/>
          </a:xfrm>
          <a:prstGeom prst="rect">
            <a:avLst/>
          </a:prstGeom>
          <a:noFill/>
          <a:ln/>
        </p:spPr>
        <p:txBody>
          <a:bodyPr wrap="square" rtlCol="0" anchor="t"/>
          <a:lstStyle/>
          <a:p>
            <a:pPr indent="0" marL="0">
              <a:buNone/>
            </a:pPr>
            <a:r>
              <a:rPr lang="en-US" sz="1100" b="1" dirty="0">
                <a:solidFill>
                  <a:srgbClr val="1A1A2E"/>
                </a:solidFill>
                <a:latin typeface="Malgun Gothic" pitchFamily="34" charset="0"/>
                <a:ea typeface="Malgun Gothic" pitchFamily="34" charset="-122"/>
                <a:cs typeface="Malgun Gothic" pitchFamily="34" charset="-120"/>
              </a:rPr>
              <a:t>제안 수락하기</a:t>
            </a:r>
            <a:endParaRPr lang="en-US" sz="1100" dirty="0"/>
          </a:p>
        </p:txBody>
      </p:sp>
      <p:sp>
        <p:nvSpPr>
          <p:cNvPr id="35" name="Text 33"/>
          <p:cNvSpPr/>
          <p:nvPr/>
        </p:nvSpPr>
        <p:spPr>
          <a:xfrm>
            <a:off x="1042416" y="6805168"/>
            <a:ext cx="10600639" cy="292608"/>
          </a:xfrm>
          <a:prstGeom prst="rect">
            <a:avLst/>
          </a:prstGeom>
          <a:noFill/>
          <a:ln/>
        </p:spPr>
        <p:txBody>
          <a:bodyPr wrap="square" rtlCol="0" anchor="t"/>
          <a:lstStyle/>
          <a:p>
            <a:pPr indent="0" marL="0">
              <a:buNone/>
            </a:pPr>
            <a:r>
              <a:rPr lang="en-US" sz="1000" dirty="0">
                <a:solidFill>
                  <a:srgbClr val="475569"/>
                </a:solidFill>
                <a:latin typeface="Malgun Gothic" pitchFamily="34" charset="0"/>
                <a:ea typeface="Malgun Gothic" pitchFamily="34" charset="-122"/>
                <a:cs typeface="Malgun Gothic" pitchFamily="34" charset="-120"/>
              </a:rPr>
              <a:t>회색 코드가 나타나면 `Tab`을 눌러 수락하거나, `Alt + ]`를 눌러 다른 제안을 살펴봅니다.</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F172A"/>
          </a:solidFill>
          <a:ln w="12700">
            <a:solidFill>
              <a:srgbClr val="0F172A"/>
            </a:solidFill>
            <a:prstDash val="solid"/>
          </a:ln>
        </p:spPr>
      </p:sp>
      <p:sp>
        <p:nvSpPr>
          <p:cNvPr id="3" name="Shape 1"/>
          <p:cNvSpPr/>
          <p:nvPr/>
        </p:nvSpPr>
        <p:spPr>
          <a:xfrm>
            <a:off x="502920" y="228600"/>
            <a:ext cx="502920" cy="502920"/>
          </a:xfrm>
          <a:prstGeom prst="roundRect">
            <a:avLst>
              <a:gd name="adj" fmla="val 18182"/>
            </a:avLst>
          </a:prstGeom>
          <a:solidFill>
            <a:srgbClr val="D97757"/>
          </a:solidFill>
          <a:ln w="12700">
            <a:solidFill>
              <a:srgbClr val="D97757"/>
            </a:solidFill>
            <a:prstDash val="solid"/>
          </a:ln>
        </p:spPr>
      </p:sp>
      <p:sp>
        <p:nvSpPr>
          <p:cNvPr id="4" name="Text 2"/>
          <p:cNvSpPr/>
          <p:nvPr/>
        </p:nvSpPr>
        <p:spPr>
          <a:xfrm>
            <a:off x="502920" y="228600"/>
            <a:ext cx="502920" cy="502920"/>
          </a:xfrm>
          <a:prstGeom prst="rect">
            <a:avLst/>
          </a:prstGeom>
          <a:noFill/>
          <a:ln/>
        </p:spPr>
        <p:txBody>
          <a:bodyPr wrap="square"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3</a:t>
            </a:r>
            <a:endParaRPr lang="en-US" sz="1600" dirty="0"/>
          </a:p>
        </p:txBody>
      </p:sp>
      <p:sp>
        <p:nvSpPr>
          <p:cNvPr id="5" name="Text 3"/>
          <p:cNvSpPr/>
          <p:nvPr/>
        </p:nvSpPr>
        <p:spPr>
          <a:xfrm>
            <a:off x="1143000" y="0"/>
            <a:ext cx="10957255" cy="960120"/>
          </a:xfrm>
          <a:prstGeom prst="rect">
            <a:avLst/>
          </a:prstGeom>
          <a:noFill/>
          <a:ln/>
        </p:spPr>
        <p:txBody>
          <a:bodyPr wrap="square" rtlCol="0" anchor="ctr"/>
          <a:lstStyle/>
          <a:p>
            <a:pPr indent="0" marL="0">
              <a:buNone/>
            </a:pPr>
            <a:r>
              <a:rPr lang="en-US" sz="2200" b="1" dirty="0">
                <a:solidFill>
                  <a:srgbClr val="FFFFFF"/>
                </a:solidFill>
                <a:latin typeface="Malgun Gothic" pitchFamily="34" charset="0"/>
                <a:ea typeface="Malgun Gothic" pitchFamily="34" charset="-122"/>
                <a:cs typeface="Malgun Gothic" pitchFamily="34" charset="-120"/>
              </a:rPr>
              <a:t>생산성을 200% 올리는 활용 팁</a:t>
            </a:r>
            <a:endParaRPr lang="en-US" sz="2200" dirty="0"/>
          </a:p>
        </p:txBody>
      </p:sp>
      <p:sp>
        <p:nvSpPr>
          <p:cNvPr id="6" name="Shape 4"/>
          <p:cNvSpPr/>
          <p:nvPr/>
        </p:nvSpPr>
        <p:spPr>
          <a:xfrm>
            <a:off x="457200" y="1143000"/>
            <a:ext cx="11277295" cy="740410"/>
          </a:xfrm>
          <a:prstGeom prst="roundRect">
            <a:avLst>
              <a:gd name="adj" fmla="val 9880"/>
            </a:avLst>
          </a:prstGeom>
          <a:solidFill>
            <a:srgbClr val="FFFFFF"/>
          </a:solidFill>
          <a:ln w="9525">
            <a:solidFill>
              <a:srgbClr val="F0D4C4"/>
            </a:solidFill>
            <a:prstDash val="solid"/>
          </a:ln>
        </p:spPr>
      </p:sp>
      <p:sp>
        <p:nvSpPr>
          <p:cNvPr id="7" name="Text 5"/>
          <p:cNvSpPr/>
          <p:nvPr/>
        </p:nvSpPr>
        <p:spPr>
          <a:xfrm>
            <a:off x="685800" y="1325880"/>
            <a:ext cx="10820095" cy="237490"/>
          </a:xfrm>
          <a:prstGeom prst="rect">
            <a:avLst/>
          </a:prstGeom>
          <a:noFill/>
          <a:ln/>
        </p:spPr>
        <p:txBody>
          <a:bodyPr wrap="square" rtlCol="0" anchor="t"/>
          <a:lstStyle/>
          <a:p>
            <a:pPr indent="0" marL="0">
              <a:buNone/>
            </a:pPr>
            <a:r>
              <a:rPr lang="en-US" sz="1100" dirty="0">
                <a:solidFill>
                  <a:srgbClr val="475569"/>
                </a:solidFill>
                <a:latin typeface="Malgun Gothic" pitchFamily="34" charset="0"/>
                <a:ea typeface="Malgun Gothic" pitchFamily="34" charset="-122"/>
                <a:cs typeface="Malgun Gothic" pitchFamily="34" charset="-120"/>
              </a:rPr>
              <a:t>Copilot Chat에는 에디터 환경에서만 쓸 수 있는 강력한 '컨텍스트 멘션(@)' 기능이 있습니다.</a:t>
            </a:r>
            <a:endParaRPr lang="en-US" sz="1100" dirty="0"/>
          </a:p>
        </p:txBody>
      </p:sp>
      <p:sp>
        <p:nvSpPr>
          <p:cNvPr id="8" name="Shape 6"/>
          <p:cNvSpPr/>
          <p:nvPr/>
        </p:nvSpPr>
        <p:spPr>
          <a:xfrm>
            <a:off x="457200" y="2020570"/>
            <a:ext cx="3667658" cy="1280160"/>
          </a:xfrm>
          <a:prstGeom prst="roundRect">
            <a:avLst>
              <a:gd name="adj" fmla="val 5714"/>
            </a:avLst>
          </a:prstGeom>
          <a:solidFill>
            <a:srgbClr val="FFFFFF"/>
          </a:solidFill>
          <a:ln w="9525">
            <a:solidFill>
              <a:srgbClr val="F0D4C4"/>
            </a:solidFill>
            <a:prstDash val="solid"/>
          </a:ln>
        </p:spPr>
      </p:sp>
      <p:sp>
        <p:nvSpPr>
          <p:cNvPr id="9" name="Text 7"/>
          <p:cNvSpPr/>
          <p:nvPr/>
        </p:nvSpPr>
        <p:spPr>
          <a:xfrm>
            <a:off x="566928" y="2112010"/>
            <a:ext cx="3448202" cy="274320"/>
          </a:xfrm>
          <a:prstGeom prst="rect">
            <a:avLst/>
          </a:prstGeom>
          <a:noFill/>
          <a:ln/>
        </p:spPr>
        <p:txBody>
          <a:bodyPr wrap="square" rtlCol="0" anchor="ctr"/>
          <a:lstStyle/>
          <a:p>
            <a:pPr indent="0" marL="0">
              <a:buNone/>
            </a:pPr>
            <a:r>
              <a:rPr lang="en-US" sz="1400" b="1" dirty="0">
                <a:solidFill>
                  <a:srgbClr val="B85F3F"/>
                </a:solidFill>
                <a:latin typeface="Malgun Gothic" pitchFamily="34" charset="0"/>
                <a:ea typeface="Malgun Gothic" pitchFamily="34" charset="-122"/>
                <a:cs typeface="Malgun Gothic" pitchFamily="34" charset="-120"/>
              </a:rPr>
              <a:t>@workspace</a:t>
            </a:r>
            <a:endParaRPr lang="en-US" sz="1400" dirty="0"/>
          </a:p>
        </p:txBody>
      </p:sp>
      <p:sp>
        <p:nvSpPr>
          <p:cNvPr id="10" name="Text 8"/>
          <p:cNvSpPr/>
          <p:nvPr/>
        </p:nvSpPr>
        <p:spPr>
          <a:xfrm>
            <a:off x="566928" y="2404618"/>
            <a:ext cx="3448202" cy="548640"/>
          </a:xfrm>
          <a:prstGeom prst="rect">
            <a:avLst/>
          </a:prstGeom>
          <a:noFill/>
          <a:ln/>
        </p:spPr>
        <p:txBody>
          <a:bodyPr wrap="square" rtlCol="0" anchor="t"/>
          <a:lstStyle/>
          <a:p>
            <a:pPr indent="0" marL="0">
              <a:buNone/>
            </a:pPr>
            <a:r>
              <a:rPr lang="en-US" sz="1000" dirty="0">
                <a:solidFill>
                  <a:srgbClr val="475569"/>
                </a:solidFill>
                <a:latin typeface="Malgun Gothic" pitchFamily="34" charset="0"/>
                <a:ea typeface="Malgun Gothic" pitchFamily="34" charset="-122"/>
                <a:cs typeface="Malgun Gothic" pitchFamily="34" charset="-120"/>
              </a:rPr>
              <a:t>현재 열려있는 전체 폴더의 코드를 훑어보고 답변합니다. "이 프로젝트에서 DB 라우팅은 어디서 처리해?"라고 물어볼 수 있습니다.</a:t>
            </a:r>
            <a:endParaRPr lang="en-US" sz="1000" dirty="0"/>
          </a:p>
        </p:txBody>
      </p:sp>
      <p:sp>
        <p:nvSpPr>
          <p:cNvPr id="11" name="Shape 9"/>
          <p:cNvSpPr/>
          <p:nvPr/>
        </p:nvSpPr>
        <p:spPr>
          <a:xfrm>
            <a:off x="566928" y="2980690"/>
            <a:ext cx="3448202" cy="256032"/>
          </a:xfrm>
          <a:prstGeom prst="roundRect">
            <a:avLst>
              <a:gd name="adj" fmla="val 21429"/>
            </a:avLst>
          </a:prstGeom>
          <a:solidFill>
            <a:srgbClr val="FDF0EB"/>
          </a:solidFill>
          <a:ln w="12700">
            <a:solidFill>
              <a:srgbClr val="FDF0EB"/>
            </a:solidFill>
            <a:prstDash val="solid"/>
          </a:ln>
        </p:spPr>
      </p:sp>
      <p:sp>
        <p:nvSpPr>
          <p:cNvPr id="12" name="Text 10"/>
          <p:cNvSpPr/>
          <p:nvPr/>
        </p:nvSpPr>
        <p:spPr>
          <a:xfrm>
            <a:off x="566928" y="2980690"/>
            <a:ext cx="3448202" cy="256032"/>
          </a:xfrm>
          <a:prstGeom prst="rect">
            <a:avLst/>
          </a:prstGeom>
          <a:noFill/>
          <a:ln/>
        </p:spPr>
        <p:txBody>
          <a:bodyPr wrap="square" rtlCol="0" anchor="ctr"/>
          <a:lstStyle/>
          <a:p>
            <a:pPr algn="ctr" indent="0" marL="0">
              <a:buNone/>
            </a:pPr>
            <a:r>
              <a:rPr lang="en-US" sz="800" b="1" dirty="0">
                <a:solidFill>
                  <a:srgbClr val="B85F3F"/>
                </a:solidFill>
                <a:latin typeface="Malgun Gothic" pitchFamily="34" charset="0"/>
                <a:ea typeface="Malgun Gothic" pitchFamily="34" charset="-122"/>
                <a:cs typeface="Malgun Gothic" pitchFamily="34" charset="-120"/>
              </a:rPr>
              <a:t>전체 구조 파악</a:t>
            </a:r>
            <a:endParaRPr lang="en-US" sz="800" dirty="0"/>
          </a:p>
        </p:txBody>
      </p:sp>
      <p:sp>
        <p:nvSpPr>
          <p:cNvPr id="13" name="Shape 11"/>
          <p:cNvSpPr/>
          <p:nvPr/>
        </p:nvSpPr>
        <p:spPr>
          <a:xfrm>
            <a:off x="4262018" y="2020570"/>
            <a:ext cx="3667658" cy="1280160"/>
          </a:xfrm>
          <a:prstGeom prst="roundRect">
            <a:avLst>
              <a:gd name="adj" fmla="val 5714"/>
            </a:avLst>
          </a:prstGeom>
          <a:solidFill>
            <a:srgbClr val="FFFFFF"/>
          </a:solidFill>
          <a:ln w="9525">
            <a:solidFill>
              <a:srgbClr val="F0D4C4"/>
            </a:solidFill>
            <a:prstDash val="solid"/>
          </a:ln>
        </p:spPr>
      </p:sp>
      <p:sp>
        <p:nvSpPr>
          <p:cNvPr id="14" name="Text 12"/>
          <p:cNvSpPr/>
          <p:nvPr/>
        </p:nvSpPr>
        <p:spPr>
          <a:xfrm>
            <a:off x="4371746" y="2112010"/>
            <a:ext cx="3448202" cy="274320"/>
          </a:xfrm>
          <a:prstGeom prst="rect">
            <a:avLst/>
          </a:prstGeom>
          <a:noFill/>
          <a:ln/>
        </p:spPr>
        <p:txBody>
          <a:bodyPr wrap="square" rtlCol="0" anchor="ctr"/>
          <a:lstStyle/>
          <a:p>
            <a:pPr indent="0" marL="0">
              <a:buNone/>
            </a:pPr>
            <a:r>
              <a:rPr lang="en-US" sz="1400" b="1" dirty="0">
                <a:solidFill>
                  <a:srgbClr val="B85F3F"/>
                </a:solidFill>
                <a:latin typeface="Malgun Gothic" pitchFamily="34" charset="0"/>
                <a:ea typeface="Malgun Gothic" pitchFamily="34" charset="-122"/>
                <a:cs typeface="Malgun Gothic" pitchFamily="34" charset="-120"/>
              </a:rPr>
              <a:t>@vscode</a:t>
            </a:r>
            <a:endParaRPr lang="en-US" sz="1400" dirty="0"/>
          </a:p>
        </p:txBody>
      </p:sp>
      <p:sp>
        <p:nvSpPr>
          <p:cNvPr id="15" name="Text 13"/>
          <p:cNvSpPr/>
          <p:nvPr/>
        </p:nvSpPr>
        <p:spPr>
          <a:xfrm>
            <a:off x="4371746" y="2404618"/>
            <a:ext cx="3448202" cy="548640"/>
          </a:xfrm>
          <a:prstGeom prst="rect">
            <a:avLst/>
          </a:prstGeom>
          <a:noFill/>
          <a:ln/>
        </p:spPr>
        <p:txBody>
          <a:bodyPr wrap="square" rtlCol="0" anchor="t"/>
          <a:lstStyle/>
          <a:p>
            <a:pPr indent="0" marL="0">
              <a:buNone/>
            </a:pPr>
            <a:r>
              <a:rPr lang="en-US" sz="1000" dirty="0">
                <a:solidFill>
                  <a:srgbClr val="475569"/>
                </a:solidFill>
                <a:latin typeface="Malgun Gothic" pitchFamily="34" charset="0"/>
                <a:ea typeface="Malgun Gothic" pitchFamily="34" charset="-122"/>
                <a:cs typeface="Malgun Gothic" pitchFamily="34" charset="-120"/>
              </a:rPr>
              <a:t>에디터의 설정이나 단축키 등을 물어봅니다. "테마를 다크 모드로 바꾸는 설정 열어줘" 등의 명령이 가능합니다.</a:t>
            </a:r>
            <a:endParaRPr lang="en-US" sz="1000" dirty="0"/>
          </a:p>
        </p:txBody>
      </p:sp>
      <p:sp>
        <p:nvSpPr>
          <p:cNvPr id="16" name="Shape 14"/>
          <p:cNvSpPr/>
          <p:nvPr/>
        </p:nvSpPr>
        <p:spPr>
          <a:xfrm>
            <a:off x="4371746" y="2980690"/>
            <a:ext cx="3448202" cy="256032"/>
          </a:xfrm>
          <a:prstGeom prst="roundRect">
            <a:avLst>
              <a:gd name="adj" fmla="val 21429"/>
            </a:avLst>
          </a:prstGeom>
          <a:solidFill>
            <a:srgbClr val="FDF0EB"/>
          </a:solidFill>
          <a:ln w="12700">
            <a:solidFill>
              <a:srgbClr val="FDF0EB"/>
            </a:solidFill>
            <a:prstDash val="solid"/>
          </a:ln>
        </p:spPr>
      </p:sp>
      <p:sp>
        <p:nvSpPr>
          <p:cNvPr id="17" name="Text 15"/>
          <p:cNvSpPr/>
          <p:nvPr/>
        </p:nvSpPr>
        <p:spPr>
          <a:xfrm>
            <a:off x="4371746" y="2980690"/>
            <a:ext cx="3448202" cy="256032"/>
          </a:xfrm>
          <a:prstGeom prst="rect">
            <a:avLst/>
          </a:prstGeom>
          <a:noFill/>
          <a:ln/>
        </p:spPr>
        <p:txBody>
          <a:bodyPr wrap="square" rtlCol="0" anchor="ctr"/>
          <a:lstStyle/>
          <a:p>
            <a:pPr algn="ctr" indent="0" marL="0">
              <a:buNone/>
            </a:pPr>
            <a:r>
              <a:rPr lang="en-US" sz="800" b="1" dirty="0">
                <a:solidFill>
                  <a:srgbClr val="B85F3F"/>
                </a:solidFill>
                <a:latin typeface="Malgun Gothic" pitchFamily="34" charset="0"/>
                <a:ea typeface="Malgun Gothic" pitchFamily="34" charset="-122"/>
                <a:cs typeface="Malgun Gothic" pitchFamily="34" charset="-120"/>
              </a:rPr>
              <a:t>IDE 제어</a:t>
            </a:r>
            <a:endParaRPr lang="en-US" sz="800" dirty="0"/>
          </a:p>
        </p:txBody>
      </p:sp>
      <p:sp>
        <p:nvSpPr>
          <p:cNvPr id="18" name="Shape 16"/>
          <p:cNvSpPr/>
          <p:nvPr/>
        </p:nvSpPr>
        <p:spPr>
          <a:xfrm>
            <a:off x="8066837" y="2020570"/>
            <a:ext cx="3667658" cy="1280160"/>
          </a:xfrm>
          <a:prstGeom prst="roundRect">
            <a:avLst>
              <a:gd name="adj" fmla="val 5714"/>
            </a:avLst>
          </a:prstGeom>
          <a:solidFill>
            <a:srgbClr val="FFFFFF"/>
          </a:solidFill>
          <a:ln w="9525">
            <a:solidFill>
              <a:srgbClr val="F0D4C4"/>
            </a:solidFill>
            <a:prstDash val="solid"/>
          </a:ln>
        </p:spPr>
      </p:sp>
      <p:sp>
        <p:nvSpPr>
          <p:cNvPr id="19" name="Text 17"/>
          <p:cNvSpPr/>
          <p:nvPr/>
        </p:nvSpPr>
        <p:spPr>
          <a:xfrm>
            <a:off x="8176565" y="2112010"/>
            <a:ext cx="3448202" cy="274320"/>
          </a:xfrm>
          <a:prstGeom prst="rect">
            <a:avLst/>
          </a:prstGeom>
          <a:noFill/>
          <a:ln/>
        </p:spPr>
        <p:txBody>
          <a:bodyPr wrap="square" rtlCol="0" anchor="ctr"/>
          <a:lstStyle/>
          <a:p>
            <a:pPr indent="0" marL="0">
              <a:buNone/>
            </a:pPr>
            <a:r>
              <a:rPr lang="en-US" sz="1400" b="1" dirty="0">
                <a:solidFill>
                  <a:srgbClr val="B85F3F"/>
                </a:solidFill>
                <a:latin typeface="Malgun Gothic" pitchFamily="34" charset="0"/>
                <a:ea typeface="Malgun Gothic" pitchFamily="34" charset="-122"/>
                <a:cs typeface="Malgun Gothic" pitchFamily="34" charset="-120"/>
              </a:rPr>
              <a:t>#file</a:t>
            </a:r>
            <a:endParaRPr lang="en-US" sz="1400" dirty="0"/>
          </a:p>
        </p:txBody>
      </p:sp>
      <p:sp>
        <p:nvSpPr>
          <p:cNvPr id="20" name="Text 18"/>
          <p:cNvSpPr/>
          <p:nvPr/>
        </p:nvSpPr>
        <p:spPr>
          <a:xfrm>
            <a:off x="8176565" y="2404618"/>
            <a:ext cx="3448202" cy="548640"/>
          </a:xfrm>
          <a:prstGeom prst="rect">
            <a:avLst/>
          </a:prstGeom>
          <a:noFill/>
          <a:ln/>
        </p:spPr>
        <p:txBody>
          <a:bodyPr wrap="square" rtlCol="0" anchor="t"/>
          <a:lstStyle/>
          <a:p>
            <a:pPr indent="0" marL="0">
              <a:buNone/>
            </a:pPr>
            <a:r>
              <a:rPr lang="en-US" sz="1000" dirty="0">
                <a:solidFill>
                  <a:srgbClr val="475569"/>
                </a:solidFill>
                <a:latin typeface="Malgun Gothic" pitchFamily="34" charset="0"/>
                <a:ea typeface="Malgun Gothic" pitchFamily="34" charset="-122"/>
                <a:cs typeface="Malgun Gothic" pitchFamily="34" charset="-120"/>
              </a:rPr>
              <a:t>특정 파일을 지목하여 질문합니다. "#app.py 와 #utils.py를 비교해서 중복 코드를 찾아줘"라고 지시합니다.</a:t>
            </a:r>
            <a:endParaRPr lang="en-US" sz="1000" dirty="0"/>
          </a:p>
        </p:txBody>
      </p:sp>
      <p:sp>
        <p:nvSpPr>
          <p:cNvPr id="21" name="Shape 19"/>
          <p:cNvSpPr/>
          <p:nvPr/>
        </p:nvSpPr>
        <p:spPr>
          <a:xfrm>
            <a:off x="8176565" y="2980690"/>
            <a:ext cx="3448202" cy="256032"/>
          </a:xfrm>
          <a:prstGeom prst="roundRect">
            <a:avLst>
              <a:gd name="adj" fmla="val 21429"/>
            </a:avLst>
          </a:prstGeom>
          <a:solidFill>
            <a:srgbClr val="FDF0EB"/>
          </a:solidFill>
          <a:ln w="12700">
            <a:solidFill>
              <a:srgbClr val="FDF0EB"/>
            </a:solidFill>
            <a:prstDash val="solid"/>
          </a:ln>
        </p:spPr>
      </p:sp>
      <p:sp>
        <p:nvSpPr>
          <p:cNvPr id="22" name="Text 20"/>
          <p:cNvSpPr/>
          <p:nvPr/>
        </p:nvSpPr>
        <p:spPr>
          <a:xfrm>
            <a:off x="8176565" y="2980690"/>
            <a:ext cx="3448202" cy="256032"/>
          </a:xfrm>
          <a:prstGeom prst="rect">
            <a:avLst/>
          </a:prstGeom>
          <a:noFill/>
          <a:ln/>
        </p:spPr>
        <p:txBody>
          <a:bodyPr wrap="square" rtlCol="0" anchor="ctr"/>
          <a:lstStyle/>
          <a:p>
            <a:pPr algn="ctr" indent="0" marL="0">
              <a:buNone/>
            </a:pPr>
            <a:r>
              <a:rPr lang="en-US" sz="800" b="1" dirty="0">
                <a:solidFill>
                  <a:srgbClr val="B85F3F"/>
                </a:solidFill>
                <a:latin typeface="Malgun Gothic" pitchFamily="34" charset="0"/>
                <a:ea typeface="Malgun Gothic" pitchFamily="34" charset="-122"/>
                <a:cs typeface="Malgun Gothic" pitchFamily="34" charset="-120"/>
              </a:rPr>
              <a:t>파일 간 맥락 연결</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F172A"/>
          </a:solidFill>
          <a:ln w="12700">
            <a:solidFill>
              <a:srgbClr val="0F172A"/>
            </a:solidFill>
            <a:prstDash val="solid"/>
          </a:ln>
        </p:spPr>
      </p:sp>
      <p:sp>
        <p:nvSpPr>
          <p:cNvPr id="3" name="Shape 1"/>
          <p:cNvSpPr/>
          <p:nvPr/>
        </p:nvSpPr>
        <p:spPr>
          <a:xfrm>
            <a:off x="502920" y="228600"/>
            <a:ext cx="502920" cy="502920"/>
          </a:xfrm>
          <a:prstGeom prst="roundRect">
            <a:avLst>
              <a:gd name="adj" fmla="val 18182"/>
            </a:avLst>
          </a:prstGeom>
          <a:solidFill>
            <a:srgbClr val="D97757"/>
          </a:solidFill>
          <a:ln w="12700">
            <a:solidFill>
              <a:srgbClr val="D97757"/>
            </a:solidFill>
            <a:prstDash val="solid"/>
          </a:ln>
        </p:spPr>
      </p:sp>
      <p:sp>
        <p:nvSpPr>
          <p:cNvPr id="4" name="Text 2"/>
          <p:cNvSpPr/>
          <p:nvPr/>
        </p:nvSpPr>
        <p:spPr>
          <a:xfrm>
            <a:off x="502920" y="228600"/>
            <a:ext cx="502920" cy="502920"/>
          </a:xfrm>
          <a:prstGeom prst="rect">
            <a:avLst/>
          </a:prstGeom>
          <a:noFill/>
          <a:ln/>
        </p:spPr>
        <p:txBody>
          <a:bodyPr wrap="square"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4</a:t>
            </a:r>
            <a:endParaRPr lang="en-US" sz="1600" dirty="0"/>
          </a:p>
        </p:txBody>
      </p:sp>
      <p:sp>
        <p:nvSpPr>
          <p:cNvPr id="5" name="Text 3"/>
          <p:cNvSpPr/>
          <p:nvPr/>
        </p:nvSpPr>
        <p:spPr>
          <a:xfrm>
            <a:off x="1143000" y="0"/>
            <a:ext cx="10957255" cy="960120"/>
          </a:xfrm>
          <a:prstGeom prst="rect">
            <a:avLst/>
          </a:prstGeom>
          <a:noFill/>
          <a:ln/>
        </p:spPr>
        <p:txBody>
          <a:bodyPr wrap="square" rtlCol="0" anchor="ctr"/>
          <a:lstStyle/>
          <a:p>
            <a:pPr indent="0" marL="0">
              <a:buNone/>
            </a:pPr>
            <a:r>
              <a:rPr lang="en-US" sz="2200" b="1" dirty="0">
                <a:solidFill>
                  <a:srgbClr val="FFFFFF"/>
                </a:solidFill>
                <a:latin typeface="Malgun Gothic" pitchFamily="34" charset="0"/>
                <a:ea typeface="Malgun Gothic" pitchFamily="34" charset="-122"/>
                <a:cs typeface="Malgun Gothic" pitchFamily="34" charset="-120"/>
              </a:rPr>
              <a:t>마무리 체크리스트</a:t>
            </a:r>
            <a:endParaRPr lang="en-US" sz="2200" dirty="0"/>
          </a:p>
        </p:txBody>
      </p:sp>
      <p:sp>
        <p:nvSpPr>
          <p:cNvPr id="6" name="Shape 4"/>
          <p:cNvSpPr/>
          <p:nvPr/>
        </p:nvSpPr>
        <p:spPr>
          <a:xfrm>
            <a:off x="457200" y="1143000"/>
            <a:ext cx="11277295" cy="2753360"/>
          </a:xfrm>
          <a:prstGeom prst="roundRect">
            <a:avLst>
              <a:gd name="adj" fmla="val 2657"/>
            </a:avLst>
          </a:prstGeom>
          <a:solidFill>
            <a:srgbClr val="FFFFFF"/>
          </a:solidFill>
          <a:ln w="9525">
            <a:solidFill>
              <a:srgbClr val="F0D4C4"/>
            </a:solidFill>
            <a:prstDash val="solid"/>
          </a:ln>
        </p:spPr>
      </p:sp>
      <p:sp>
        <p:nvSpPr>
          <p:cNvPr id="7" name="Text 5"/>
          <p:cNvSpPr/>
          <p:nvPr/>
        </p:nvSpPr>
        <p:spPr>
          <a:xfrm>
            <a:off x="685800" y="1325880"/>
            <a:ext cx="10820095" cy="347980"/>
          </a:xfrm>
          <a:prstGeom prst="rect">
            <a:avLst/>
          </a:prstGeom>
          <a:noFill/>
          <a:ln/>
        </p:spPr>
        <p:txBody>
          <a:bodyPr wrap="square" rtlCol="0" anchor="t"/>
          <a:lstStyle/>
          <a:p>
            <a:pPr indent="0" marL="0">
              <a:buNone/>
            </a:pPr>
            <a:r>
              <a:rPr lang="en-US" sz="1400" b="1" dirty="0">
                <a:solidFill>
                  <a:srgbClr val="B85F3F"/>
                </a:solidFill>
                <a:latin typeface="Malgun Gothic" pitchFamily="34" charset="0"/>
                <a:ea typeface="Malgun Gothic" pitchFamily="34" charset="-122"/>
                <a:cs typeface="Malgun Gothic" pitchFamily="34" charset="-120"/>
              </a:rPr>
              <a:t>실무 적용 전 확인</a:t>
            </a:r>
            <a:endParaRPr lang="en-US" sz="1400" dirty="0"/>
          </a:p>
        </p:txBody>
      </p:sp>
      <p:sp>
        <p:nvSpPr>
          <p:cNvPr id="8" name="Text 6"/>
          <p:cNvSpPr/>
          <p:nvPr/>
        </p:nvSpPr>
        <p:spPr>
          <a:xfrm>
            <a:off x="685800" y="1742440"/>
            <a:ext cx="10820095" cy="326390"/>
          </a:xfrm>
          <a:prstGeom prst="rect">
            <a:avLst/>
          </a:prstGeom>
          <a:noFill/>
          <a:ln/>
        </p:spPr>
        <p:txBody>
          <a:bodyPr wrap="square" rtlCol="0" anchor="t"/>
          <a:lstStyle/>
          <a:p>
            <a:pPr indent="0" marL="0">
              <a:buNone/>
            </a:pPr>
            <a:r>
              <a:rPr lang="en-US" sz="1300" b="1" dirty="0">
                <a:solidFill>
                  <a:srgbClr val="1A1A2E"/>
                </a:solidFill>
                <a:latin typeface="Malgun Gothic" pitchFamily="34" charset="0"/>
                <a:ea typeface="Malgun Gothic" pitchFamily="34" charset="-122"/>
                <a:cs typeface="Malgun Gothic" pitchFamily="34" charset="-120"/>
              </a:rPr>
              <a:t>실무 적용 전 확인</a:t>
            </a:r>
            <a:endParaRPr lang="en-US" sz="1300" dirty="0"/>
          </a:p>
        </p:txBody>
      </p:sp>
      <p:sp>
        <p:nvSpPr>
          <p:cNvPr id="9" name="Text 7"/>
          <p:cNvSpPr/>
          <p:nvPr/>
        </p:nvSpPr>
        <p:spPr>
          <a:xfrm>
            <a:off x="685800" y="2160270"/>
            <a:ext cx="10820095" cy="712470"/>
          </a:xfrm>
          <a:prstGeom prst="rect">
            <a:avLst/>
          </a:prstGeom>
          <a:noFill/>
          <a:ln/>
        </p:spPr>
        <p:txBody>
          <a:bodyPr wrap="square" rtlCol="0" anchor="t"/>
          <a:lstStyle/>
          <a:p>
            <a:pPr indent="0" marL="0">
              <a:buNone/>
            </a:pPr>
            <a:r>
              <a:rPr lang="en-US" sz="1100" dirty="0">
                <a:solidFill>
                  <a:srgbClr val="475569"/>
                </a:solidFill>
                <a:latin typeface="Malgun Gothic" pitchFamily="34" charset="0"/>
                <a:ea typeface="Malgun Gothic" pitchFamily="34" charset="-122"/>
                <a:cs typeface="Malgun Gothic" pitchFamily="34" charset="-120"/>
              </a:rPr>
              <a:t>• 사내 보안 규정상 소스 코드가 외부(GitHub 서버)로 전송되어도 문제가 없는지 확인했는가?
</a:t>
            </a:r>
            <a:pPr indent="0" marL="0">
              <a:buNone/>
            </a:pPr>
            <a:r>
              <a:rPr lang="en-US" sz="1100" dirty="0">
                <a:solidFill>
                  <a:srgbClr val="475569"/>
                </a:solidFill>
                <a:latin typeface="Malgun Gothic" pitchFamily="34" charset="0"/>
                <a:ea typeface="Malgun Gothic" pitchFamily="34" charset="-122"/>
                <a:cs typeface="Malgun Gothic" pitchFamily="34" charset="-120"/>
              </a:rPr>
              <a:t>• 추천받은 코드가 회사에서 사용하는 라이브러리 버전과 호환되는지 점검했는가?
</a:t>
            </a:r>
            <a:pPr indent="0" marL="0">
              <a:buNone/>
            </a:pPr>
            <a:r>
              <a:rPr lang="en-US" sz="1100" dirty="0">
                <a:solidFill>
                  <a:srgbClr val="475569"/>
                </a:solidFill>
                <a:latin typeface="Malgun Gothic" pitchFamily="34" charset="0"/>
                <a:ea typeface="Malgun Gothic" pitchFamily="34" charset="-122"/>
                <a:cs typeface="Malgun Gothic" pitchFamily="34" charset="-120"/>
              </a:rPr>
              <a:t>• 내가 단축키를 제대로 활용하고 있는가? (수락: Tab, 단어별 수락: Ctrl + Right, 거절: Esc)
</a:t>
            </a:r>
            <a:endParaRPr lang="en-US" sz="1100" dirty="0"/>
          </a:p>
        </p:txBody>
      </p:sp>
      <p:sp>
        <p:nvSpPr>
          <p:cNvPr id="10" name="Shape 8"/>
          <p:cNvSpPr/>
          <p:nvPr/>
        </p:nvSpPr>
        <p:spPr>
          <a:xfrm>
            <a:off x="685800" y="3009900"/>
            <a:ext cx="64008" cy="612140"/>
          </a:xfrm>
          <a:prstGeom prst="rect">
            <a:avLst/>
          </a:prstGeom>
          <a:solidFill>
            <a:srgbClr val="D97757"/>
          </a:solidFill>
          <a:ln w="12700">
            <a:solidFill>
              <a:srgbClr val="D97757"/>
            </a:solidFill>
            <a:prstDash val="solid"/>
          </a:ln>
        </p:spPr>
      </p:sp>
      <p:sp>
        <p:nvSpPr>
          <p:cNvPr id="11" name="Shape 9"/>
          <p:cNvSpPr/>
          <p:nvPr/>
        </p:nvSpPr>
        <p:spPr>
          <a:xfrm>
            <a:off x="749808" y="3009900"/>
            <a:ext cx="10756087" cy="612140"/>
          </a:xfrm>
          <a:prstGeom prst="rect">
            <a:avLst/>
          </a:prstGeom>
          <a:solidFill>
            <a:srgbClr val="FDF0EB"/>
          </a:solidFill>
          <a:ln w="12700">
            <a:solidFill>
              <a:srgbClr val="FDF0EB"/>
            </a:solidFill>
            <a:prstDash val="solid"/>
          </a:ln>
        </p:spPr>
      </p:sp>
      <p:sp>
        <p:nvSpPr>
          <p:cNvPr id="12" name="Text 10"/>
          <p:cNvSpPr/>
          <p:nvPr/>
        </p:nvSpPr>
        <p:spPr>
          <a:xfrm>
            <a:off x="841248" y="3064764"/>
            <a:ext cx="10628071" cy="520700"/>
          </a:xfrm>
          <a:prstGeom prst="rect">
            <a:avLst/>
          </a:prstGeom>
          <a:noFill/>
          <a:ln/>
        </p:spPr>
        <p:txBody>
          <a:bodyPr wrap="square" rtlCol="0" anchor="ctr"/>
          <a:lstStyle/>
          <a:p>
            <a:pPr indent="0" marL="0">
              <a:buNone/>
            </a:pPr>
            <a:r>
              <a:rPr lang="en-US" sz="1100" i="1" dirty="0">
                <a:solidFill>
                  <a:srgbClr val="8B4530"/>
                </a:solidFill>
                <a:latin typeface="Malgun Gothic" pitchFamily="34" charset="0"/>
                <a:ea typeface="Malgun Gothic" pitchFamily="34" charset="-122"/>
                <a:cs typeface="Malgun Gothic" pitchFamily="34" charset="-120"/>
              </a:rPr>
              <a:t>💡 TIP: Copilot은 열려 있는 다른 탭의 파일들을 컨텍스트로 강력하게 참조합니다. 따라서 코드를 짤 때 관련 있는 파일(데이터 모델, 공통 유틸 등)의 탭을 에디터에 띄워두면 훨씬 더 맥락에 맞는 정확한 코드를 제안받을 수 있습니다.</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2026-05-13T01:19:29Z</dcterms:created>
  <dcterms:modified xsi:type="dcterms:W3CDTF">2026-05-13T01:19:29Z</dcterms:modified>
</cp:coreProperties>
</file>