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Spark 숏코드 쇼케이스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등록된 숏코드의 입력 문법과 HTML/PPTX 구현 결과를 함께 확인하는 레퍼런스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숏코드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입력 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HTML/PPTX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변환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3749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cols=N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407822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단수 제어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지원 숏코드 목록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카드/그리드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icon-grid, feature-grid, badge-grid, stat-grid, columns-grid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도구/기능 소개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tool-box, skill-list, bottom-list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절차/흐름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workflow-strip, step-list, git-flow-strip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비교/플랜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compare-grid, compare-split, plan-grid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알림/명령/콘솔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alert-box, cmd-box, console-box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인터랙션/목록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os-tabs, faq-list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특화 시각화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editor-box, network-box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표준 입력 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989834"/>
          </a:xfrm>
          <a:prstGeom prst="roundRect">
            <a:avLst>
              <a:gd name="adj" fmla="val 244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아이콘, 수치, 짧은 시각 라벨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이모지 또는 짧은 문자열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카드/항목 제목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필수에 가까운 기본 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설명 또는 코드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줄은 `desc: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배지, 상태, 언어 라벨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플랜명, 추천, OS명 등에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목록, 칩, 피처 리스트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`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color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개별 강조색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Hex 색상 권장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하단 노트, 결론, CTA 배지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compare-grid, columns-grid, compare-split, plan-grid에서 특히 유효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357530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숏코드별 예약 키도 일부 존재합니다. featured는 plan-grid의 추천 플랜 강조에 사용하고, alert-box는 선언부의 tip, warn, success, danger 타입을 읽습니다.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404614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icon-grid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중심의 기본 카드 그리드. 핵심 기능, 사용 사례, 장점 목록에 적합합니다.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5577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466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icon-grid cols=3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"⚡"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"빠른 작업"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"반복 작업을 줄이고 결과물을 빠르게 만듭니다."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"🎨"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"쉬운 디자인"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"템플릿과 프리셋으로 초보자도 보기 좋은 결과를 만들 수 있습니다."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"🤝"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"팀 협업"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"링크 공유와 댓글로 팀 작업을 이어갈 수 있습니다."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684774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776214"/>
            <a:ext cx="34847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8640" y="621512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작업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89446"/>
            <a:ext cx="348477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줄이고 결과물을 빠르게 만듭니다.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62018" y="5684774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53458" y="5776214"/>
            <a:ext cx="34847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353458" y="621512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디자인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53458" y="6489446"/>
            <a:ext cx="348477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프리셋으로 초보자도 보기 좋은 결과를 만들 수 있습니다.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66837" y="5684774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8277" y="5776214"/>
            <a:ext cx="34847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158277" y="6215126"/>
            <a:ext cx="348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협업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58277" y="6489446"/>
            <a:ext cx="348477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공유와 댓글로 팀 작업을 이어갈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5700014"/>
          </a:xfrm>
          <a:prstGeom prst="roundRect">
            <a:avLst>
              <a:gd name="adj" fmla="val 128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feature-grid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 태그와 제목이 강조되는 설명형 기능 카드입니다.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38531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3761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feature-grid cols=3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"🧠"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"AI 자동화"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"핵심"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"입력 자료를 바탕으로 초안, 편집, 요약을 자동 생성합니다."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"#6366F1"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"🧰"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"템플릿 활용"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"실전"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"자주 쓰는 형식을 저장해 같은 품질의 결과물을 반복 제작합니다."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"#10B981"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"🔗"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"링크 배포"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"공유"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"완성된 결과를 링크나 파일로 공유하고 피드백을 받을 수 있습니다."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"#F59E0B"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6980174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6980174"/>
            <a:ext cx="3667658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7089902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6928" y="730935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AI 자동화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7620254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자료를 바탕으로 초안, 편집, 요약을 자동 생성합니다.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62018" y="6980174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62018" y="6980174"/>
            <a:ext cx="366765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71746" y="7089902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371746" y="730935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템플릿 활용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71746" y="7620254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형식을 저장해 같은 품질의 결과물을 반복 제작합니다.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66837" y="6980174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6837" y="6980174"/>
            <a:ext cx="366765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76565" y="7089902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176565" y="7309358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링크 배포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76565" y="7620254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결과를 링크나 파일로 공유하고 피드백을 받을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5052314"/>
          </a:xfrm>
          <a:prstGeom prst="roundRect">
            <a:avLst>
              <a:gd name="adj" fmla="val 144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badge-grid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서비스/기능 배지를 조밀하게 나열합니다.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32054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3114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badge-grid cols=4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"🧪"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"테스트"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"Vitest"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"📦"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"빌드"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"Vite"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"🎞"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"슬라이드"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"PPTX"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"🌐"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"웹"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"HTML"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404614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수치와 짧은 설명을 강조하는 통계 카드입니다.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5577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466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stat-grid cols=3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"21종"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"숏코드"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"현재 빌더가 렌더링하는 컴포넌트 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"2종"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"출력"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"HTML과 PPTX를 같은 MD에서 생성"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"6개"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"표준 키"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"icon, title, desc, tag, meta, color"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684774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5684774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5776214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21종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8640" y="6233414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6489446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빌더가 렌더링하는 컴포넌트 수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62018" y="5684774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62018" y="5684774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3458" y="5776214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353458" y="6233414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353458" y="6489446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HTML과 PPTX를 같은 MD에서 생성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066837" y="5684774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6837" y="5684774"/>
            <a:ext cx="3667658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58277" y="5776214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158277" y="6233414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키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158277" y="6489446"/>
            <a:ext cx="348477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icon, title, desc, tag, meta, color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5052314"/>
          </a:xfrm>
          <a:prstGeom prst="roundRect">
            <a:avLst>
              <a:gd name="adj" fmla="val 144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색상 헤더와 피처 목록을 가진 도구 소개 카드입니다.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32054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3114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tool-box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"💬"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"ChatGPT"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"OpenAI의 대화형 AI 어시스턴트"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"무료/Pro"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"텍스트 생성|파일 분석|이미지 생성|코드 실행"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"#10A37F"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"💻"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"Cursor"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"AI 코드 에디터"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"Pro"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"코드베이스 인덱싱|멀티 파일 편집|자동완성"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"#2563EB"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6332474"/>
            <a:ext cx="11277295" cy="1883664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6332474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6972554"/>
            <a:ext cx="11277295" cy="914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6332474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33856" y="6423914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33856" y="6698234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OpenAI의 대화형 AI 어시스턴트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55503" y="659765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" y="7173722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텍스트 생성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739317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분석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" y="7612634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생성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7832090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코드 실행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8353298"/>
            <a:ext cx="11277295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8353298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8993378"/>
            <a:ext cx="112772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" y="8353298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133856" y="8444738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33856" y="8719058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 에디터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655503" y="861847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31520" y="9194546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코드베이스 인덱싱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1520" y="9414002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멀티 파일 편집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31520" y="9633458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자동완성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workflow-strip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5052314"/>
          </a:xfrm>
          <a:prstGeom prst="roundRect">
            <a:avLst>
              <a:gd name="adj" fmla="val 144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workflow-strip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아이콘과 화살표로 이어지는 가로 흐름도입니다.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32054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3114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workflow-strip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"💡"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"아이디어"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"요구사항 정리"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"⚡"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"초안"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"AI 생성"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"✅"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"검토"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"사람 확인"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"📤"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"배포"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"HTML/PPTX"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6332474"/>
            <a:ext cx="2647874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405626"/>
            <a:ext cx="2647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2064" y="6716522"/>
            <a:ext cx="253814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" y="6954266"/>
            <a:ext cx="253814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정리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105074" y="666623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333674" y="6332474"/>
            <a:ext cx="2647874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3674" y="6405626"/>
            <a:ext cx="2647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88538" y="6716522"/>
            <a:ext cx="253814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88538" y="6954266"/>
            <a:ext cx="253814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81548" y="666623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10148" y="6332474"/>
            <a:ext cx="2647874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0148" y="6405626"/>
            <a:ext cx="2647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265012" y="6716522"/>
            <a:ext cx="253814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65012" y="6954266"/>
            <a:ext cx="253814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858021" y="666623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086621" y="6332474"/>
            <a:ext cx="2647874" cy="868680"/>
          </a:xfrm>
          <a:prstGeom prst="roundRect">
            <a:avLst>
              <a:gd name="adj" fmla="val 8421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86621" y="6405626"/>
            <a:ext cx="2647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41485" y="6716522"/>
            <a:ext cx="253814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141485" y="6954266"/>
            <a:ext cx="253814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HTML/PPTX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step-list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756914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번호가 붙는 세로 단계 리스트입니다.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19100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181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step-list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"MD 작성"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"표준 키와 숏코드로 콘텐츠를 작성합니다."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"HTML 빌드"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"build-guide.mjs로 가이드 HTML을 생성합니다."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"PPTX 빌드"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"md-to-pptx.mjs로 발표 자료를 생성합니다."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03707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17423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517423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42416" y="510108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작성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42416" y="534797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키와 숏코드로 콘텐츠를 작성합니다.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583260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596976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596976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42416" y="589661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빌드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42416" y="614349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build-guide.mjs로 가이드 HTML을 생성합니다.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662813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676529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76529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42416" y="669213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 빌드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42416" y="693902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md-to-pptx.mjs로 발표 자료를 생성합니다.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188714"/>
          </a:xfrm>
          <a:prstGeom prst="roundRect">
            <a:avLst>
              <a:gd name="adj" fmla="val 174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compare-grid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선택지를 카드로 비교합니다. note가 있으면 하단 노트로 우선 표시하고, 없으면 meta를 노트처럼 표시합니다.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3418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25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compare-grid cols=2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"수동 HTML"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"표현 자유도는 높지만 유지보수와 PPTX 변환이 어렵습니다."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"디자인 고정이 필요한 특수 페이지에 적합"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"#EF4444"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"숏코드 MD"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"표준 입력만으로 HTML과 PPTX를 동시에 생성할 수 있습니다."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"가이드와 교육 자료에 적합"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"#10B981"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468874"/>
            <a:ext cx="5570068" cy="1280160"/>
          </a:xfrm>
          <a:prstGeom prst="roundRect">
            <a:avLst>
              <a:gd name="adj" fmla="val 5714"/>
            </a:avLst>
          </a:prstGeom>
          <a:solidFill>
            <a:srgbClr val="EF4444">
              <a:alpha val="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5468874"/>
            <a:ext cx="557006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5560314"/>
            <a:ext cx="53506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HTML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" y="5852922"/>
            <a:ext cx="53506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자유도는 높지만 유지보수와 PPTX 변환이 어렵습니다.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6428994"/>
            <a:ext cx="5350612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6428994"/>
            <a:ext cx="53506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고정이 필요한 특수 페이지에 적합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64428" y="5468874"/>
            <a:ext cx="5570068" cy="1280160"/>
          </a:xfrm>
          <a:prstGeom prst="roundRect">
            <a:avLst>
              <a:gd name="adj" fmla="val 5714"/>
            </a:avLst>
          </a:prstGeom>
          <a:solidFill>
            <a:srgbClr val="10B981">
              <a:alpha val="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64428" y="5468874"/>
            <a:ext cx="557006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4156" y="5560314"/>
            <a:ext cx="53506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MD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74156" y="5852922"/>
            <a:ext cx="53506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입력만으로 HTML과 PPTX를 동시에 생성할 수 있습니다.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74156" y="6428994"/>
            <a:ext cx="5350612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74156" y="6428994"/>
            <a:ext cx="53506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가이드와 교육 자료에 적합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5484114"/>
          </a:xfrm>
          <a:prstGeom prst="roundRect">
            <a:avLst>
              <a:gd name="adj" fmla="val 133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요금제, 모델 등급, 옵션 비교에 쓰는 플랜 카드입니다.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36372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354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plan-grid cols=3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"Free"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"무료"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"기본 기능|일일 제한|커뮤니티 지원"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"지금 시작"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"Pro"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"추천"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"무제한 사용|고급 기능|우선 지원"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"$20 / 월"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featured: "true"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"#6366F1"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"Team"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"팀"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"권한 관리|공유 워크스페이스|관리자 콘솔"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"문의"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6764274"/>
            <a:ext cx="36676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6764274"/>
            <a:ext cx="366765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6947154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94715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6928" y="718489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747750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기능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" y="773353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일일 제한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" y="798957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커뮤니티 지원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" y="828217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E6F4F0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828217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시작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262018" y="6764274"/>
            <a:ext cx="3667658" cy="1920240"/>
          </a:xfrm>
          <a:prstGeom prst="roundRect">
            <a:avLst>
              <a:gd name="adj" fmla="val 3810"/>
            </a:avLst>
          </a:prstGeom>
          <a:solidFill>
            <a:srgbClr val="6366F1">
              <a:alpha val="5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62018" y="6764274"/>
            <a:ext cx="3667658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71746" y="6947154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1746" y="694715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371746" y="718489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371746" y="747750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무제한 사용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71746" y="773353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고급 기능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71746" y="798957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우선 지원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371746" y="828217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71746" y="828217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$20 / 월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066837" y="6764274"/>
            <a:ext cx="366765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66837" y="6764274"/>
            <a:ext cx="366765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176565" y="6947154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E6F4F0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76565" y="694715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176565" y="718489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176565" y="7477506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 관리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176565" y="7733538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공유 워크스페이스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176565" y="798957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관리자 콘솔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176565" y="8282178"/>
            <a:ext cx="3448202" cy="201168"/>
          </a:xfrm>
          <a:prstGeom prst="roundRect">
            <a:avLst>
              <a:gd name="adj" fmla="val 27273"/>
            </a:avLst>
          </a:prstGeom>
          <a:solidFill>
            <a:srgbClr val="E6F4F0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76565" y="828217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skill-list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404614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기능이나 역량을 행 형태로 나열합니다.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5577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466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skill-list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"📄"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"문서 자동화"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"보고서와 제안서를 빠르게 생성합니다."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"🔗"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"API 연동"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"기존 시스템과 데이터를 연결합니다."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icon: "📊"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"분석 대시보드"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"실시간 데이터를 시각화합니다."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columns-grid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404614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columns-grid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본문, 짧은 코드, 체크 항목을 균등한 다단 카드로 보여줍니다.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5577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466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columns-grid cols=3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"HTML"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"웹 가이드로 바로 열람합니다."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"node templates/build-guide.mjs guide.md"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"PPTX"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"발표 슬라이드로 변환합니다."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"node scripts/md-to-pptx.mjs guide.md"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"Standalone"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"전체 가이드를 단일 HTML로 묶습니다."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"npm run build:standalone"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684774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5684774"/>
            <a:ext cx="2145731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5794502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10A37F">
              <a:alpha val="7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5794502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6928" y="616026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가이드로 바로 열람합니다.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" y="6544310"/>
            <a:ext cx="1926275" cy="310896"/>
          </a:xfrm>
          <a:prstGeom prst="roundRect">
            <a:avLst>
              <a:gd name="adj" fmla="val 11765"/>
            </a:avLst>
          </a:prstGeom>
          <a:solidFill>
            <a:srgbClr val="10A37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" y="6544310"/>
            <a:ext cx="18531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templates/build-guide.mjs guide.md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740091" y="5684774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0091" y="5684774"/>
            <a:ext cx="2145731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49819" y="5794502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10A37F">
              <a:alpha val="7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849819" y="5794502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849819" y="616026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슬라이드로 변환합니다.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849819" y="6544310"/>
            <a:ext cx="1926275" cy="310896"/>
          </a:xfrm>
          <a:prstGeom prst="roundRect">
            <a:avLst>
              <a:gd name="adj" fmla="val 11765"/>
            </a:avLst>
          </a:prstGeom>
          <a:solidFill>
            <a:srgbClr val="10A37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2886395" y="6544310"/>
            <a:ext cx="18531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scripts/md-to-pptx.mjs guide.md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022982" y="5684774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2982" y="5684774"/>
            <a:ext cx="2145731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32710" y="5794502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10A37F">
              <a:alpha val="7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132710" y="5794502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132710" y="616026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가이드를 단일 HTML로 묶습니다.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132710" y="6544310"/>
            <a:ext cx="1926275" cy="310896"/>
          </a:xfrm>
          <a:prstGeom prst="roundRect">
            <a:avLst>
              <a:gd name="adj" fmla="val 11765"/>
            </a:avLst>
          </a:prstGeom>
          <a:solidFill>
            <a:srgbClr val="10A37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5169286" y="6544310"/>
            <a:ext cx="185312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build:standalone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bottom-list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109214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bottom-list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설명 아래에 여러 칩을 붙이는 요약 카드입니다.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12623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1170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bottom-list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"핵심 요약"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"숏코드 MD는 콘텐츠와 표현을 분리하여 반복 제작을 쉽게 만듭니다."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"HTML 자동 생성|PPTX 자동 생성|표준 키 사용|재사용 가능"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89374"/>
            <a:ext cx="11798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4572254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501167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MD는 콘텐츠와 표현을 분리하여 반복 제작을 쉽게 만듭니다.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5706364"/>
            <a:ext cx="2737028" cy="411480"/>
          </a:xfrm>
          <a:prstGeom prst="roundRect">
            <a:avLst>
              <a:gd name="adj" fmla="val 22222"/>
            </a:avLst>
          </a:prstGeom>
          <a:solidFill>
            <a:srgbClr val="E6F4F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5706364"/>
            <a:ext cx="2590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자동 생성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03956" y="5706364"/>
            <a:ext cx="2737028" cy="411480"/>
          </a:xfrm>
          <a:prstGeom prst="roundRect">
            <a:avLst>
              <a:gd name="adj" fmla="val 22222"/>
            </a:avLst>
          </a:prstGeom>
          <a:solidFill>
            <a:srgbClr val="E6F4F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77108" y="5706364"/>
            <a:ext cx="2590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 자동 생성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50712" y="5706364"/>
            <a:ext cx="2737028" cy="411480"/>
          </a:xfrm>
          <a:prstGeom prst="roundRect">
            <a:avLst>
              <a:gd name="adj" fmla="val 22222"/>
            </a:avLst>
          </a:prstGeom>
          <a:solidFill>
            <a:srgbClr val="E6F4F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3864" y="5706364"/>
            <a:ext cx="2590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키 사용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997467" y="5706364"/>
            <a:ext cx="2737028" cy="411480"/>
          </a:xfrm>
          <a:prstGeom prst="roundRect">
            <a:avLst>
              <a:gd name="adj" fmla="val 22222"/>
            </a:avLst>
          </a:prstGeom>
          <a:solidFill>
            <a:srgbClr val="E6F4F0"/>
          </a:solidFill>
          <a:ln w="9525">
            <a:solidFill>
              <a:srgbClr val="10A37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70619" y="5706364"/>
            <a:ext cx="2590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3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가능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compare-split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756914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compare-split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before/after 또는 양자 비교를 2열로 강조합니다.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19100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181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compare-split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"Before"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"HTML 직접 편집|디자인은 자유롭지만 유지보수 어려움"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"수동 관리"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"After"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"숏코드 입력|HTML/PPTX 동시 생성|재사용 쉬움"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note: "자동 파이프라인"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037074"/>
            <a:ext cx="5524348" cy="2020570"/>
          </a:xfrm>
          <a:prstGeom prst="roundRect">
            <a:avLst>
              <a:gd name="adj" fmla="val 3620"/>
            </a:avLst>
          </a:prstGeom>
          <a:solidFill>
            <a:srgbClr val="E6F4F0"/>
          </a:solidFill>
          <a:ln w="19050">
            <a:solidFill>
              <a:srgbClr val="10A3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5037074"/>
            <a:ext cx="5524348" cy="457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219954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5659374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HTML 직접 편집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5942584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디자인은 자유롭지만 유지보수 어려움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6618732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6618732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관리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10148" y="5037074"/>
            <a:ext cx="5524348" cy="2020570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0148" y="5037074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8748" y="5219954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38748" y="5659374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숏코드 입력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38748" y="5942584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HTML/PPTX 동시 생성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38748" y="6225794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재사용 쉬움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38748" y="6618732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E6F4F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38748" y="6618732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파이프라인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972814"/>
          </a:xfrm>
          <a:prstGeom prst="roundRect">
            <a:avLst>
              <a:gd name="adj" fmla="val 184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alert-box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tip, warn, success, danger 타입을 가진 알림 박스입니다.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1259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034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alert-box tip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"작성 팁"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"긴 본문은 desc: | 멀티라인 블록으로 작성하세요."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alert-box warn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"주의"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"들여쓰기가 틀어지면 숏코드 파서가 항목을 잘못 읽을 수 있습니다."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252974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5252974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5435854"/>
            <a:ext cx="11076127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1792" y="5806694"/>
            <a:ext cx="11076127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본문은 desc: | 멀티라인 블록으로 작성하세요.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6501384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6501384"/>
            <a:ext cx="73152" cy="97409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6684264"/>
            <a:ext cx="11076127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1792" y="7055104"/>
            <a:ext cx="11076127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들여쓰기가 틀어지면 숏코드 파서가 항목을 잘못 읽을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109214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cmd-box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복사 버튼이 있는 터미널 명령어 블록입니다.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12623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1170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cmd-box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"HTML 빌드"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"bash"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"node templates/build-guide.mjs md_src/showcase/showcase.md public/showcase/showcase.html"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89374"/>
            <a:ext cx="11277295" cy="746252"/>
          </a:xfrm>
          <a:prstGeom prst="roundRect">
            <a:avLst>
              <a:gd name="adj" fmla="val 9803"/>
            </a:avLst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389374"/>
            <a:ext cx="11277295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389374"/>
            <a:ext cx="78941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빌드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37215" y="438937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A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" y="4736846"/>
            <a:ext cx="11057839" cy="35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templates/build-guide.mjs md_src/showcase/showcase.md public/showcase/showcase.html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os-tabs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5052314"/>
          </a:xfrm>
          <a:prstGeom prst="roundRect">
            <a:avLst>
              <a:gd name="adj" fmla="val 1448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os-tabs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버튼으로 여러 설치법이나 플랫폼별 설명을 전환합니다.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32054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3114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os-tabs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"macOS"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#### 터미널 설치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```bash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brew install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```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"Windows"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#### PowerShell 설치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```powershell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winget install OpenJS.NodeJS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```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6332474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6332474"/>
            <a:ext cx="11277295" cy="32004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6615938"/>
            <a:ext cx="11277295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6332474"/>
            <a:ext cx="11002975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74395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#### 터미널 설치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```bash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brew install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```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7210044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7210044"/>
            <a:ext cx="11277295" cy="320040"/>
          </a:xfrm>
          <a:prstGeom prst="rect">
            <a:avLst/>
          </a:prstGeom>
          <a:solidFill>
            <a:srgbClr val="E6F4F0"/>
          </a:solidFill>
          <a:ln w="12700">
            <a:solidFill>
              <a:srgbClr val="E6F4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7493508"/>
            <a:ext cx="11277295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7210044"/>
            <a:ext cx="11002975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" y="762152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#### PowerShell 설치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```powershell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winget install OpenJS.NodeJS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```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faq-list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325114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faq-list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클릭해 펼치는 FAQ 아코디언입니다.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14782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1386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faq-list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"PPTX 변환도 같은 MD를 쓰나요?"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"네. 같은 숏코드 입력을 HTML과 PPTX 렌더러가 함께 사용합니다."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"HTML을 직접 넣어야 하나요?"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"아니요. 쇼케이스와 가이드는 숏코드 문법으로 작성하는 것이 원칙입니다."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605274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E6F4F0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605274"/>
            <a:ext cx="54864" cy="69977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660138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PPTX 변환도 같은 MD를 쓰나요?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" y="5053838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네. 같은 숏코드 입력을 HTML과 PPTX 렌더러가 함께 사용합니다.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5373624"/>
            <a:ext cx="11277295" cy="699770"/>
          </a:xfrm>
          <a:prstGeom prst="roundRect">
            <a:avLst>
              <a:gd name="adj" fmla="val 10454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5373624"/>
            <a:ext cx="54864" cy="69977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5428488"/>
            <a:ext cx="11130991" cy="393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8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HTML을 직접 넣어야 하나요?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66928" y="5822188"/>
            <a:ext cx="11130991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아니요. 쇼케이스와 가이드는 숏코드 문법으로 작성하는 것이 원칙입니다.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console-box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3541014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console-box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프롬프트나 콘솔 출력 예시를 어두운 박스로 보여줍니다.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16941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1602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console-box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"가이드 생성 요청"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Obsidian 가이드를 작성해줘.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network-box로 지식 그래프 예시를 포함하고,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마지막에는 faq-list를 넣어줘.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821174"/>
            <a:ext cx="11277295" cy="952500"/>
          </a:xfrm>
          <a:prstGeom prst="roundRect">
            <a:avLst>
              <a:gd name="adj" fmla="val 7680"/>
            </a:avLst>
          </a:prstGeom>
          <a:solidFill>
            <a:srgbClr val="0F172A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821174"/>
            <a:ext cx="11277295" cy="36576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004054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B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가이드 생성 요청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5374894"/>
            <a:ext cx="10820095" cy="26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Obsidian 가이드를 작성해줘.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network-box로 지식 그래프 예시를 포함하고,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마지막에는 faq-list를 넣어줘.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git-flow-strip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188714"/>
          </a:xfrm>
          <a:prstGeom prst="roundRect">
            <a:avLst>
              <a:gd name="adj" fmla="val 174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git-flow-strip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 라인과 커밋 라벨을 가진 Git 흐름도입니다.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3418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25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git-flow-strip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"main"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"v1.1.0"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"쇼케이스 MD 정리|HTML/PPTX 변환 통과"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"#10B981"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"feature/restore-md"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"Commit 701"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"원본 콘텐츠 복원|신형 숏코드 반영"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"#3B82F6"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468874"/>
            <a:ext cx="5524348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5852922"/>
            <a:ext cx="54146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2064" y="6090666"/>
            <a:ext cx="541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쇼케이스 MD 정리|HTML/PPTX 변환 통과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81548" y="580263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0148" y="5468874"/>
            <a:ext cx="5524348" cy="868680"/>
          </a:xfrm>
          <a:prstGeom prst="roundRect">
            <a:avLst>
              <a:gd name="adj" fmla="val 8421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5012" y="5852922"/>
            <a:ext cx="54146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feature/restore-md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5012" y="6090666"/>
            <a:ext cx="54146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콘텐츠 복원|신형 숏코드 반영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editor-box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188714"/>
          </a:xfrm>
          <a:prstGeom prst="roundRect">
            <a:avLst>
              <a:gd name="adj" fmla="val 1746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editor-box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VS Code 느낌의 코드 편집기 시뮬레이션입니다.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3418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25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editor-box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"build-guide.mjs"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tag: "javascript"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desc: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 renderShortcode(type, body, args)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items = parseShortcodeItems(body);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(!items.length) return "";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renderComponent(type, items, args);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468874"/>
            <a:ext cx="11277295" cy="1609852"/>
          </a:xfrm>
          <a:prstGeom prst="roundRect">
            <a:avLst>
              <a:gd name="adj" fmla="val 4544"/>
            </a:avLst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5468874"/>
            <a:ext cx="11277295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5468874"/>
            <a:ext cx="78941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build-guide.mjs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37215" y="546887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A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" y="5816346"/>
            <a:ext cx="11057839" cy="1216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renderShortcode(type, body, args)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items = parseShortcodeItems(body);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(!items.length) return "";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renderComponent(type, items, args);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network-box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4836414"/>
          </a:xfrm>
          <a:prstGeom prst="roundRect">
            <a:avLst>
              <a:gd name="adj" fmla="val 1513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숏코드 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network-box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 노드와 주변 노드가 떠 있는 지식 그래프 시각화입니다.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295144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숏코드 입력내용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69794"/>
            <a:ext cx="10820095" cy="2989580"/>
          </a:xfrm>
          <a:prstGeom prst="rect">
            <a:avLst/>
          </a:prstGeom>
          <a:solidFill>
            <a:srgbClr val="0F172A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742946"/>
            <a:ext cx="10600639" cy="2898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 network-box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"Creative Spark"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"#EC4899"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"HTML"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"build-guide"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"#10B981"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"PPTX"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"md-to-pptx"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"#3B82F6"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title: "Markdown"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"shortcode"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"#F59E0B"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\:::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611657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EC4899">
              <a:alpha val="5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6116574"/>
            <a:ext cx="2716454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20801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Spark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10814" y="611657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10B981">
              <a:alpha val="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0814" y="6116574"/>
            <a:ext cx="2716454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0542" y="620801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20542" y="7076694"/>
            <a:ext cx="2496998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20542" y="707669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build-guide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64428" y="611657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3B82F6">
              <a:alpha val="5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64428" y="6116574"/>
            <a:ext cx="2716454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4156" y="620801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PPTX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74156" y="7076694"/>
            <a:ext cx="2496998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74156" y="707669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md-to-pptx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9018041" y="6116574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59E0B">
              <a:alpha val="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18041" y="6116574"/>
            <a:ext cx="2716454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27769" y="6208014"/>
            <a:ext cx="2496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Markdown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127769" y="7076694"/>
            <a:ext cx="2496998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27769" y="7076694"/>
            <a:ext cx="24969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shortcode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2026-05-28T01:28:45Z</dcterms:created>
  <dcterms:modified xsi:type="dcterms:W3CDTF">2026-05-28T01:28:45Z</dcterms:modified>
</cp:coreProperties>
</file>