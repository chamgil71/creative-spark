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103120"/>
            <a:ext cx="164592" cy="155448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194560"/>
            <a:ext cx="1082009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Creative Spark 숏코드 쇼케이스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3291840"/>
            <a:ext cx="108200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등록된 숏코드의 입력 문법과 HTML 구현 결과를 함께 확인하는 레퍼런스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374904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29종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4078224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 숏코드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377440" y="374904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8개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377440" y="4078224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입력 키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40480" y="374904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HTML/PPTX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840480" y="4078224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 변환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303520" y="374904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cols/bullet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303520" y="4078224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인자 제어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지원 숏코드 목록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2615184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Group A: 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icon-grid, feature-grid, badge-grid, stat-grid, columns-grid, compare-grid, plan-grid, level-grid, checkpoint-grid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Group B: 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step-list, skill-list, chapter-list, faq-list, tool-list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Group C: Flow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workflow-flow, git-flow, step-flow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Group D: 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alert-box, cmd-box, console-box, editor-box, network-box, summary-box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Group E: Split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compare-split, compare-diff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Group F: Banner &amp; Bar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part-banner, takeaway-banner, summary-bar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Group G: Interactive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os-tabs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표준 입력 키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245866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3606698"/>
                <a:gridCol w="3606698"/>
                <a:gridCol w="360669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icon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아이콘, 수치, 짧은 시각 라벨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이모지 또는 짧은 문자열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title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카드/항목 제목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필수에 가까운 기본 키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desc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본문 설명 또는 코드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\n으로 구분하면 불릿 목록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tag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배지, 상태, 언어 라벨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플랜명, 추천, OS명 등에 사용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meta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추가 목록, 칩, 피처 리스트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|로 여러 항목 구분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note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하단 배지·메모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\n → · 구분; plan-grid에서 가격 배지로 사용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color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개별 강조색 + SVG 불릿 색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Hex 색상 권장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bullet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아이템별 불릿 기호 오버라이드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bullet: "✅" — color보다 우선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3831336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숏코드별 예약 키: featured는 plan-grid 추천 플랜 강조, alert-box는 선언부 tip·warn·success·danger 타입을 읽습니다.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인자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2245614"/>
          </a:xfrm>
          <a:prstGeom prst="roundRect">
            <a:avLst>
              <a:gd name="adj" fmla="val 325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숏코드명 뒤에 공백으로 지정하며 복수 조합이 가능합니다.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00530"/>
          <a:ext cx="10820095" cy="914400"/>
        </p:xfrm>
        <a:graphic>
          <a:graphicData uri="http://schemas.openxmlformats.org/drawingml/2006/table">
            <a:tbl>
              <a:tblPr/>
              <a:tblGrid>
                <a:gridCol w="3606698"/>
                <a:gridCol w="3606698"/>
                <a:gridCol w="360669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cols=N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grid 계열 5종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CSS 컬럼 수 강제 지정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bullet=X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전체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블록 기본 불릿 기호 지정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85800" y="2669794"/>
            <a:ext cx="10820095" cy="398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07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feature-grid cols=3 bullet=✅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icon-grid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404614"/>
          </a:xfrm>
          <a:prstGeom prst="roundRect">
            <a:avLst>
              <a:gd name="adj" fmla="val 166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icon-grid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아이콘 중심의 기본 카드 그리드. 핵심 기능, 사용 사례, 장점 목록에 적합합니다.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icon-grid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"⚡"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"빠른 작업"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"반복 작업을 줄이고 결과물을 빠르게 만듭니다."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"🎨"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"쉬운 디자인"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"템플릿과 프리셋으로 초보자도 보기 좋은 결과를 만들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"🤝"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"팀 협업"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"링크 공유와 댓글로 팀 작업을 이어갈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684774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8640" y="5776214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⚡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548640" y="6215126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빠른 작업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48640" y="6489446"/>
            <a:ext cx="348477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작업을 줄이고 결과물을 빠르게 만듭니다.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262018" y="5684774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353458" y="5776214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🎨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4353458" y="6215126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쉬운 디자인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4353458" y="6489446"/>
            <a:ext cx="348477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템플릿과 프리셋으로 초보자도 보기 좋은 결과를 만들 수 있습니다.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066837" y="5684774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158277" y="5776214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🤝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8158277" y="6215126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협업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8158277" y="6489446"/>
            <a:ext cx="348477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링크 공유와 댓글로 팀 작업을 이어갈 수 있습니다.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700014"/>
          </a:xfrm>
          <a:prstGeom prst="roundRect">
            <a:avLst>
              <a:gd name="adj" fmla="val 128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feature-grid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상단 태그와 제목이 강조되는 설명형 기능 카드입니다.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8531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7617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feature-grid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"🧠"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"AI 자동화"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"핵심"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"입력 자료를 바탕으로 초안, 편집, 요약을 자동 생성합니다."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"#6366F1"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"🧰"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"템플릿 활용"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"실전"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"자주 쓰는 형식을 저장해 같은 품질의 결과물을 반복 제작합니다."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"#10B981"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"🔗"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"링크 배포"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"공유"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"완성된 결과를 링크나 파일로 공유하고 피드백을 받을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"#F59E0B"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980174"/>
            <a:ext cx="366765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6980174"/>
            <a:ext cx="3667658" cy="36576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7089902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566928" y="7309358"/>
            <a:ext cx="34482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🧠 AI 자동화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66928" y="7620254"/>
            <a:ext cx="344820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자료를 바탕으로 초안, 편집, 요약을 자동 생성합니다.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262018" y="6980174"/>
            <a:ext cx="366765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262018" y="6980174"/>
            <a:ext cx="3667658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371746" y="7089902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실전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4371746" y="7309358"/>
            <a:ext cx="34482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🧰 템플릿 활용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4371746" y="7620254"/>
            <a:ext cx="344820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자주 쓰는 형식을 저장해 같은 품질의 결과물을 반복 제작합니다.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8066837" y="6980174"/>
            <a:ext cx="366765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066837" y="6980174"/>
            <a:ext cx="3667658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76565" y="7089902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8176565" y="7309358"/>
            <a:ext cx="34482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🔗 링크 배포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8176565" y="7620254"/>
            <a:ext cx="344820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완성된 결과를 링크나 파일로 공유하고 피드백을 받을 수 있습니다.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badge-grid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badge-grid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작은 서비스/기능 배지를 조밀하게 나열합니다.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badge-grid cols=4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"🧪"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"테스트"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"Vitest"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"📦"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"빌드"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"Vite"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"🎞"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"슬라이드"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"웹"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"HTML"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3324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8640" y="6423914"/>
            <a:ext cx="253357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🧪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548640" y="6862826"/>
            <a:ext cx="253357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310814" y="63324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2254" y="6423914"/>
            <a:ext cx="253357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📦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3402254" y="6862826"/>
            <a:ext cx="253357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빌드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164428" y="63324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255868" y="6423914"/>
            <a:ext cx="253357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🎞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6255868" y="6862826"/>
            <a:ext cx="253357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슬라이드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9018041" y="63324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109481" y="6423914"/>
            <a:ext cx="253357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🌐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9109481" y="6862826"/>
            <a:ext cx="253357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404614"/>
          </a:xfrm>
          <a:prstGeom prst="roundRect">
            <a:avLst>
              <a:gd name="adj" fmla="val 166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수치와 짧은 설명을 강조하는 통계 카드입니다.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stat-grid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"29종"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"숏코드"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"현재 빌더가 렌더링하는 컴포넌트 수"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"출력"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"HTML과 PPTX를 같은 MD에서 생성"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"8개"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"표준 키"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"icon·title·desc·tag·meta·note·color·bullet"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684774"/>
            <a:ext cx="366765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684774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" y="5776214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29종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548640" y="6233414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48640" y="6489446"/>
            <a:ext cx="348477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빌더가 렌더링하는 컴포넌트 수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4262018" y="5684774"/>
            <a:ext cx="366765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262018" y="5684774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353458" y="5776214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2종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4353458" y="6233414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4353458" y="6489446"/>
            <a:ext cx="348477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HTML과 PPTX를 같은 MD에서 생성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8066837" y="5684774"/>
            <a:ext cx="366765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066837" y="5684774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58277" y="5776214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8개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8158277" y="6233414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키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158277" y="6489446"/>
            <a:ext cx="348477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icon·title·desc·tag·meta·note·color·bullet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columns-grid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404614"/>
          </a:xfrm>
          <a:prstGeom prst="roundRect">
            <a:avLst>
              <a:gd name="adj" fmla="val 166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columns-grid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 본문, 짧은 코드, 체크 항목을 균등한 다단 카드로 보여줍니다.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columns-grid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"웹 가이드로 바로 열람합니다."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"node scripts/build-guide.mjs guide.md"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"발표 슬라이드로 변환합니다."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"node scripts/md-to-pptx.mjs guide.md"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"Standalone"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"전체 가이드를 단일 HTML로 묶습니다."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"npm run build:standalone"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684774"/>
            <a:ext cx="2145731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684774"/>
            <a:ext cx="2145731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928" y="5794502"/>
            <a:ext cx="1926275" cy="292608"/>
          </a:xfrm>
          <a:prstGeom prst="roundRect">
            <a:avLst>
              <a:gd name="adj" fmla="val 18750"/>
            </a:avLst>
          </a:prstGeom>
          <a:solidFill>
            <a:srgbClr val="10A37F">
              <a:alpha val="7000"/>
            </a:srgbClr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5794502"/>
            <a:ext cx="192627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A3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HTML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66928" y="6160262"/>
            <a:ext cx="192627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가이드로 바로 열람합니다.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566928" y="6544310"/>
            <a:ext cx="1926275" cy="310896"/>
          </a:xfrm>
          <a:prstGeom prst="roundRect">
            <a:avLst>
              <a:gd name="adj" fmla="val 11765"/>
            </a:avLst>
          </a:prstGeom>
          <a:solidFill>
            <a:srgbClr val="10A37F">
              <a:alpha val="4000"/>
            </a:srgbClr>
          </a:solidFill>
          <a:ln/>
        </p:spPr>
      </p:sp>
      <p:sp>
        <p:nvSpPr>
          <p:cNvPr id="17" name="Text 14"/>
          <p:cNvSpPr/>
          <p:nvPr/>
        </p:nvSpPr>
        <p:spPr>
          <a:xfrm>
            <a:off x="603504" y="6544310"/>
            <a:ext cx="1853123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892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scripts/build-guide.mjs guide.md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2740091" y="5684774"/>
            <a:ext cx="2145731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740091" y="5684774"/>
            <a:ext cx="2145731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849819" y="5794502"/>
            <a:ext cx="1926275" cy="292608"/>
          </a:xfrm>
          <a:prstGeom prst="roundRect">
            <a:avLst>
              <a:gd name="adj" fmla="val 18750"/>
            </a:avLst>
          </a:prstGeom>
          <a:solidFill>
            <a:srgbClr val="10A37F">
              <a:alpha val="7000"/>
            </a:srgbClr>
          </a:solidFill>
          <a:ln/>
        </p:spPr>
      </p:sp>
      <p:sp>
        <p:nvSpPr>
          <p:cNvPr id="21" name="Text 18"/>
          <p:cNvSpPr/>
          <p:nvPr/>
        </p:nvSpPr>
        <p:spPr>
          <a:xfrm>
            <a:off x="2849819" y="5794502"/>
            <a:ext cx="192627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A3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PPTX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2849819" y="6160262"/>
            <a:ext cx="192627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슬라이드로 변환합니다.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2849819" y="6544310"/>
            <a:ext cx="1926275" cy="310896"/>
          </a:xfrm>
          <a:prstGeom prst="roundRect">
            <a:avLst>
              <a:gd name="adj" fmla="val 11765"/>
            </a:avLst>
          </a:prstGeom>
          <a:solidFill>
            <a:srgbClr val="10A37F">
              <a:alpha val="4000"/>
            </a:srgbClr>
          </a:solidFill>
          <a:ln/>
        </p:spPr>
      </p:sp>
      <p:sp>
        <p:nvSpPr>
          <p:cNvPr id="24" name="Text 21"/>
          <p:cNvSpPr/>
          <p:nvPr/>
        </p:nvSpPr>
        <p:spPr>
          <a:xfrm>
            <a:off x="2886395" y="6544310"/>
            <a:ext cx="1853123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892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scripts/md-to-pptx.mjs guide.md</a:t>
            </a:r>
            <a:endParaRPr lang="en-US" sz="750" dirty="0"/>
          </a:p>
        </p:txBody>
      </p:sp>
      <p:sp>
        <p:nvSpPr>
          <p:cNvPr id="25" name="Shape 22"/>
          <p:cNvSpPr/>
          <p:nvPr/>
        </p:nvSpPr>
        <p:spPr>
          <a:xfrm>
            <a:off x="5022982" y="5684774"/>
            <a:ext cx="2145731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022982" y="5684774"/>
            <a:ext cx="2145731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132710" y="5794502"/>
            <a:ext cx="1926275" cy="292608"/>
          </a:xfrm>
          <a:prstGeom prst="roundRect">
            <a:avLst>
              <a:gd name="adj" fmla="val 18750"/>
            </a:avLst>
          </a:prstGeom>
          <a:solidFill>
            <a:srgbClr val="10A37F">
              <a:alpha val="7000"/>
            </a:srgbClr>
          </a:solidFill>
          <a:ln/>
        </p:spPr>
      </p:sp>
      <p:sp>
        <p:nvSpPr>
          <p:cNvPr id="28" name="Text 25"/>
          <p:cNvSpPr/>
          <p:nvPr/>
        </p:nvSpPr>
        <p:spPr>
          <a:xfrm>
            <a:off x="5132710" y="5794502"/>
            <a:ext cx="192627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A3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Standalone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5132710" y="6160262"/>
            <a:ext cx="192627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가이드를 단일 HTML로 묶습니다.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5132710" y="6544310"/>
            <a:ext cx="1926275" cy="310896"/>
          </a:xfrm>
          <a:prstGeom prst="roundRect">
            <a:avLst>
              <a:gd name="adj" fmla="val 11765"/>
            </a:avLst>
          </a:prstGeom>
          <a:solidFill>
            <a:srgbClr val="10A37F">
              <a:alpha val="4000"/>
            </a:srgbClr>
          </a:solidFill>
          <a:ln/>
        </p:spPr>
      </p:sp>
      <p:sp>
        <p:nvSpPr>
          <p:cNvPr id="31" name="Text 28"/>
          <p:cNvSpPr/>
          <p:nvPr/>
        </p:nvSpPr>
        <p:spPr>
          <a:xfrm>
            <a:off x="5169286" y="6544310"/>
            <a:ext cx="1853123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892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build:standalone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compare-grid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188714"/>
          </a:xfrm>
          <a:prstGeom prst="roundRect">
            <a:avLst>
              <a:gd name="adj" fmla="val 174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compare-grid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여러 선택지를 카드로 비교합니다. note가 있으면 하단 노트로 우선 표시하고, 없으면 meta를 노트처럼 표시합니다.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3418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25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compare-grid cols=2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"수동 HTML"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"표현 자유도는 높지만 유지보수와 PPTX 변환이 어렵습니다."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"디자인 고정이 필요한 특수 페이지에 적합"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"#EF4444"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"숏코드 MD"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"표준 입력만으로 HTML과 PPTX를 동시에 생성할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"가이드와 교육 자료에 적합"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"#10B981"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468874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EF4444">
              <a:alpha val="5000"/>
            </a:srgbClr>
          </a:solidFill>
          <a:ln w="9525">
            <a:solidFill>
              <a:srgbClr val="EF444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468874"/>
            <a:ext cx="5570068" cy="3657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5560314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수동 HTML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66928" y="5852922"/>
            <a:ext cx="53506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표현 자유도는 높지만 유지보수와 PPTX 변환이 어렵습니다.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66928" y="6428994"/>
            <a:ext cx="5350612" cy="256032"/>
          </a:xfrm>
          <a:prstGeom prst="roundRect">
            <a:avLst>
              <a:gd name="adj" fmla="val 21429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66928" y="6428994"/>
            <a:ext cx="53506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디자인 고정이 필요한 특수 페이지에 적합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164428" y="5468874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10B981">
              <a:alpha val="5000"/>
            </a:srgbClr>
          </a:solidFill>
          <a:ln w="9525">
            <a:solidFill>
              <a:srgbClr val="10B98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164428" y="5468874"/>
            <a:ext cx="5570068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74156" y="5560314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MD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274156" y="5852922"/>
            <a:ext cx="53506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입력만으로 HTML과 PPTX를 동시에 생성할 수 있습니다.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274156" y="6428994"/>
            <a:ext cx="5350612" cy="256032"/>
          </a:xfrm>
          <a:prstGeom prst="roundRect">
            <a:avLst>
              <a:gd name="adj" fmla="val 21429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74156" y="6428994"/>
            <a:ext cx="53506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가이드와 교육 자료에 적합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484114"/>
          </a:xfrm>
          <a:prstGeom prst="roundRect">
            <a:avLst>
              <a:gd name="adj" fmla="val 133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plan-grid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요금제, 모델 등급, 옵션 비교에 쓰는 플랜 카드입니다. note가 하단 가격 배지로 표시됩니다.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6372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54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plan-grid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"Free"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"무료"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"기본 기능|일일 제한|커뮤니티 지원"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"지금 시작"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"Pro"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"추천"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"무제한 사용|고급 기능|우선 지원"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"$20 / 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featured: "true"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"#6366F1"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"Team"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"권한 관리|공유 워크스페이스|관리자 콘솔"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"문의"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764274"/>
            <a:ext cx="3667658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6764274"/>
            <a:ext cx="3667658" cy="4572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928" y="6947154"/>
            <a:ext cx="1097280" cy="201168"/>
          </a:xfrm>
          <a:prstGeom prst="roundRect">
            <a:avLst>
              <a:gd name="adj" fmla="val 36364"/>
            </a:avLst>
          </a:prstGeom>
          <a:solidFill>
            <a:srgbClr val="E6F4F0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66928" y="6947154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566928" y="718489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Free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66928" y="7477506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기본 기능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66928" y="773353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일일 제한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566928" y="7989570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커뮤니티 지원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66928" y="8282178"/>
            <a:ext cx="3448202" cy="201168"/>
          </a:xfrm>
          <a:prstGeom prst="roundRect">
            <a:avLst>
              <a:gd name="adj" fmla="val 27273"/>
            </a:avLst>
          </a:prstGeom>
          <a:solidFill>
            <a:srgbClr val="E6F4F0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66928" y="8282178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시작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4262018" y="6764274"/>
            <a:ext cx="3667658" cy="1920240"/>
          </a:xfrm>
          <a:prstGeom prst="roundRect">
            <a:avLst>
              <a:gd name="adj" fmla="val 3810"/>
            </a:avLst>
          </a:prstGeom>
          <a:solidFill>
            <a:srgbClr val="6366F1">
              <a:alpha val="5000"/>
            </a:srgbClr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262018" y="6764274"/>
            <a:ext cx="3667658" cy="4572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371746" y="6947154"/>
            <a:ext cx="1097280" cy="201168"/>
          </a:xfrm>
          <a:prstGeom prst="roundRect">
            <a:avLst>
              <a:gd name="adj" fmla="val 36364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371746" y="6947154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4371746" y="718489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4371746" y="7477506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무제한 사용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4371746" y="773353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고급 기능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4371746" y="7989570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우선 지원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371746" y="8282178"/>
            <a:ext cx="3448202" cy="201168"/>
          </a:xfrm>
          <a:prstGeom prst="roundRect">
            <a:avLst>
              <a:gd name="adj" fmla="val 27273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371746" y="8282178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$20 / 월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8066837" y="6764274"/>
            <a:ext cx="3667658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066837" y="6764274"/>
            <a:ext cx="3667658" cy="4572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176565" y="6947154"/>
            <a:ext cx="1097280" cy="201168"/>
          </a:xfrm>
          <a:prstGeom prst="roundRect">
            <a:avLst>
              <a:gd name="adj" fmla="val 36364"/>
            </a:avLst>
          </a:prstGeom>
          <a:solidFill>
            <a:srgbClr val="E6F4F0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176565" y="6947154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</a:t>
            </a:r>
            <a:endParaRPr lang="en-US" sz="800" dirty="0"/>
          </a:p>
        </p:txBody>
      </p:sp>
      <p:sp>
        <p:nvSpPr>
          <p:cNvPr id="35" name="Text 32"/>
          <p:cNvSpPr/>
          <p:nvPr/>
        </p:nvSpPr>
        <p:spPr>
          <a:xfrm>
            <a:off x="8176565" y="718489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Team</a:t>
            </a:r>
            <a:endParaRPr lang="en-US" sz="1400" dirty="0"/>
          </a:p>
        </p:txBody>
      </p:sp>
      <p:sp>
        <p:nvSpPr>
          <p:cNvPr id="36" name="Text 33"/>
          <p:cNvSpPr/>
          <p:nvPr/>
        </p:nvSpPr>
        <p:spPr>
          <a:xfrm>
            <a:off x="8176565" y="7477506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권한 관리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8176565" y="773353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공유 워크스페이스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8176565" y="7989570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관리자 콘솔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8176565" y="8282178"/>
            <a:ext cx="3448202" cy="201168"/>
          </a:xfrm>
          <a:prstGeom prst="roundRect">
            <a:avLst>
              <a:gd name="adj" fmla="val 27273"/>
            </a:avLst>
          </a:prstGeom>
          <a:solidFill>
            <a:srgbClr val="E6F4F0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176565" y="8282178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문의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level-grid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404614"/>
          </a:xfrm>
          <a:prstGeom prst="roundRect">
            <a:avLst>
              <a:gd name="adj" fmla="val 166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level-grid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난이도, 단계, 도메인 스펙트럼 로드맵 등을 가로형 카드 그리드로 렌더링해 줍니다.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level-grid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"LEVEL 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"코드 자동완성"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"GitHub Copilot 인라인"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"다음 줄 예측, Tab으로 수락"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"LEVEL 2"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"대화형 생성"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"Claude.ai, ChatGPT"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"요청 → 붙여넣기 → 실행"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"highlight"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684774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684774"/>
            <a:ext cx="557006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5776214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LEVEL 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66928" y="6068822"/>
            <a:ext cx="53506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자동완성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66928" y="6644894"/>
            <a:ext cx="5350612" cy="256032"/>
          </a:xfrm>
          <a:prstGeom prst="roundRect">
            <a:avLst>
              <a:gd name="adj" fmla="val 21429"/>
            </a:avLst>
          </a:prstGeom>
          <a:solidFill>
            <a:srgbClr val="E6F4F0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66928" y="6644894"/>
            <a:ext cx="53506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줄 예측, Tab으로 수락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164428" y="5684774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164428" y="5684774"/>
            <a:ext cx="557006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74156" y="5776214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LEVEL 2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274156" y="6068822"/>
            <a:ext cx="53506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대화형 생성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274156" y="6644894"/>
            <a:ext cx="5350612" cy="256032"/>
          </a:xfrm>
          <a:prstGeom prst="roundRect">
            <a:avLst>
              <a:gd name="adj" fmla="val 21429"/>
            </a:avLst>
          </a:prstGeom>
          <a:solidFill>
            <a:srgbClr val="E6F4F0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74156" y="6644894"/>
            <a:ext cx="53506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→ 붙여넣기 → 실행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checkpoint-grid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756914"/>
          </a:xfrm>
          <a:prstGeom prst="roundRect">
            <a:avLst>
              <a:gd name="adj" fmla="val 194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checkpoint-grid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검수 타이밍, 주요 체크포인트를 이모지와 가로 뱃지 형식으로 나열해 줍니다.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9100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81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checkpoint-grid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"계획 수립 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"방향이 맞는지 확인"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"1️⃣"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"1단계 완료 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"입력 데이터 검증"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037074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8640" y="5128514"/>
            <a:ext cx="53871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📐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548640" y="5567426"/>
            <a:ext cx="53871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 수립 후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48640" y="5841746"/>
            <a:ext cx="538718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방향이 맞는지 확인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164428" y="5037074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55868" y="5128514"/>
            <a:ext cx="53871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1️⃣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6255868" y="5567426"/>
            <a:ext cx="53871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 완료 후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255868" y="5841746"/>
            <a:ext cx="538718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데이터 검증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756914"/>
          </a:xfrm>
          <a:prstGeom prst="roundRect">
            <a:avLst>
              <a:gd name="adj" fmla="val 194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step-list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번호가 붙는 세로 단계 리스트입니다. desc에 \n을 쓰면 불릿 목록이 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9100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81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step-list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"MD 작성"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"표준 키와 숏코드로 콘텐츠를 작성합니다."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 빌드"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"build-guide.mjs로 가이드 HTML을 생성합니다."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"PPTX 빌드"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"md-to-pptx.mjs로 발표 자료를 생성합니다."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037074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17423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" y="517423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042416" y="5101082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MD 작성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42416" y="5347970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키와 숏코드로 콘텐츠를 작성합니다.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57200" y="5832602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48640" y="5969762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48640" y="596976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042416" y="5896610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 빌드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042416" y="6143498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build-guide.mjs로 가이드 HTML을 생성합니다.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57200" y="662813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676529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676529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042416" y="6692138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PPTX 빌드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1042416" y="6939026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md-to-pptx.mjs로 발표 자료를 생성합니다.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skill-list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404614"/>
          </a:xfrm>
          <a:prstGeom prst="roundRect">
            <a:avLst>
              <a:gd name="adj" fmla="val 166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skill-list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기능이나 역량을 행 형태로 나열합니다.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skill-list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"문서 자동화"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"보고서와 제안서를 빠르게 생성합니다."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"🔗"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"API 연동"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"기존 시스템과 데이터를 연결합니다."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"📊"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"분석 대시보드"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"실시간 데이터를 시각화합니다."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684774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82193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" y="582193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042416" y="5748782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자동화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42416" y="5995670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보고서와 제안서를 빠르게 생성합니다.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57200" y="6480302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48640" y="6617462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48640" y="661746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042416" y="6544310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연동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042416" y="6791198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시스템과 데이터를 연결합니다.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57200" y="727583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741299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741299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042416" y="7339838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대시보드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1042416" y="7586726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데이터를 시각화합니다.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chapter-list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세부 목차 및 챕터 리스트 숏코드입니다. 챕터 번호와 뱃지 속성에 따라 HSL 배지 색상이 자동 매핑됩니다.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chapter-list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"01"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"바이브코딩이란?"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"Karpathy 발언 배경 · 전통 코딩 vs 바이브코딩 · LLM 발전"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"개념"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"02"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"에이전트 코딩이란?"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"계획→실행→수정 루프 · 레벨 1~5 스펙트럼 · 바이브코딩과 차이"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"개념"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"04"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"첫 대화: 프롬프트 설계"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"요구사항 명세 · 컨텍스트 주입 전략 · SKILL.md 재사용 지시"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"실습"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332474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646963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" y="646963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042416" y="6396482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바이브코딩이란?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42416" y="6643370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Karpathy 발언 배경 · 전통 코딩 vs 바이브코딩 · LLM 발전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57200" y="7128002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48640" y="7265162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48640" y="726516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042416" y="7192010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 코딩이란?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042416" y="7438898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계획→실행→수정 루프 · 레벨 1~5 스펙트럼 · 바이브코딩과 차이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57200" y="792353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806069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806069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042416" y="7987538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대화: 프롬프트 설계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1042416" y="8234426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명세 · 컨텍스트 주입 전략 · SKILL.md 재사용 지시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faq-list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325114"/>
          </a:xfrm>
          <a:prstGeom prst="roundRect">
            <a:avLst>
              <a:gd name="adj" fmla="val 220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faq-list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클릭해 펼치는 FAQ 아코디언입니다.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4782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386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faq-list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"PPTX 변환도 같은 MD를 쓰나요?"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"네. 같은 숏코드 입력을 HTML과 PPTX 렌더러가 함께 사용합니다."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"HTML을 직접 넣어야 하나요?"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"아니요. 쇼케이스와 가이드는 숏코드 문법으로 작성하는 것이 원칙입니다."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605274"/>
            <a:ext cx="11277295" cy="699770"/>
          </a:xfrm>
          <a:prstGeom prst="roundRect">
            <a:avLst>
              <a:gd name="adj" fmla="val 10454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4605274"/>
            <a:ext cx="54864" cy="69977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4660138"/>
            <a:ext cx="11130991" cy="3937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 PPTX 변환도 같은 MD를 쓰나요?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66928" y="5053838"/>
            <a:ext cx="11130991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 네. 같은 숏코드 입력을 HTML과 PPTX 렌더러가 함께 사용합니다.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" y="5373624"/>
            <a:ext cx="11277295" cy="699770"/>
          </a:xfrm>
          <a:prstGeom prst="roundRect">
            <a:avLst>
              <a:gd name="adj" fmla="val 1045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57200" y="5373624"/>
            <a:ext cx="54864" cy="69977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66928" y="5428488"/>
            <a:ext cx="11130991" cy="3937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 HTML을 직접 넣어야 하나요?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66928" y="5822188"/>
            <a:ext cx="11130991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 아니요. 쇼케이스와 가이드는 숏코드 문법으로 작성하는 것이 원칙입니다.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색상 헤더와 피처 목록을 가진 도구 소개 카드입니다.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tool-list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"ChatGPT"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"OpenAI의 대화형 AI 어시스턴트"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"무료/Pro"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"텍스트 생성|파일 분석|이미지 생성|코드 실행"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"#10A37F"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"💻"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"Cursor"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"AI 코드 에디터"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"Pro"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"코드베이스 인덱싱|멀티 파일 편집|자동완성"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"#2563EB"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332474"/>
            <a:ext cx="11277295" cy="1883664"/>
          </a:xfrm>
          <a:prstGeom prst="roundRect">
            <a:avLst>
              <a:gd name="adj" fmla="val 1942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6332474"/>
            <a:ext cx="11277295" cy="731520"/>
          </a:xfrm>
          <a:prstGeom prst="roundRect">
            <a:avLst>
              <a:gd name="adj" fmla="val 500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57200" y="6972554"/>
            <a:ext cx="11277295" cy="9144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3504" y="6332474"/>
            <a:ext cx="47548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💬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33856" y="6423914"/>
            <a:ext cx="946678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ChatGPT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133856" y="6698234"/>
            <a:ext cx="9466783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DD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OpenAI의 대화형 AI 어시스턴트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0655503" y="659765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무료/Pro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731520" y="7173722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텍스트 생성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731520" y="7393178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파일 분석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31520" y="7612634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이미지 생성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731520" y="7832090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코드 실행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57200" y="8353298"/>
            <a:ext cx="11277295" cy="1664208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8353298"/>
            <a:ext cx="11277295" cy="73152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8993378"/>
            <a:ext cx="11277295" cy="914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03504" y="8353298"/>
            <a:ext cx="47548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💻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1133856" y="8444738"/>
            <a:ext cx="946678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Cursor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1133856" y="8719058"/>
            <a:ext cx="9466783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DD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코드 에디터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10655503" y="8618474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731520" y="9194546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코드베이스 인덱싱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731520" y="9414002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멀티 파일 편집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731520" y="9633458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자동완성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workflow-flow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workflow-flow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아이콘과 화살표로 이어지는 가로 흐름도입니다.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workflow-flow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"💡"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"아이디어"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"요구사항 정리"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"⚡"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"초안"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"AI 생성"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"검토"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"사람 확인"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"📤"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"배포"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"HTML/PPTX"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332474"/>
            <a:ext cx="2647874" cy="868680"/>
          </a:xfrm>
          <a:prstGeom prst="roundRect">
            <a:avLst>
              <a:gd name="adj" fmla="val 8421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6405626"/>
            <a:ext cx="26478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💡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512064" y="6716522"/>
            <a:ext cx="253814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아이디어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12064" y="6954266"/>
            <a:ext cx="253814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정리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3105074" y="666623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333674" y="6332474"/>
            <a:ext cx="2647874" cy="868680"/>
          </a:xfrm>
          <a:prstGeom prst="roundRect">
            <a:avLst>
              <a:gd name="adj" fmla="val 8421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333674" y="6405626"/>
            <a:ext cx="26478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⚡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3388538" y="6716522"/>
            <a:ext cx="253814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초안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3388538" y="6954266"/>
            <a:ext cx="253814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생성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5981548" y="666623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210148" y="6332474"/>
            <a:ext cx="2647874" cy="868680"/>
          </a:xfrm>
          <a:prstGeom prst="roundRect">
            <a:avLst>
              <a:gd name="adj" fmla="val 8421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10148" y="6405626"/>
            <a:ext cx="26478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✅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6265012" y="6716522"/>
            <a:ext cx="253814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265012" y="6954266"/>
            <a:ext cx="253814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확인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858021" y="666623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9086621" y="6332474"/>
            <a:ext cx="2647874" cy="868680"/>
          </a:xfrm>
          <a:prstGeom prst="roundRect">
            <a:avLst>
              <a:gd name="adj" fmla="val 8421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086621" y="6405626"/>
            <a:ext cx="26478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📤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9141485" y="6716522"/>
            <a:ext cx="253814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9141485" y="6954266"/>
            <a:ext cx="253814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HTML/PPTX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git-flow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188714"/>
          </a:xfrm>
          <a:prstGeom prst="roundRect">
            <a:avLst>
              <a:gd name="adj" fmla="val 174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git-flow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브랜치 라인과 커밋 라벨을 가진 Git 흐름도입니다.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3418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25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git-flow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"main"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"v2.0.0"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"숏코드 29종 완비|bullet/color 개선"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"#10B981"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"feature/shortcode-refactor"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"Commit 812"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"bullet 블록 인자 추가|desc 멀티라인 통일"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"#3B82F6"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468874"/>
            <a:ext cx="5524348" cy="868680"/>
          </a:xfrm>
          <a:prstGeom prst="roundRect">
            <a:avLst>
              <a:gd name="adj" fmla="val 8421"/>
            </a:avLst>
          </a:prstGeom>
          <a:solidFill>
            <a:srgbClr val="10B981">
              <a:alpha val="10000"/>
            </a:srgbClr>
          </a:solidFill>
          <a:ln w="9525">
            <a:solidFill>
              <a:srgbClr val="10B98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12064" y="5852922"/>
            <a:ext cx="54146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12064" y="6090666"/>
            <a:ext cx="54146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29종 완비|bullet/color 개선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981548" y="580263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210148" y="5468874"/>
            <a:ext cx="5524348" cy="868680"/>
          </a:xfrm>
          <a:prstGeom prst="roundRect">
            <a:avLst>
              <a:gd name="adj" fmla="val 8421"/>
            </a:avLst>
          </a:prstGeom>
          <a:solidFill>
            <a:srgbClr val="3B82F6">
              <a:alpha val="10000"/>
            </a:srgbClr>
          </a:solidFill>
          <a:ln w="9525">
            <a:solidFill>
              <a:srgbClr val="3B82F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65012" y="5852922"/>
            <a:ext cx="54146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feature/shortcode-refactor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265012" y="6090666"/>
            <a:ext cx="54146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bullet 블록 인자 추가|desc 멀티라인 통일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step-flow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700014"/>
          </a:xfrm>
          <a:prstGeom prst="roundRect">
            <a:avLst>
              <a:gd name="adj" fmla="val 128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step-flow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단계별 수행 과정 및 가로 흐름 다이어그램을 카드와 화살표 그리드로 렌더링해 줍니다.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8531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7617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step-flow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"🧑"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"사람"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"원하는 것 설명"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"active"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"→"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"→"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"🤖"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"AI"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"코드 생성"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"→"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"→"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"완성"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"결과물"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"active"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980174"/>
            <a:ext cx="3606698" cy="1143000"/>
          </a:xfrm>
          <a:prstGeom prst="roundRect">
            <a:avLst>
              <a:gd name="adj" fmla="val 6400"/>
            </a:avLst>
          </a:prstGeom>
          <a:solidFill>
            <a:srgbClr val="10A37F">
              <a:alpha val="90000"/>
            </a:srgbClr>
          </a:solidFill>
          <a:ln w="19050">
            <a:solidFill>
              <a:srgbClr val="10A37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7053326"/>
            <a:ext cx="36066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🧑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512064" y="7364222"/>
            <a:ext cx="349697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12064" y="7620254"/>
            <a:ext cx="349697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DD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원하는 것 설명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063898" y="745109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292498" y="6980174"/>
            <a:ext cx="3606698" cy="1143000"/>
          </a:xfrm>
          <a:prstGeom prst="roundRect">
            <a:avLst>
              <a:gd name="adj" fmla="val 6400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292498" y="7053326"/>
            <a:ext cx="36066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🤖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347362" y="7364222"/>
            <a:ext cx="349697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347362" y="7620254"/>
            <a:ext cx="349697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생성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7899197" y="745109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8127797" y="6980174"/>
            <a:ext cx="3606698" cy="1143000"/>
          </a:xfrm>
          <a:prstGeom prst="roundRect">
            <a:avLst>
              <a:gd name="adj" fmla="val 6400"/>
            </a:avLst>
          </a:prstGeom>
          <a:solidFill>
            <a:srgbClr val="10A37F">
              <a:alpha val="90000"/>
            </a:srgbClr>
          </a:solidFill>
          <a:ln w="19050">
            <a:solidFill>
              <a:srgbClr val="10A37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127797" y="7053326"/>
            <a:ext cx="36066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✅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8182661" y="7364222"/>
            <a:ext cx="349697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8182661" y="7620254"/>
            <a:ext cx="349697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DD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결과물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alert-box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972814"/>
          </a:xfrm>
          <a:prstGeom prst="roundRect">
            <a:avLst>
              <a:gd name="adj" fmla="val 184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alert-box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tip, warn, success, danger 타입을 가진 알림 박스입니다.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1259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0345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alert-box tip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"작성 팁"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"긴 본문은 desc: | 멀티라인 블록으로 작성하세요."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alert-box warn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"주의"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"들여쓰기가 틀어지면 숏코드 파서가 항목을 잘못 읽을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252974"/>
            <a:ext cx="11277295" cy="974090"/>
          </a:xfrm>
          <a:prstGeom prst="roundRect">
            <a:avLst>
              <a:gd name="adj" fmla="val 7510"/>
            </a:avLst>
          </a:prstGeom>
          <a:solidFill>
            <a:srgbClr val="F0FDF4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252974"/>
            <a:ext cx="73152" cy="97409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1792" y="5435854"/>
            <a:ext cx="11076127" cy="370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 팁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21792" y="5806694"/>
            <a:ext cx="11076127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65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 본문은 desc: | 멀티라인 블록으로 작성하세요.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" y="6501384"/>
            <a:ext cx="11277295" cy="974090"/>
          </a:xfrm>
          <a:prstGeom prst="roundRect">
            <a:avLst>
              <a:gd name="adj" fmla="val 7510"/>
            </a:avLst>
          </a:prstGeom>
          <a:solidFill>
            <a:srgbClr val="FFFBEB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57200" y="6501384"/>
            <a:ext cx="73152" cy="97409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21792" y="6684264"/>
            <a:ext cx="11076127" cy="370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21792" y="7055104"/>
            <a:ext cx="11076127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들여쓰기가 틀어지면 숏코드 파서가 항목을 잘못 읽을 수 있습니다.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cmd-box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109214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cmd-box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복사 버튼이 있는 터미널 명령어 블록입니다.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2623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1709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cmd-box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 빌드"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"bash"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"node scripts/build-guide.mjs md_src/showcase/showcase.md"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389374"/>
            <a:ext cx="11277295" cy="746252"/>
          </a:xfrm>
          <a:prstGeom prst="roundRect">
            <a:avLst>
              <a:gd name="adj" fmla="val 9803"/>
            </a:avLst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4389374"/>
            <a:ext cx="11277295" cy="320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4389374"/>
            <a:ext cx="7894107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HTML 빌드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0637215" y="4389374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0A37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66928" y="4736846"/>
            <a:ext cx="11057839" cy="3530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 scripts/build-guide.mjs md_src/showcase/showcase.md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console-box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541014"/>
          </a:xfrm>
          <a:prstGeom prst="roundRect">
            <a:avLst>
              <a:gd name="adj" fmla="val 206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console-box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프롬프트나 콘솔 출력 예시를 어두운 박스로 보여줍니다.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6941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6027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console-box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"가이드 생성 요청"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Obsidian 가이드를 작성해줘.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network-box로 지식 그래프 예시를 포함하고,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마지막에는 faq-list를 넣어줘.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821174"/>
            <a:ext cx="11277295" cy="952500"/>
          </a:xfrm>
          <a:prstGeom prst="roundRect">
            <a:avLst>
              <a:gd name="adj" fmla="val 7680"/>
            </a:avLst>
          </a:prstGeom>
          <a:solidFill>
            <a:srgbClr val="0F172A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4821174"/>
            <a:ext cx="11277295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5004054"/>
            <a:ext cx="10820095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8B2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가이드 생성 요청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5374894"/>
            <a:ext cx="10820095" cy="2616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Obsidian 가이드를 작성해줘.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network-box로 지식 그래프 예시를 포함하고,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마지막에는 faq-list를 넣어줘.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editor-box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188714"/>
          </a:xfrm>
          <a:prstGeom prst="roundRect">
            <a:avLst>
              <a:gd name="adj" fmla="val 174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editor-box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VS Code 느낌의 코드 편집기 시뮬레이션입니다.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3418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25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editor-box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"build-guide.mjs"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"javascript"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function renderShortcode(type, body, args)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const items = parseShortcodeItems(body);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if (!items.length) return "";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return renderComponent(type, items, args);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468874"/>
            <a:ext cx="11277295" cy="1609852"/>
          </a:xfrm>
          <a:prstGeom prst="roundRect">
            <a:avLst>
              <a:gd name="adj" fmla="val 4544"/>
            </a:avLst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468874"/>
            <a:ext cx="11277295" cy="320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5468874"/>
            <a:ext cx="7894107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build-guide.mjs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0637215" y="5468874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0A37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66928" y="5816346"/>
            <a:ext cx="11057839" cy="12166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renderShortcode(type, body, args)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items = parseShortcodeItems(body);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(!items.length) return "";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renderComponent(type, items, args);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network-box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836414"/>
          </a:xfrm>
          <a:prstGeom prst="roundRect">
            <a:avLst>
              <a:gd name="adj" fmla="val 151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network-box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중앙 노드와 주변 노드가 떠 있는 지식 그래프 시각화입니다.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9895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8981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network-box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"Creative Spark"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"#EC4899"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"build-guide"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"#10B981"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"md-to-pptx"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"#3B82F6"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"Markdown"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"shortcode"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"#F59E0B"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1165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EC4899">
              <a:alpha val="5000"/>
            </a:srgbClr>
          </a:solidFill>
          <a:ln w="9525">
            <a:solidFill>
              <a:srgbClr val="EC489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6116574"/>
            <a:ext cx="2716454" cy="3657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6208014"/>
            <a:ext cx="24969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Creative Spark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310814" y="61165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10B981">
              <a:alpha val="5000"/>
            </a:srgbClr>
          </a:solidFill>
          <a:ln w="9525">
            <a:solidFill>
              <a:srgbClr val="10B98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0814" y="6116574"/>
            <a:ext cx="2716454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420542" y="6208014"/>
            <a:ext cx="24969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3420542" y="7076694"/>
            <a:ext cx="2496998" cy="256032"/>
          </a:xfrm>
          <a:prstGeom prst="roundRect">
            <a:avLst>
              <a:gd name="adj" fmla="val 21429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420542" y="7076694"/>
            <a:ext cx="249699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build-guide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6164428" y="61165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3B82F6">
              <a:alpha val="5000"/>
            </a:srgbClr>
          </a:solidFill>
          <a:ln w="9525">
            <a:solidFill>
              <a:srgbClr val="3B82F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164428" y="6116574"/>
            <a:ext cx="2716454" cy="3657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274156" y="6208014"/>
            <a:ext cx="24969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PPTX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274156" y="7076694"/>
            <a:ext cx="2496998" cy="256032"/>
          </a:xfrm>
          <a:prstGeom prst="roundRect">
            <a:avLst>
              <a:gd name="adj" fmla="val 21429"/>
            </a:avLst>
          </a:prstGeom>
          <a:solidFill>
            <a:srgbClr val="3B82F6">
              <a:alpha val="15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274156" y="7076694"/>
            <a:ext cx="249699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md-to-pptx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9018041" y="61165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F59E0B">
              <a:alpha val="5000"/>
            </a:srgbClr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018041" y="6116574"/>
            <a:ext cx="2716454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127769" y="6208014"/>
            <a:ext cx="24969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Markdown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9127769" y="7076694"/>
            <a:ext cx="2496998" cy="256032"/>
          </a:xfrm>
          <a:prstGeom prst="roundRect">
            <a:avLst>
              <a:gd name="adj" fmla="val 21429"/>
            </a:avLst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127769" y="7076694"/>
            <a:ext cx="249699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shortcode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summary-box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109214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summary-box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본문 설명 아래에 여러 칩을 붙이는 요약 카드입니다.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2623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1709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summary-box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"핵심 요약"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"숏코드 MD는 콘텐츠와 표현을 분리하여 반복 제작을 쉽게 만듭니다."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"HTML 자동 생성|PPTX 자동 생성|표준 키 사용|재사용 가능"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389374"/>
            <a:ext cx="117983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" y="4572254"/>
            <a:ext cx="10820095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요약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85800" y="501167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MD는 콘텐츠와 표현을 분리하여 반복 제작을 쉽게 만듭니다.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5706364"/>
            <a:ext cx="2737028" cy="411480"/>
          </a:xfrm>
          <a:prstGeom prst="roundRect">
            <a:avLst>
              <a:gd name="adj" fmla="val 22222"/>
            </a:avLst>
          </a:prstGeom>
          <a:solidFill>
            <a:srgbClr val="E6F4F0"/>
          </a:solidFill>
          <a:ln w="9525">
            <a:solidFill>
              <a:srgbClr val="10A37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30352" y="5706364"/>
            <a:ext cx="25907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 자동 생성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303956" y="5706364"/>
            <a:ext cx="2737028" cy="411480"/>
          </a:xfrm>
          <a:prstGeom prst="roundRect">
            <a:avLst>
              <a:gd name="adj" fmla="val 22222"/>
            </a:avLst>
          </a:prstGeom>
          <a:solidFill>
            <a:srgbClr val="E6F4F0"/>
          </a:solidFill>
          <a:ln w="9525">
            <a:solidFill>
              <a:srgbClr val="10A37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377108" y="5706364"/>
            <a:ext cx="25907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PPTX 자동 생성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50712" y="5706364"/>
            <a:ext cx="2737028" cy="411480"/>
          </a:xfrm>
          <a:prstGeom prst="roundRect">
            <a:avLst>
              <a:gd name="adj" fmla="val 22222"/>
            </a:avLst>
          </a:prstGeom>
          <a:solidFill>
            <a:srgbClr val="E6F4F0"/>
          </a:solidFill>
          <a:ln w="9525">
            <a:solidFill>
              <a:srgbClr val="10A37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23864" y="5706364"/>
            <a:ext cx="25907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키 사용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997467" y="5706364"/>
            <a:ext cx="2737028" cy="411480"/>
          </a:xfrm>
          <a:prstGeom prst="roundRect">
            <a:avLst>
              <a:gd name="adj" fmla="val 22222"/>
            </a:avLst>
          </a:prstGeom>
          <a:solidFill>
            <a:srgbClr val="E6F4F0"/>
          </a:solidFill>
          <a:ln w="9525">
            <a:solidFill>
              <a:srgbClr val="10A37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070619" y="5706364"/>
            <a:ext cx="25907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재사용 가능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compare-split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756914"/>
          </a:xfrm>
          <a:prstGeom prst="roundRect">
            <a:avLst>
              <a:gd name="adj" fmla="val 194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compare-split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before/after 또는 양자 비교를 2열로 강조합니다.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9100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81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compare-split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"Before"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"HTML 직접 편집|디자인은 자유롭지만 유지보수 어려움"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"수동 관리"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"After"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"숏코드 입력|HTML/PPTX 동시 생성|재사용 쉬움"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"자동 파이프라인"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037074"/>
            <a:ext cx="5524348" cy="2020570"/>
          </a:xfrm>
          <a:prstGeom prst="roundRect">
            <a:avLst>
              <a:gd name="adj" fmla="val 3620"/>
            </a:avLst>
          </a:prstGeom>
          <a:solidFill>
            <a:srgbClr val="E6F4F0"/>
          </a:solidFill>
          <a:ln w="19050">
            <a:solidFill>
              <a:srgbClr val="10A37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037074"/>
            <a:ext cx="5524348" cy="4572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5219954"/>
            <a:ext cx="5067148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85C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Before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85800" y="565937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85C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HTML 직접 편집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85800" y="594258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85C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디자인은 자유롭지만 유지보수 어려움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85800" y="6618732"/>
            <a:ext cx="5067148" cy="256032"/>
          </a:xfrm>
          <a:prstGeom prst="roundRect">
            <a:avLst>
              <a:gd name="adj" fmla="val 21429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85800" y="6618732"/>
            <a:ext cx="50671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수동 관리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6210148" y="5037074"/>
            <a:ext cx="5524348" cy="2020570"/>
          </a:xfrm>
          <a:prstGeom prst="roundRect">
            <a:avLst>
              <a:gd name="adj" fmla="val 3620"/>
            </a:avLst>
          </a:prstGeom>
          <a:solidFill>
            <a:srgbClr val="FFFFFF"/>
          </a:solidFill>
          <a:ln w="9525">
            <a:solidFill>
              <a:srgbClr val="47556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210148" y="5037074"/>
            <a:ext cx="5524348" cy="45720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38748" y="5219954"/>
            <a:ext cx="5067148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After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6438748" y="565937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숏코드 입력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38748" y="594258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HTML/PPTX 동시 생성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38748" y="622579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재사용 쉬움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438748" y="6618732"/>
            <a:ext cx="5067148" cy="256032"/>
          </a:xfrm>
          <a:prstGeom prst="roundRect">
            <a:avLst>
              <a:gd name="adj" fmla="val 21429"/>
            </a:avLst>
          </a:prstGeom>
          <a:solidFill>
            <a:srgbClr val="E6F4F0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38748" y="6618732"/>
            <a:ext cx="50671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파이프라인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compare-diff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325114"/>
          </a:xfrm>
          <a:prstGeom prst="roundRect">
            <a:avLst>
              <a:gd name="adj" fmla="val 220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compare-diff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Bad vs Good, 변경 전후 1:1 대비를 전용 테두리 카드 레이아웃으로 렌더링해 줍니다.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4782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386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compare-diff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"나쁜 프롬프트"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"엑셀 자동화 코드 만들어줘."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"좋은 프롬프트"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"Python으로 A열 날짜, B열 금액 합산 summary.xlsx 만드는 Pandas 코드 작성해줘."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605274"/>
            <a:ext cx="5524348" cy="1225550"/>
          </a:xfrm>
          <a:prstGeom prst="roundRect">
            <a:avLst>
              <a:gd name="adj" fmla="val 5969"/>
            </a:avLst>
          </a:prstGeom>
          <a:solidFill>
            <a:srgbClr val="EF4444">
              <a:alpha val="5000"/>
            </a:srgbClr>
          </a:solidFill>
          <a:ln w="19050">
            <a:solidFill>
              <a:srgbClr val="EF444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4605274"/>
            <a:ext cx="5524348" cy="45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4788154"/>
            <a:ext cx="5067148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나쁜 프롬프트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85800" y="522757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자동화 코드 만들어줘.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210148" y="4605274"/>
            <a:ext cx="5524348" cy="1225550"/>
          </a:xfrm>
          <a:prstGeom prst="roundRect">
            <a:avLst>
              <a:gd name="adj" fmla="val 5969"/>
            </a:avLst>
          </a:prstGeom>
          <a:solidFill>
            <a:srgbClr val="10B981">
              <a:alpha val="5000"/>
            </a:srgbClr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210148" y="4605274"/>
            <a:ext cx="5524348" cy="457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38748" y="4788154"/>
            <a:ext cx="5067148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좋은 프롬프트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6438748" y="522757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Python으로 A열 날짜, B열 금액 합산 summary.xlsx 만드는 Pandas 코드 작성해줘.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part-banner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620514"/>
          </a:xfrm>
          <a:prstGeom prst="roundRect">
            <a:avLst>
              <a:gd name="adj" fmla="val 158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part-banner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시리즈 가이드북 등 목차용 대단원(부, Part)을 알리는 헤더 숏코드입니다. HSL 브랜드 컬러가 다이내믹하게 적용됩니다.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7736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682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part-banner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"1부"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"개념 이해"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"바이브코딩과 에이전트 코딩의 작동 원리"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"Ch.01–03"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"#1a3a5c"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"AI와 대화하는 법"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"프롬프트 설계부터 복잡한 작업 위임까지"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"Ch.04–05"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"#1a4a3a"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900674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1A3A5C">
              <a:alpha val="5000"/>
            </a:srgbClr>
          </a:solidFill>
          <a:ln w="9525">
            <a:solidFill>
              <a:srgbClr val="1A3A5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900674"/>
            <a:ext cx="5570068" cy="36576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5992114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3A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 이해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66928" y="6284722"/>
            <a:ext cx="53506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바이브코딩과 에이전트 코딩의 작동 원리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164428" y="5900674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1A4A3A">
              <a:alpha val="5000"/>
            </a:srgbClr>
          </a:solidFill>
          <a:ln w="9525">
            <a:solidFill>
              <a:srgbClr val="1A4A3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164428" y="5900674"/>
            <a:ext cx="5570068" cy="36576"/>
          </a:xfrm>
          <a:prstGeom prst="rect">
            <a:avLst/>
          </a:prstGeom>
          <a:solidFill>
            <a:srgbClr val="1A4A3A"/>
          </a:solidFill>
          <a:ln w="12700">
            <a:solidFill>
              <a:srgbClr val="1A4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274156" y="5992114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 대화하는 법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274156" y="6284722"/>
            <a:ext cx="53506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설계부터 복잡한 작업 위임까지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takeaway-banner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109214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takeaway-banner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요약 및 테이크어웨이 메시지를 그라데이션 프리미엄 배너 형태로 감싸 줍니다.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2623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1709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takeaway-banner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"💡"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"Key Takeaway"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"바이브코딩은 문법 암기가 아닌, 원하는 바를 논리적 자연어로 설명하는 역량이 본질입니다."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389374"/>
            <a:ext cx="11277295" cy="995680"/>
          </a:xfrm>
          <a:prstGeom prst="roundRect">
            <a:avLst>
              <a:gd name="adj" fmla="val 7347"/>
            </a:avLst>
          </a:prstGeom>
          <a:solidFill>
            <a:srgbClr val="10A37F">
              <a:alpha val="88000"/>
            </a:srgbClr>
          </a:solidFill>
          <a:ln w="19050">
            <a:solidFill>
              <a:srgbClr val="10A37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" y="4572254"/>
            <a:ext cx="365760" cy="629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💡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24712" y="4572254"/>
            <a:ext cx="10381183" cy="370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Key Takeaway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124712" y="4943094"/>
            <a:ext cx="10381183" cy="30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바이브코딩은 문법 암기가 아닌, 원하는 바를 논리적 자연어로 설명하는 역량이 본질입니다.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summary-bar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756914"/>
          </a:xfrm>
          <a:prstGeom prst="roundRect">
            <a:avLst>
              <a:gd name="adj" fmla="val 194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summary-bar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주요 수치를 가로 격자 형태로 요약 노출하는 수치 뱃지 숏코드입니다.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9100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81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summary-bar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"29종"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"Support Shortcodes"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"8개"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"Standard Keys"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"Output Formats"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037074"/>
            <a:ext cx="366765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037074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" y="5128514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29종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548640" y="5585714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Support Shortcodes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262018" y="5037074"/>
            <a:ext cx="366765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262018" y="5037074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353458" y="5128514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8개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4353458" y="5585714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Standard Keys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066837" y="5037074"/>
            <a:ext cx="366765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066837" y="5037074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158277" y="5128514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2종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8158277" y="5585714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Output Formats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os-tabs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os-tabs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탭 버튼으로 여러 설치법이나 플랫폼별 설명을 전환합니다.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os-tabs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"macOS"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#### 터미널 설치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```bash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brew install node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```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"Windows"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#### PowerShell 설치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```powershell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winget install OpenJS.NodeJS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```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332474"/>
            <a:ext cx="11277295" cy="740410"/>
          </a:xfrm>
          <a:prstGeom prst="roundRect">
            <a:avLst>
              <a:gd name="adj" fmla="val 988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6332474"/>
            <a:ext cx="11277295" cy="320040"/>
          </a:xfrm>
          <a:prstGeom prst="rect">
            <a:avLst/>
          </a:prstGeom>
          <a:solidFill>
            <a:srgbClr val="E6F4F0"/>
          </a:solidFill>
          <a:ln w="12700">
            <a:solidFill>
              <a:srgbClr val="E6F4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57200" y="6615938"/>
            <a:ext cx="11277295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4360" y="6332474"/>
            <a:ext cx="11002975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macOS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85800" y="674395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#### 터미널 설치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```bash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brew install node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```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7210044"/>
            <a:ext cx="11277295" cy="740410"/>
          </a:xfrm>
          <a:prstGeom prst="roundRect">
            <a:avLst>
              <a:gd name="adj" fmla="val 988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57200" y="7210044"/>
            <a:ext cx="11277295" cy="320040"/>
          </a:xfrm>
          <a:prstGeom prst="rect">
            <a:avLst/>
          </a:prstGeom>
          <a:solidFill>
            <a:srgbClr val="E6F4F0"/>
          </a:solidFill>
          <a:ln w="12700">
            <a:solidFill>
              <a:srgbClr val="E6F4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57200" y="7493508"/>
            <a:ext cx="11277295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7210044"/>
            <a:ext cx="11002975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Windows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85800" y="762152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#### PowerShell 설치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```powershell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winget install OpenJS.NodeJS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```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A. desc 다중 줄 불릿 목록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889500"/>
          </a:xfrm>
          <a:prstGeom prst="roundRect">
            <a:avLst>
              <a:gd name="adj" fmla="val 149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desc에 \n(YAML 멀티라인 |)으로 줄을 나누면 자동으로 불릿 목록이 됩니다. 줄 앞에 이모지를 쓰면 그 이모지가 불릿으로 사용됩니다.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170053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2075180"/>
            <a:ext cx="10820095" cy="36372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148332"/>
            <a:ext cx="10600639" cy="354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step-list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"기본 불릿 (SVG 체크)"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첫 번째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두 번째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세 번째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"이모지 불릿"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✅ 완료된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🔥 중요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📌 참고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"표준 마커 → SVG로 변환"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마이너스 기호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• 불릿 기호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616966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630682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63068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42416" y="6233668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불릿 (SVG 체크)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42416" y="6480556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번째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번째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번째 항목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6965188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7102348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71023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42416" y="7029196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이모지 불릿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42416" y="7276084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완료된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🔥 중요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📌 참고 항목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7760716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7897876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789787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42416" y="7824724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마커 → SVG로 변환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42416" y="8071612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마이너스 기호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불릿 기호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B. bullet 필드 — 아이템별 불릿 오버라이드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594100"/>
          </a:xfrm>
          <a:prstGeom prst="roundRect">
            <a:avLst>
              <a:gd name="adj" fmla="val 2035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아이템의 bullet: 필드로 해당 카드의 불릿 기호만 바꿀 수 있습니다.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170053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2075180"/>
            <a:ext cx="10820095" cy="23418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148332"/>
            <a:ext cx="10600639" cy="225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skill-list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"⚡"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"고속 처리"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"대용량 파일도 빠르게 처리\n병렬 처리 지원\n메모리 최적화"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bullet: "🔥"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"🔒"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"보안 강화"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"엔드투엔드 암호화\n접근 권한 관리\n감사 로그 제공"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bullet: "🔐"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487426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501142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50114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42416" y="4938268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고속 처리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42416" y="5185156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대용량 파일도 빠르게 처리\n병렬 처리 지원\n메모리 최적화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5669788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5806948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58069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42416" y="5733796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 강화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42416" y="5980684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엔드투엔드 암호화\n접근 권한 관리\n감사 로그 제공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C. bullet= 블록 인자 — 블록 전체 불릿 지정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810000"/>
          </a:xfrm>
          <a:prstGeom prst="roundRect">
            <a:avLst>
              <a:gd name="adj" fmla="val 192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bullet=X 블록 인자로 블록 안 모든 아이템의 기본 불릿을 한 번에 지정합니다. 아이템 bullet: 필드가 있으면 그쪽이 우선합니다.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170053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2075180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148332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icon-grid cols=3 bullet=✅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"문서화"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"자동 생성\n버전 관리\n다국어 지원"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"🔧"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"자동화"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"CI/CD 통합\n테스트 자동화\n배포 스크립트"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"📊"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"분석"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"실시간 모니터링\n대시보드\n알림 설정"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5090160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5181600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📄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5620512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문서화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5894832"/>
            <a:ext cx="348477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생성\n버전 관리\n다국어 지원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262018" y="5090160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53458" y="5181600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🔧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353458" y="5620512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53458" y="5894832"/>
            <a:ext cx="348477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CI/CD 통합\n테스트 자동화\n배포 스크립트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066837" y="5090160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58277" y="5181600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8158277" y="5620512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158277" y="5894832"/>
            <a:ext cx="348477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모니터링\n대시보드\n알림 설정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D. color — 카드 강조 + SVG 불릿 색 동시 적용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594100"/>
          </a:xfrm>
          <a:prstGeom prst="roundRect">
            <a:avLst>
              <a:gd name="adj" fmla="val 2035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color: 필드는 카드 테두리·배경과 함께 SVG 불릿 색상도 동시에 제어합니다.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170053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2075180"/>
            <a:ext cx="10820095" cy="23418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148332"/>
            <a:ext cx="10600639" cy="225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feature-grid cols=2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"빠른 배포"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"원클릭 배포\n자동 롤백\n무중단 업데이트"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"#6366F1"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"🛡️"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"보안 우선"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"자동 인증서\n방화벽 내장\n취약점 스캔"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"#E11D48"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4874260"/>
            <a:ext cx="557006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4874260"/>
            <a:ext cx="5570068" cy="36576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4983988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🚀 빠른 배포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5294884"/>
            <a:ext cx="5350612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원클릭 배포\n자동 롤백\n무중단 업데이트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64428" y="4874260"/>
            <a:ext cx="557006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64428" y="4874260"/>
            <a:ext cx="5570068" cy="36576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74156" y="4983988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🛡️ 보안 우선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274156" y="5294884"/>
            <a:ext cx="5350612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인증서\n방화벽 내장\n취약점 스캔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2026-06-10T00:20:54Z</dcterms:created>
  <dcterms:modified xsi:type="dcterms:W3CDTF">2026-06-10T00:20:54Z</dcterms:modified>
</cp:coreProperties>
</file>