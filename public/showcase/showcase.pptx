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</p:sldIdLst>
  <p:notesMasterIdLst>
    <p:notesMasterId r:id="rId6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notesMaster" Target="notesMasters/notesMaster1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heme" Target="theme/theme1.xml"/><Relationship Id="rId7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03120"/>
            <a:ext cx="164592" cy="1554480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194560"/>
            <a:ext cx="1082009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Creative Spark 숏코드 쇼케이스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3291840"/>
            <a:ext cx="108200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92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등록된 숏코드의 입력 문법과 HTML 구현 결과를 함께 확인하는 레퍼런스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5212080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A3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29종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5559552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2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숏코드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651760" y="5212080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A3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8개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2651760" y="5559552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2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표준 입력 키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389120" y="5212080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A3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HTML/PPTX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389120" y="5559552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2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동시 변환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126480" y="5212080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A3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cols/bullet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126480" y="5559552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2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블록 인자 제어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지원 숏코드 목록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2615184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Group A: Grid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icon-grid, feature-grid, badge-grid, stat-grid, columns-grid, compare-grid, plan-grid, level-grid, checkpoint-grid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Group B: List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step-list, skill-list, chapter-list, faq-list, tool-list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Group C: Flow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workflow-flow, git-flow, step-flow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Group D: Box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alert-box, cmd-box, console-box, editor-box, network-box, summary-box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Group E: Split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compare-split, compare-diff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Group F: Banner &amp; Bar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part-banner, takeaway-banner, summary-bar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Group G: Interactive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os-tabs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표준 입력 키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245866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3606698"/>
                <a:gridCol w="3606698"/>
                <a:gridCol w="3606698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키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icon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아이콘, 수치, 짧은 시각 라벨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이모지 또는 짧은 문자열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title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카드/항목 제목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필수에 가까운 기본 키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desc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본문 설명 또는 코드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\n으로 구분하면 불릿 목록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tag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배지, 상태, 언어 라벨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플랜명, 추천, OS명 등에 사용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meta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목록, 칩, 피처 리스트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|로 여러 항목 구분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note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하단 배지·메모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\n → · 구분; plan-grid에서 가격 배지로 사용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color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개별 강조색 + SVG 불릿 색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Hex 색상 권장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bullet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아이템별 불릿 기호 오버라이드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bullet: "✅" — color보다 우선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3831336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숏코드별 예약 키: featured는 plan-grid 추천 플랜 강조, alert-box는 선언부 tip·warn·success·danger 타입을 읽습니다.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블록 인자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2245614"/>
          </a:xfrm>
          <a:prstGeom prst="roundRect">
            <a:avLst>
              <a:gd name="adj" fmla="val 325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숏코드명 뒤에 공백으로 지정하며 복수 조합이 가능합니다.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00530"/>
          <a:ext cx="10820095" cy="914400"/>
        </p:xfrm>
        <a:graphic>
          <a:graphicData uri="http://schemas.openxmlformats.org/drawingml/2006/table">
            <a:tbl>
              <a:tblPr/>
              <a:tblGrid>
                <a:gridCol w="3606698"/>
                <a:gridCol w="3606698"/>
                <a:gridCol w="3606698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인자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대상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설명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cols=N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grid 계열 5종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CSS 컬럼 수 강제 지정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bullet=X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전체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블록 기본 불릿 기호 지정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85800" y="2669794"/>
            <a:ext cx="10820095" cy="398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07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feature-grid cols=3 bullet=✅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icon-grid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아이콘 중심의 기본 카드 그리드. 핵심 기능, 사용 사례, 장점 목록에 적합합니다.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icon-grid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"빠른 작업"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"반복 작업을 줄이고 결과물을 빠르게 만듭니다."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"🎨"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"쉬운 디자인"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"템플릿과 프리셋으로 초보자도 보기 좋은 결과를 만들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"🤝"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"팀 협업"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"링크 공유와 댓글로 팀 작업을 이어갈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icon-grid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234440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⚡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1645920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빠른 작업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938528"/>
            <a:ext cx="3484778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작업을 줄이고 결과물을 빠르게 만듭니다.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62018" y="1143000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53458" y="1234440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🎨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353458" y="1645920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쉬운 디자인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353458" y="1938528"/>
            <a:ext cx="3484778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템플릿과 프리셋으로 초보자도 보기 좋은 결과를 만들 수 있습니다.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066837" y="1143000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58277" y="1234440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🤝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158277" y="1645920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협업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158277" y="1938528"/>
            <a:ext cx="3484778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 공유와 댓글로 팀 작업을 이어갈 수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feature-grid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feature-grid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700014"/>
          </a:xfrm>
          <a:prstGeom prst="roundRect">
            <a:avLst>
              <a:gd name="adj" fmla="val 128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feature-grid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상단 태그와 제목이 강조되는 설명형 기능 카드입니다.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8531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761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feature-grid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"AI 자동화"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"핵심"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"입력 자료를 바탕으로 초안, 편집, 요약을 자동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"#6366F1"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"🧰"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"템플릿 활용"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"실전"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"자주 쓰는 형식을 저장해 같은 품질의 결과물을 반복 제작합니다."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"🔗"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"링크 배포"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"공유"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"완성된 결과를 링크나 파일로 공유하고 피드백을 받을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"#F59E0B"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feature-grid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66765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143000"/>
            <a:ext cx="3667658" cy="36576"/>
          </a:xfrm>
          <a:prstGeom prst="rect">
            <a:avLst/>
          </a:prstGeom>
          <a:solidFill>
            <a:srgbClr val="6366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252728"/>
            <a:ext cx="731520" cy="182880"/>
          </a:xfrm>
          <a:prstGeom prst="roundRect">
            <a:avLst>
              <a:gd name="adj" fmla="val 20000"/>
            </a:avLst>
          </a:prstGeom>
          <a:solidFill>
            <a:srgbClr val="E6F4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252728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80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66928" y="1472184"/>
            <a:ext cx="34482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🧠 AI 자동화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66928" y="1783080"/>
            <a:ext cx="344820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 자료를 바탕으로 초안, 편집, 요약을 자동 생성합니다.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62018" y="1143000"/>
            <a:ext cx="366765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62018" y="1143000"/>
            <a:ext cx="3667658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71746" y="1252728"/>
            <a:ext cx="731520" cy="182880"/>
          </a:xfrm>
          <a:prstGeom prst="roundRect">
            <a:avLst>
              <a:gd name="adj" fmla="val 20000"/>
            </a:avLst>
          </a:prstGeom>
          <a:solidFill>
            <a:srgbClr val="E6F4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71746" y="1252728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80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실전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371746" y="1472184"/>
            <a:ext cx="34482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🧰 템플릿 활용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371746" y="1783080"/>
            <a:ext cx="344820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 쓰는 형식을 저장해 같은 품질의 결과물을 반복 제작합니다.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066837" y="1143000"/>
            <a:ext cx="366765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66837" y="1143000"/>
            <a:ext cx="3667658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76565" y="1252728"/>
            <a:ext cx="731520" cy="182880"/>
          </a:xfrm>
          <a:prstGeom prst="roundRect">
            <a:avLst>
              <a:gd name="adj" fmla="val 20000"/>
            </a:avLst>
          </a:prstGeom>
          <a:solidFill>
            <a:srgbClr val="E6F4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76565" y="1252728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80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공유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8176565" y="1472184"/>
            <a:ext cx="34482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🔗 링크 배포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176565" y="1783080"/>
            <a:ext cx="344820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완성된 결과를 링크나 파일로 공유하고 피드백을 받을 수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badge-grid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badge-grid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작은 서비스/기능 배지를 조밀하게 나열합니다.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badge-grid cols=4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"🧪"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"테스트"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"Vitest"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"📦"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"Vite"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"🎞"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"슬라이드"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"웹"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badge-grid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234440"/>
            <a:ext cx="253357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🧪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1645920"/>
            <a:ext cx="253357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10814" y="1143000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02254" y="1234440"/>
            <a:ext cx="253357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📦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402254" y="1645920"/>
            <a:ext cx="253357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빌드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64428" y="1143000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55868" y="1234440"/>
            <a:ext cx="253357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🎞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255868" y="1645920"/>
            <a:ext cx="253357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슬라이드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018041" y="1143000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09481" y="1234440"/>
            <a:ext cx="253357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🌐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109481" y="1645920"/>
            <a:ext cx="253357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stat-grid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수치와 짧은 설명을 강조하는 통계 카드입니다.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stat-grid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"29종"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"숏코드"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"현재 빌더가 렌더링하는 컴포넌트 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"출력"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"HTML과 PPTX를 같은 MD에서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"8개"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"표준 키"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"icon·title·desc·tag·meta·note·color·bullet"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stat-grid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667658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143000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252728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A3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29종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1709928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0" y="1947672"/>
            <a:ext cx="3484778" cy="283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92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빌더가 렌더링하는 컴포넌트 수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262018" y="1143000"/>
            <a:ext cx="3667658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62018" y="1143000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53458" y="1252728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A3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2종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353458" y="1709928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353458" y="1947672"/>
            <a:ext cx="3484778" cy="283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92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HTML과 PPTX를 같은 MD에서 생성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8066837" y="1143000"/>
            <a:ext cx="3667658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66837" y="1143000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58277" y="1252728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A3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8개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158277" y="1709928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표준 키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158277" y="1947672"/>
            <a:ext cx="3484778" cy="283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92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icon·title·desc·tag·meta·note·color·bullet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columns-grid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columns-grid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 본문, 짧은 코드, 체크 항목을 균등한 다단 카드로 보여줍니다.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columns-grid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"웹 가이드로 바로 열람합니다."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"node scripts/build-guide.mjs guide.md"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"발표 슬라이드로 변환합니다."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"node scripts/md-to-pptx.mjs guide.md"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"Standalone"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"전체 가이드를 단일 HTML로 묶습니다."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"npm run build:standalone"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columns-grid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143000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252728"/>
            <a:ext cx="3448202" cy="292608"/>
          </a:xfrm>
          <a:prstGeom prst="roundRect">
            <a:avLst>
              <a:gd name="adj" fmla="val 18750"/>
            </a:avLst>
          </a:prstGeom>
          <a:solidFill>
            <a:srgbClr val="10A37F">
              <a:alpha val="7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1252728"/>
            <a:ext cx="344820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A3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HTML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66928" y="1618488"/>
            <a:ext cx="3448202" cy="210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 가이드로 바로 열람합니다.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66928" y="1901952"/>
            <a:ext cx="3448202" cy="274320"/>
          </a:xfrm>
          <a:prstGeom prst="roundRect">
            <a:avLst>
              <a:gd name="adj" fmla="val 13333"/>
            </a:avLst>
          </a:prstGeom>
          <a:solidFill>
            <a:srgbClr val="10A37F">
              <a:alpha val="4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" y="1901952"/>
            <a:ext cx="337505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2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node scripts/build-guide.mjs guide.md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262018" y="1143000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62018" y="1143000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71746" y="1252728"/>
            <a:ext cx="3448202" cy="292608"/>
          </a:xfrm>
          <a:prstGeom prst="roundRect">
            <a:avLst>
              <a:gd name="adj" fmla="val 18750"/>
            </a:avLst>
          </a:prstGeom>
          <a:solidFill>
            <a:srgbClr val="10A37F">
              <a:alpha val="7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371746" y="1252728"/>
            <a:ext cx="344820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A3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371746" y="1618488"/>
            <a:ext cx="3448202" cy="210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슬라이드로 변환합니다.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71746" y="1901952"/>
            <a:ext cx="3448202" cy="274320"/>
          </a:xfrm>
          <a:prstGeom prst="roundRect">
            <a:avLst>
              <a:gd name="adj" fmla="val 13333"/>
            </a:avLst>
          </a:prstGeom>
          <a:solidFill>
            <a:srgbClr val="10A37F">
              <a:alpha val="4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08322" y="1901952"/>
            <a:ext cx="337505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2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node scripts/md-to-pptx.mjs guide.md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8066837" y="1143000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66837" y="1143000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76565" y="1252728"/>
            <a:ext cx="3448202" cy="292608"/>
          </a:xfrm>
          <a:prstGeom prst="roundRect">
            <a:avLst>
              <a:gd name="adj" fmla="val 18750"/>
            </a:avLst>
          </a:prstGeom>
          <a:solidFill>
            <a:srgbClr val="10A37F">
              <a:alpha val="7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8176565" y="1252728"/>
            <a:ext cx="344820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A3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Standalone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176565" y="1618488"/>
            <a:ext cx="3448202" cy="210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가이드를 단일 HTML로 묶습니다.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176565" y="1901952"/>
            <a:ext cx="3448202" cy="274320"/>
          </a:xfrm>
          <a:prstGeom prst="roundRect">
            <a:avLst>
              <a:gd name="adj" fmla="val 13333"/>
            </a:avLst>
          </a:prstGeom>
          <a:solidFill>
            <a:srgbClr val="10A37F">
              <a:alpha val="4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13141" y="1901952"/>
            <a:ext cx="337505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2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npm run build:standalone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188714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compare-grid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여러 선택지를 카드로 비교합니다. note가 있으면 하단 노트로 우선 표시하고, 없으면 meta를 노트처럼 표시합니다.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compare-grid cols=2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"수동 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"표현 자유도는 높지만 유지보수와 PPTX 변환이 어렵습니다."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"디자인 고정이 필요한 특수 페이지에 적합"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"#EF4444"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"숏코드 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"표준 입력만으로 HTML과 PPTX를 동시에 생성할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"가이드와 교육 자료에 적합"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compare-grid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5570068" cy="1289304"/>
          </a:xfrm>
          <a:prstGeom prst="roundRect">
            <a:avLst>
              <a:gd name="adj" fmla="val 5674"/>
            </a:avLst>
          </a:prstGeom>
          <a:solidFill>
            <a:srgbClr val="EF4444">
              <a:alpha val="5000"/>
            </a:srgbClr>
          </a:solidFill>
          <a:ln w="9525">
            <a:solidFill>
              <a:srgbClr val="EF44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143000"/>
            <a:ext cx="5570068" cy="36576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325880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수동 HTML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66928" y="1655064"/>
            <a:ext cx="5350612" cy="210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표현 자유도는 높지만 유지보수와 PPTX 변환이 어렵습니다.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" y="1938528"/>
            <a:ext cx="5350612" cy="292608"/>
          </a:xfrm>
          <a:prstGeom prst="roundRect">
            <a:avLst>
              <a:gd name="adj" fmla="val 15625"/>
            </a:avLst>
          </a:prstGeom>
          <a:solidFill>
            <a:srgbClr val="EF4444">
              <a:alpha val="1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3504" y="1984248"/>
            <a:ext cx="52774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F44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디자인 고정이 필요한 특수 페이지에 적합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164428" y="1143000"/>
            <a:ext cx="5570068" cy="1289304"/>
          </a:xfrm>
          <a:prstGeom prst="roundRect">
            <a:avLst>
              <a:gd name="adj" fmla="val 5674"/>
            </a:avLst>
          </a:prstGeom>
          <a:solidFill>
            <a:srgbClr val="10B981">
              <a:alpha val="5000"/>
            </a:srgbClr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64428" y="1143000"/>
            <a:ext cx="5570068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74156" y="1325880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MD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74156" y="1655064"/>
            <a:ext cx="5350612" cy="210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표준 입력만으로 HTML과 PPTX를 동시에 생성할 수 있습니다.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74156" y="1938528"/>
            <a:ext cx="5350612" cy="292608"/>
          </a:xfrm>
          <a:prstGeom prst="roundRect">
            <a:avLst>
              <a:gd name="adj" fmla="val 15625"/>
            </a:avLst>
          </a:prstGeom>
          <a:solidFill>
            <a:srgbClr val="10B981">
              <a:alpha val="1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10732" y="1984248"/>
            <a:ext cx="52774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가이드와 교육 자료에 적합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plan-grid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plan-grid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484114"/>
          </a:xfrm>
          <a:prstGeom prst="roundRect">
            <a:avLst>
              <a:gd name="adj" fmla="val 133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plan-grid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요금제, 모델 등급, 옵션 비교에 쓰는 플랜 카드입니다. note가 하단 가격 배지로 표시됩니다.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637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54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plan-grid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"Free"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"무료"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"기본 기능|일일 제한|커뮤니티 지원"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"지금 시작"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"Pro"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"추천"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"무제한 사용|고급 기능|우선 지원"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"$20 / 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featured: "true"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"#6366F1"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"Team"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"권한 관리|공유 워크스페이스|관리자 콘솔"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"문의"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plan-grid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667658" cy="2002536"/>
          </a:xfrm>
          <a:prstGeom prst="roundRect">
            <a:avLst>
              <a:gd name="adj" fmla="val 365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143000"/>
            <a:ext cx="3667658" cy="45720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325880"/>
            <a:ext cx="1005840" cy="201168"/>
          </a:xfrm>
          <a:prstGeom prst="roundRect">
            <a:avLst>
              <a:gd name="adj" fmla="val 27273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32588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66928" y="160020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Free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66928" y="189280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기본 기능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" y="214884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일일 제한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66928" y="2404872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커뮤니티 지원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66928" y="2743200"/>
            <a:ext cx="3448202" cy="219456"/>
          </a:xfrm>
          <a:prstGeom prst="roundRect">
            <a:avLst>
              <a:gd name="adj" fmla="val 16667"/>
            </a:avLst>
          </a:prstGeom>
          <a:solidFill>
            <a:srgbClr val="10A37F">
              <a:alpha val="1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743200"/>
            <a:ext cx="344820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A3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시작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262018" y="1143000"/>
            <a:ext cx="3667658" cy="2002536"/>
          </a:xfrm>
          <a:prstGeom prst="roundRect">
            <a:avLst>
              <a:gd name="adj" fmla="val 3653"/>
            </a:avLst>
          </a:prstGeom>
          <a:solidFill>
            <a:srgbClr val="6366F1">
              <a:alpha val="5000"/>
            </a:srgbClr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62018" y="1143000"/>
            <a:ext cx="3667658" cy="45720"/>
          </a:xfrm>
          <a:prstGeom prst="rect">
            <a:avLst/>
          </a:prstGeom>
          <a:solidFill>
            <a:srgbClr val="6366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71746" y="1325880"/>
            <a:ext cx="1005840" cy="201168"/>
          </a:xfrm>
          <a:prstGeom prst="roundRect">
            <a:avLst>
              <a:gd name="adj" fmla="val 27273"/>
            </a:avLst>
          </a:prstGeom>
          <a:solidFill>
            <a:srgbClr val="6366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71746" y="132588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추천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371746" y="160020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371746" y="189280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무제한 사용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371746" y="214884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고급 기능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371746" y="2404872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우선 지원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71746" y="2743200"/>
            <a:ext cx="3448202" cy="219456"/>
          </a:xfrm>
          <a:prstGeom prst="roundRect">
            <a:avLst>
              <a:gd name="adj" fmla="val 16667"/>
            </a:avLst>
          </a:prstGeom>
          <a:solidFill>
            <a:srgbClr val="6366F1">
              <a:alpha val="1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71746" y="2743200"/>
            <a:ext cx="344820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366F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$20 / 월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8066837" y="1143000"/>
            <a:ext cx="3667658" cy="2002536"/>
          </a:xfrm>
          <a:prstGeom prst="roundRect">
            <a:avLst>
              <a:gd name="adj" fmla="val 365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66837" y="1143000"/>
            <a:ext cx="3667658" cy="45720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76565" y="1325880"/>
            <a:ext cx="1005840" cy="201168"/>
          </a:xfrm>
          <a:prstGeom prst="roundRect">
            <a:avLst>
              <a:gd name="adj" fmla="val 27273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76565" y="132588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8176565" y="160020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Team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176565" y="189280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권한 관리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176565" y="214884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공유 워크스페이스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176565" y="2404872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관리자 콘솔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76565" y="2743200"/>
            <a:ext cx="3448202" cy="219456"/>
          </a:xfrm>
          <a:prstGeom prst="roundRect">
            <a:avLst>
              <a:gd name="adj" fmla="val 16667"/>
            </a:avLst>
          </a:prstGeom>
          <a:solidFill>
            <a:srgbClr val="10A37F">
              <a:alpha val="1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176565" y="2743200"/>
            <a:ext cx="344820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A3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문의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level-grid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level-grid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난이도, 단계, 도메인 스펙트럼 로드맵 등을 가로형 카드 그리드로 렌더링해 줍니다.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level-grid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"LEVEL 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"코드 자동완성"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"GitHub Copilot 인라인"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"다음 줄 예측, Tab으로 수락"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"LEVEL 2"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"대화형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"Claude.ai, ChatGPT"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"요청 → 붙여넣기 → 실행"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"highlight"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level-grid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5570068" cy="1289304"/>
          </a:xfrm>
          <a:prstGeom prst="roundRect">
            <a:avLst>
              <a:gd name="adj" fmla="val 567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143000"/>
            <a:ext cx="557006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325880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LEVEL 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66928" y="1655064"/>
            <a:ext cx="5350612" cy="210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자동완성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" y="1938528"/>
            <a:ext cx="5350612" cy="292608"/>
          </a:xfrm>
          <a:prstGeom prst="roundRect">
            <a:avLst>
              <a:gd name="adj" fmla="val 15625"/>
            </a:avLst>
          </a:prstGeom>
          <a:solidFill>
            <a:srgbClr val="10A37F">
              <a:alpha val="1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3504" y="1984248"/>
            <a:ext cx="52774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A3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다음 줄 예측, Tab으로 수락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164428" y="1143000"/>
            <a:ext cx="5570068" cy="1289304"/>
          </a:xfrm>
          <a:prstGeom prst="roundRect">
            <a:avLst>
              <a:gd name="adj" fmla="val 567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64428" y="1143000"/>
            <a:ext cx="557006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74156" y="1325880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LEVEL 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74156" y="1655064"/>
            <a:ext cx="5350612" cy="210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대화형 생성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74156" y="1938528"/>
            <a:ext cx="5350612" cy="292608"/>
          </a:xfrm>
          <a:prstGeom prst="roundRect">
            <a:avLst>
              <a:gd name="adj" fmla="val 15625"/>
            </a:avLst>
          </a:prstGeom>
          <a:solidFill>
            <a:srgbClr val="10A37F">
              <a:alpha val="1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10732" y="1984248"/>
            <a:ext cx="52774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A3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요청 → 붙여넣기 → 실행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checkpoint-grid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checkpoint-grid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중간 검수 타이밍, 주요 체크포인트를 이모지와 가로 뱃지 형식으로 나열해 줍니다.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checkpoint-grid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"계획 수립 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"방향이 맞는지 확인"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"1️⃣"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"1단계 완료 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"입력 데이터 검증"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0370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5128514"/>
            <a:ext cx="53871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📐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548640" y="5539994"/>
            <a:ext cx="53871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계획 수립 후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48640" y="5832602"/>
            <a:ext cx="5387188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방향이 맞는지 확인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164428" y="50370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55868" y="5128514"/>
            <a:ext cx="53871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1️⃣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255868" y="5539994"/>
            <a:ext cx="53871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 완료 후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255868" y="5832602"/>
            <a:ext cx="5387188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 데이터 검증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step-list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번호가 붙는 세로 단계 리스트입니다. desc에 \n을 쓰면 불릿 목록이 됩니다.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step-list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"MD 작성"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"표준 키와 숏코드로 콘텐츠를 작성합니다."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 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"build-guide.mjs로 가이드 HTML을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 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"md-to-pptx.mjs로 발표 자료를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step-list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28016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2801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15568" y="1207008"/>
            <a:ext cx="10481767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 작성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444752"/>
            <a:ext cx="10481767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표준 키와 숏코드로 콘텐츠를 작성합니다.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1938528"/>
            <a:ext cx="1127729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" y="2075688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0756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15568" y="2002536"/>
            <a:ext cx="10481767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HTML 빌드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15568" y="2240280"/>
            <a:ext cx="10481767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build-guide.mjs로 가이드 HTML을 생성합니다.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734056"/>
            <a:ext cx="1127729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2871216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287121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2798064"/>
            <a:ext cx="10481767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 빌드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15568" y="3035808"/>
            <a:ext cx="10481767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md-to-pptx.mjs로 발표 자료를 생성합니다.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skill-list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기능이나 역량을 행 형태로 나열합니다.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skill-list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"문서 자동화"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"보고서와 제안서를 빠르게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"🔗"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"API 연동"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"기존 시스템과 데이터를 연결합니다."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"📊"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"분석 대시보드"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"실시간 데이터를 시각화합니다."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skill-list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28016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2801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📄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15568" y="1207008"/>
            <a:ext cx="10481767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 자동화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444752"/>
            <a:ext cx="10481767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보고서와 제안서를 빠르게 생성합니다.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1938528"/>
            <a:ext cx="1127729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" y="2075688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0756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🔗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15568" y="2002536"/>
            <a:ext cx="10481767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API 연동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15568" y="2240280"/>
            <a:ext cx="10481767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시스템과 데이터를 연결합니다.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734056"/>
            <a:ext cx="1127729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2871216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287121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📊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2798064"/>
            <a:ext cx="10481767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대시보드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15568" y="3035808"/>
            <a:ext cx="10481767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실시간 데이터를 시각화합니다.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chapter-list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chapter-list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세부 목차 및 챕터 리스트 숏코드입니다. 챕터 번호와 뱃지 속성에 따라 HSL 배지 색상이 자동 매핑됩니다.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chapter-list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"01"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"바이브코딩이란?"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"Karpathy 발언 배경 · 전통 코딩 vs 바이브코딩 · LLM 발전"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"개념"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"02"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"에이전트 코딩이란?"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"계획→실행→수정 루프 · 레벨 1~5 스펙트럼 · 바이브코딩과 차이"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"개념"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"04"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"첫 대화: 프롬프트 설계"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"요구사항 명세 · 컨텍스트 주입 전략 · SKILL.md 재사용 지시"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"실습"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chapter-list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28016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2801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15568" y="1207008"/>
            <a:ext cx="10481767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바이브코딩이란?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444752"/>
            <a:ext cx="10481767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Karpathy 발언 배경 · 전통 코딩 vs 바이브코딩 · LLM 발전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1938528"/>
            <a:ext cx="1127729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" y="2075688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0756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15568" y="2002536"/>
            <a:ext cx="10481767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에이전트 코딩이란?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15568" y="2240280"/>
            <a:ext cx="10481767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계획→실행→수정 루프 · 레벨 1~5 스펙트럼 · 바이브코딩과 차이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734056"/>
            <a:ext cx="1127729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2871216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287121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2798064"/>
            <a:ext cx="10481767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대화: 프롬프트 설계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15568" y="3035808"/>
            <a:ext cx="10481767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요구사항 명세 · 컨텍스트 주입 전략 · SKILL.md 재사용 지시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faq-list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325114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faq-list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클릭해 펼치는 FAQ 아코디언입니다.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478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386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faq-list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 변환도 같은 MD를 쓰나요?"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"네. 같은 숏코드 입력을 HTML과 PPTX 렌더러가 함께 사용합니다."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"HTML을 직접 넣어야 하나요?"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"아니요. 쇼케이스와 가이드는 숏코드 문법으로 작성하는 것이 원칙입니다."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605274"/>
            <a:ext cx="11277295" cy="699770"/>
          </a:xfrm>
          <a:prstGeom prst="roundRect">
            <a:avLst>
              <a:gd name="adj" fmla="val 10454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605274"/>
            <a:ext cx="54864" cy="699770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4660138"/>
            <a:ext cx="11048695" cy="393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  PPTX 변환도 같은 MD를 쓰나요?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94360" y="5053838"/>
            <a:ext cx="11048695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  네. 같은 숏코드 입력을 HTML과 PPTX 렌더러가 함께 사용합니다.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5373624"/>
            <a:ext cx="11277295" cy="699770"/>
          </a:xfrm>
          <a:prstGeom prst="roundRect">
            <a:avLst>
              <a:gd name="adj" fmla="val 1045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7200" y="5373624"/>
            <a:ext cx="54864" cy="699770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4360" y="5428488"/>
            <a:ext cx="11048695" cy="393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  HTML을 직접 넣어야 하나요?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94360" y="5822188"/>
            <a:ext cx="11048695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  아니요. 쇼케이스와 가이드는 숏코드 문법으로 작성하는 것이 원칙입니다.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tool-list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tool-list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색상 헤더와 피처 목록을 가진 도구 소개 카드입니다.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tool-list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"ChatGPT"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"OpenAI의 대화형 AI 어시스턴트"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"무료/Pro"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"텍스트 생성|파일 분석|이미지 생성|코드 실행"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"#10A37F"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"💻"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"Cursor"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"AI 코드 에디터"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"Pro"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"코드베이스 인덱싱|멀티 파일 편집|자동완성"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"#2563EB"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tool-list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1810512"/>
          </a:xfrm>
          <a:prstGeom prst="roundRect">
            <a:avLst>
              <a:gd name="adj" fmla="val 404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143000"/>
            <a:ext cx="2011680" cy="1810512"/>
          </a:xfrm>
          <a:prstGeom prst="roundRect">
            <a:avLst>
              <a:gd name="adj" fmla="val 4040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395728" y="1143000"/>
            <a:ext cx="73152" cy="1810512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143000"/>
            <a:ext cx="411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💬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42416" y="1252728"/>
            <a:ext cx="13350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ChatGPT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4360" y="1664208"/>
            <a:ext cx="1737360" cy="182880"/>
          </a:xfrm>
          <a:prstGeom prst="roundRect">
            <a:avLst>
              <a:gd name="adj" fmla="val 20000"/>
            </a:avLst>
          </a:prstGeom>
          <a:solidFill>
            <a:srgbClr val="FFFFFF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1664208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0A3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무료/Pro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2697480" y="1271016"/>
            <a:ext cx="8899855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OpenAI의 대화형 AI 어시스턴트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697480" y="1581912"/>
            <a:ext cx="8899855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텍스트 생성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697480" y="1783080"/>
            <a:ext cx="8899855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파일 분석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697480" y="1984248"/>
            <a:ext cx="8899855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이미지 생성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697480" y="2185416"/>
            <a:ext cx="8899855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코드 실행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090672"/>
            <a:ext cx="11277295" cy="1609344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090672"/>
            <a:ext cx="2011680" cy="1609344"/>
          </a:xfrm>
          <a:prstGeom prst="roundRect">
            <a:avLst>
              <a:gd name="adj" fmla="val 4545"/>
            </a:avLst>
          </a:prstGeom>
          <a:solidFill>
            <a:srgbClr val="25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95728" y="3090672"/>
            <a:ext cx="73152" cy="1609344"/>
          </a:xfrm>
          <a:prstGeom prst="rect">
            <a:avLst/>
          </a:prstGeom>
          <a:solidFill>
            <a:srgbClr val="25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090672"/>
            <a:ext cx="411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💻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042416" y="3200400"/>
            <a:ext cx="13350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Cursor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94360" y="3611880"/>
            <a:ext cx="1737360" cy="182880"/>
          </a:xfrm>
          <a:prstGeom prst="roundRect">
            <a:avLst>
              <a:gd name="adj" fmla="val 20000"/>
            </a:avLst>
          </a:prstGeom>
          <a:solidFill>
            <a:srgbClr val="FFFFFF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361188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97480" y="3218688"/>
            <a:ext cx="8899855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코드 에디터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697480" y="3529584"/>
            <a:ext cx="8899855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코드베이스 인덱싱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697480" y="3730752"/>
            <a:ext cx="8899855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멀티 파일 편집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697480" y="3931920"/>
            <a:ext cx="8899855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자동완성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workflow-flow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workflow-flow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아이콘과 화살표로 이어지는 가로 흐름도입니다.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workflow-flow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"아이디어"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"요구사항 정리"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"초안"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"AI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"검토"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"사람 확인"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"📤"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"배포"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"HTML/PPTX"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workflow-flow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143000"/>
            <a:ext cx="2647874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216152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12064" y="1527048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아이디어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12064" y="1764792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요구사항 정리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105074" y="1476756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333674" y="1143000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33674" y="1143000"/>
            <a:ext cx="2647874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33674" y="1216152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⚡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388538" y="1527048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초안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388538" y="1764792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생성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81548" y="1476756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10148" y="1143000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10148" y="1143000"/>
            <a:ext cx="2647874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10148" y="1216152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265012" y="1527048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265012" y="1764792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 확인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858021" y="1476756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086621" y="1143000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086621" y="1143000"/>
            <a:ext cx="2647874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086621" y="1216152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📤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141485" y="1527048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141485" y="1764792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HTML/PPTX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git-flow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188714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git-flow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브랜치 라인과 커밋 라벨을 가진 Git 흐름도입니다.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git-flow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"main"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"v2.0.0"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"숏코드 29종 완비|bullet/color 개선"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"feature/shortcode-refactor"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"Commit 812"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"bullet 블록 인자 추가|desc 멀티라인 통일"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"#3B82F6"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git-flow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348740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10B981">
              <a:alpha val="8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34874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main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011680" y="1563624"/>
            <a:ext cx="9494215" cy="27432"/>
          </a:xfrm>
          <a:prstGeom prst="rect">
            <a:avLst/>
          </a:prstGeom>
          <a:solidFill>
            <a:srgbClr val="10B981">
              <a:alpha val="4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11680" y="1485900"/>
            <a:ext cx="182880" cy="182880"/>
          </a:xfrm>
          <a:prstGeom prst="ellipse">
            <a:avLst/>
          </a:prstGeom>
          <a:solidFill>
            <a:srgbClr val="10B98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168706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29종 완비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1645920" y="122986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645920" y="1229868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v2.0.0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8341157" y="1485900"/>
            <a:ext cx="182880" cy="182880"/>
          </a:xfrm>
          <a:prstGeom prst="ellipse">
            <a:avLst/>
          </a:prstGeom>
          <a:solidFill>
            <a:srgbClr val="10B98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83957" y="168706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bullet/color 개선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57200" y="2148840"/>
            <a:ext cx="1127729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2354580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3B82F6">
              <a:alpha val="8000"/>
            </a:srgbClr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35458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feature/shortcode-refactor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011680" y="2569464"/>
            <a:ext cx="9494215" cy="27432"/>
          </a:xfrm>
          <a:prstGeom prst="rect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11680" y="2491740"/>
            <a:ext cx="182880" cy="182880"/>
          </a:xfrm>
          <a:prstGeom prst="ellipse">
            <a:avLst/>
          </a:prstGeom>
          <a:solidFill>
            <a:srgbClr val="3B82F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54480" y="269290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bullet 블록 인자 추가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1645920" y="223570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645920" y="2235708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Commit 812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8341157" y="2491740"/>
            <a:ext cx="182880" cy="182880"/>
          </a:xfrm>
          <a:prstGeom prst="ellipse">
            <a:avLst/>
          </a:prstGeom>
          <a:solidFill>
            <a:srgbClr val="3B82F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83957" y="269290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desc 멀티라인 통일</a:t>
            </a:r>
            <a:endParaRPr lang="en-US" sz="7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step-flow</a:t>
            </a:r>
            <a:endParaRPr lang="en-US" sz="2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step-flow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700014"/>
          </a:xfrm>
          <a:prstGeom prst="roundRect">
            <a:avLst>
              <a:gd name="adj" fmla="val 128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step-flow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단계별 수행 과정 및 가로 흐름 다이어그램을 카드와 화살표 그리드로 렌더링해 줍니다.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8531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761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step-flow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"🧑"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"사람"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"원하는 것 설명"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"active"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"🤖"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"AI"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"코드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"완성"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"결과물"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"active"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step-flow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606698" cy="1143000"/>
          </a:xfrm>
          <a:prstGeom prst="roundRect">
            <a:avLst>
              <a:gd name="adj" fmla="val 6400"/>
            </a:avLst>
          </a:prstGeom>
          <a:solidFill>
            <a:srgbClr val="10A37F">
              <a:alpha val="10000"/>
            </a:srgbClr>
          </a:solidFill>
          <a:ln w="19050">
            <a:solidFill>
              <a:srgbClr val="10A37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143000"/>
            <a:ext cx="360669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216152"/>
            <a:ext cx="36066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🧑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12064" y="1527048"/>
            <a:ext cx="349697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12064" y="1783080"/>
            <a:ext cx="349697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원하는 것 설명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63898" y="1613916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92498" y="1143000"/>
            <a:ext cx="3606698" cy="1143000"/>
          </a:xfrm>
          <a:prstGeom prst="roundRect">
            <a:avLst>
              <a:gd name="adj" fmla="val 6400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2498" y="1143000"/>
            <a:ext cx="360669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2498" y="1216152"/>
            <a:ext cx="36066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🤖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347362" y="1527048"/>
            <a:ext cx="349697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347362" y="1783080"/>
            <a:ext cx="349697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생성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9197" y="1613916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127797" y="1143000"/>
            <a:ext cx="3606698" cy="1143000"/>
          </a:xfrm>
          <a:prstGeom prst="roundRect">
            <a:avLst>
              <a:gd name="adj" fmla="val 6400"/>
            </a:avLst>
          </a:prstGeom>
          <a:solidFill>
            <a:srgbClr val="10A37F">
              <a:alpha val="10000"/>
            </a:srgbClr>
          </a:solidFill>
          <a:ln w="19050">
            <a:solidFill>
              <a:srgbClr val="10A37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27797" y="1143000"/>
            <a:ext cx="360669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27797" y="1216152"/>
            <a:ext cx="36066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182661" y="1527048"/>
            <a:ext cx="349697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182661" y="1783080"/>
            <a:ext cx="349697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alert-box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972814"/>
          </a:xfrm>
          <a:prstGeom prst="roundRect">
            <a:avLst>
              <a:gd name="adj" fmla="val 184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alert-box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tip, warn, success, danger 타입을 가진 알림 박스입니다.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1259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0345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alert-box tip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"작성 팁"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"긴 본문은 desc: | 멀티라인 블록으로 작성하세요."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alert-box warn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"주의"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"들여쓰기가 틀어지면 숏코드 파서가 항목을 잘못 읽을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252974"/>
            <a:ext cx="11277295" cy="974090"/>
          </a:xfrm>
          <a:prstGeom prst="roundRect">
            <a:avLst>
              <a:gd name="adj" fmla="val 7510"/>
            </a:avLst>
          </a:prstGeom>
          <a:solidFill>
            <a:srgbClr val="F0FDF4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252974"/>
            <a:ext cx="256032" cy="974090"/>
          </a:xfrm>
          <a:prstGeom prst="roundRect">
            <a:avLst>
              <a:gd name="adj" fmla="val 28571"/>
            </a:avLst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30352" y="5252974"/>
            <a:ext cx="182880" cy="974090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58368" y="5435854"/>
            <a:ext cx="11039551" cy="370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 팁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58368" y="5806694"/>
            <a:ext cx="11039551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65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긴 본문은 desc: | 멀티라인 블록으로 작성하세요.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alert-box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974090"/>
          </a:xfrm>
          <a:prstGeom prst="roundRect">
            <a:avLst>
              <a:gd name="adj" fmla="val 7510"/>
            </a:avLst>
          </a:prstGeom>
          <a:solidFill>
            <a:srgbClr val="FFFBE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143000"/>
            <a:ext cx="256032" cy="974090"/>
          </a:xfrm>
          <a:prstGeom prst="roundRect">
            <a:avLst>
              <a:gd name="adj" fmla="val 28571"/>
            </a:avLst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1143000"/>
            <a:ext cx="182880" cy="97409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325880"/>
            <a:ext cx="11039551" cy="370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주의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8368" y="1696720"/>
            <a:ext cx="11039551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들여쓰기가 틀어지면 숏코드 파서가 항목을 잘못 읽을 수 있습니다.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cmd-box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109214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cmd-box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복사 버튼이 있는 터미널 명령어 블록입니다.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2623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1709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cmd-box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 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"bash"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"node scripts/build-guide.mjs md_src/showcase/showcase.md"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389374"/>
            <a:ext cx="11277295" cy="746252"/>
          </a:xfrm>
          <a:prstGeom prst="roundRect">
            <a:avLst>
              <a:gd name="adj" fmla="val 9803"/>
            </a:avLst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389374"/>
            <a:ext cx="11277295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7200" y="4636262"/>
            <a:ext cx="11277295" cy="7315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4360" y="4389374"/>
            <a:ext cx="789410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HTML 빌드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0637215" y="4389374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0A3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94360" y="4736846"/>
            <a:ext cx="11002975" cy="3530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scripts/build-guide.mjs md_src/showcase/showcase.md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console-box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541014"/>
          </a:xfrm>
          <a:prstGeom prst="roundRect">
            <a:avLst>
              <a:gd name="adj" fmla="val 206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console-box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프롬프트나 콘솔 출력 예시를 어두운 박스로 보여줍니다.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6941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602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console-box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"가이드 생성 요청"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Obsidian 가이드를 작성해줘.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network-box로 지식 그래프 예시를 포함하고,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마지막에는 faq-list를 넣어줘.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821174"/>
            <a:ext cx="11277295" cy="952500"/>
          </a:xfrm>
          <a:prstGeom prst="roundRect">
            <a:avLst>
              <a:gd name="adj" fmla="val 7680"/>
            </a:avLst>
          </a:prstGeom>
          <a:solidFill>
            <a:srgbClr val="0F172A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821174"/>
            <a:ext cx="11277295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004054"/>
            <a:ext cx="10820095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8B2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 가이드 생성 요청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5374894"/>
            <a:ext cx="10820095" cy="2616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Obsidian 가이드를 작성해줘.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network-box로 지식 그래프 예시를 포함하고,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마지막에는 faq-list를 넣어줘.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188714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editor-box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VS Code 느낌의 코드 편집기 시뮬레이션입니다.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editor-box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"build-guide.mjs"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"javascript"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function renderShortcode(type, body, args)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const items = parseShortcodeItems(body);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if (!items.length) return "";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return renderComponent(type, items, args);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editor-box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146304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143000"/>
            <a:ext cx="11277295" cy="320040"/>
          </a:xfrm>
          <a:prstGeom prst="roundRect">
            <a:avLst>
              <a:gd name="adj" fmla="val 22857"/>
            </a:avLst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89888"/>
            <a:ext cx="11277295" cy="7315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85216" y="1266444"/>
            <a:ext cx="73152" cy="7315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2376" y="1266444"/>
            <a:ext cx="73152" cy="731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9536" y="1266444"/>
            <a:ext cx="73152" cy="7315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43000" y="1143000"/>
            <a:ext cx="10362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build-guide.mjs (javascript)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1463040"/>
            <a:ext cx="411480" cy="1143000"/>
          </a:xfrm>
          <a:prstGeom prst="rect">
            <a:avLst/>
          </a:prstGeom>
          <a:solidFill>
            <a:srgbClr val="0D1321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572768"/>
            <a:ext cx="320040" cy="96012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65F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850" dirty="0"/>
          </a:p>
          <a:p>
            <a:pPr algn="r" indent="0" marL="0">
              <a:buNone/>
            </a:pPr>
            <a:r>
              <a:rPr lang="en-US" sz="850" dirty="0">
                <a:solidFill>
                  <a:srgbClr val="565F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50" dirty="0"/>
          </a:p>
          <a:p>
            <a:pPr algn="r" indent="0" marL="0">
              <a:buNone/>
            </a:pPr>
            <a:r>
              <a:rPr lang="en-US" sz="850" dirty="0">
                <a:solidFill>
                  <a:srgbClr val="565F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850" dirty="0"/>
          </a:p>
          <a:p>
            <a:pPr algn="r" indent="0" marL="0">
              <a:buNone/>
            </a:pPr>
            <a:r>
              <a:rPr lang="en-US" sz="850" dirty="0">
                <a:solidFill>
                  <a:srgbClr val="565F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50" dirty="0"/>
          </a:p>
          <a:p>
            <a:pPr algn="r" indent="0" marL="0">
              <a:buNone/>
            </a:pPr>
            <a:r>
              <a:rPr lang="en-US" sz="850" dirty="0">
                <a:solidFill>
                  <a:srgbClr val="565F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05840" y="1572768"/>
            <a:ext cx="10637215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9B1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renderShortcode(type, body, args) {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9B1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items = parseShortcodeItems(body);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9B1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(!items.length) return "";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9B1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renderComponent(type, items, args);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9B1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network-box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836414"/>
          </a:xfrm>
          <a:prstGeom prst="roundRect">
            <a:avLst>
              <a:gd name="adj" fmla="val 151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network-box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중앙 노드와 주변 노드가 떠 있는 지식 그래프 시각화입니다.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9895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8981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network-box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"Creative Spark"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"#EC4899"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"build-guide"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"md-to-pptx"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"#3B82F6"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"Markdown"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"shortcode"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"#F59E0B"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network-box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2606040"/>
            <a:ext cx="-2560320" cy="-640080"/>
          </a:xfrm>
          <a:prstGeom prst="line">
            <a:avLst/>
          </a:prstGeom>
          <a:noFill/>
          <a:ln w="25400">
            <a:solidFill>
              <a:srgbClr val="10B981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6095848" y="2606040"/>
            <a:ext cx="2560320" cy="-640080"/>
          </a:xfrm>
          <a:prstGeom prst="line">
            <a:avLst/>
          </a:prstGeom>
          <a:noFill/>
          <a:ln w="25400">
            <a:solidFill>
              <a:srgbClr val="3B82F6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6095848" y="2606040"/>
            <a:ext cx="-2560320" cy="640080"/>
          </a:xfrm>
          <a:prstGeom prst="line">
            <a:avLst/>
          </a:prstGeom>
          <a:noFill/>
          <a:ln w="25400">
            <a:solidFill>
              <a:srgbClr val="F59E0B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4998568" y="2217420"/>
            <a:ext cx="2194560" cy="777240"/>
          </a:xfrm>
          <a:prstGeom prst="roundRect">
            <a:avLst>
              <a:gd name="adj" fmla="val 14118"/>
            </a:avLst>
          </a:prstGeom>
          <a:solidFill>
            <a:srgbClr val="EC489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90008" y="221742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Creative Spark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529688" y="162306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29688" y="1623060"/>
            <a:ext cx="201168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21128" y="169621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HTML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621128" y="197053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build-guide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7650328" y="162306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50328" y="1623060"/>
            <a:ext cx="2011680" cy="36576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41768" y="169621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741768" y="197053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md-to-pptx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2529688" y="290322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29688" y="2903220"/>
            <a:ext cx="201168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21128" y="297637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621128" y="325069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shortcode</a:t>
            </a:r>
            <a:endParaRPr lang="en-US" sz="7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summary-box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109214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summary-box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본문 설명 아래에 여러 칩을 붙이는 요약 카드입니다.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2623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1709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summary-box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"핵심 요약"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"숏코드 MD는 콘텐츠와 표현을 분리하여 반복 제작을 쉽게 만듭니다."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"HTML 자동 생성|PPTX 자동 생성|표준 키 사용|재사용 가능"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389374"/>
            <a:ext cx="11277295" cy="1179830"/>
          </a:xfrm>
          <a:prstGeom prst="roundRect">
            <a:avLst>
              <a:gd name="adj" fmla="val 62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4572254"/>
            <a:ext cx="10820095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요약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85800" y="501167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MD는 콘텐츠와 표현을 분리하여 반복 제작을 쉽게 만듭니다.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30352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HTML 자동 생성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303956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377108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 자동 생성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50712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23864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표준 키 사용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997467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070619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재사용 가능</a:t>
            </a:r>
            <a:endParaRPr lang="en-US" sz="11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compare-split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compare-split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before/after 또는 양자 비교를 2열로 강조합니다.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compare-split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"Before"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"HTML 직접 편집|디자인은 자유롭지만 유지보수 어려움"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"수동 관리"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"After"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"숏코드 입력|HTML/PPTX 동시 생성|재사용 쉬움"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"자동 파이프라인"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compare-split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5524348" cy="2020570"/>
          </a:xfrm>
          <a:prstGeom prst="roundRect">
            <a:avLst>
              <a:gd name="adj" fmla="val 3620"/>
            </a:avLst>
          </a:prstGeom>
          <a:solidFill>
            <a:srgbClr val="10A37F">
              <a:alpha val="6000"/>
            </a:srgbClr>
          </a:solidFill>
          <a:ln w="19050">
            <a:solidFill>
              <a:srgbClr val="10A37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143000"/>
            <a:ext cx="5524348" cy="45720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325880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0A3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85800" y="1765300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HTML 직접 편집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5800" y="2048510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디자인은 자유롭지만 유지보수 어려움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85800" y="2742946"/>
            <a:ext cx="5067148" cy="237744"/>
          </a:xfrm>
          <a:prstGeom prst="roundRect">
            <a:avLst>
              <a:gd name="adj" fmla="val 23077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742946"/>
            <a:ext cx="506714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수동 관리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210148" y="1143000"/>
            <a:ext cx="5524348" cy="2020570"/>
          </a:xfrm>
          <a:prstGeom prst="roundRect">
            <a:avLst>
              <a:gd name="adj" fmla="val 3620"/>
            </a:avLst>
          </a:prstGeom>
          <a:solidFill>
            <a:srgbClr val="475569">
              <a:alpha val="6000"/>
            </a:srgbClr>
          </a:solidFill>
          <a:ln w="19050">
            <a:solidFill>
              <a:srgbClr val="47556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0148" y="1143000"/>
            <a:ext cx="5524348" cy="45720"/>
          </a:xfrm>
          <a:prstGeom prst="rect">
            <a:avLst/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38748" y="1325880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6438748" y="1765300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숏코드 입력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38748" y="2048510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HTML/PPTX 동시 생성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38748" y="2331720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재사용 쉬움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38748" y="2742946"/>
            <a:ext cx="5067148" cy="237744"/>
          </a:xfrm>
          <a:prstGeom prst="roundRect">
            <a:avLst>
              <a:gd name="adj" fmla="val 23077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38748" y="2742946"/>
            <a:ext cx="506714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파이프라인</a:t>
            </a:r>
            <a:endParaRPr lang="en-US" sz="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compare-diff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325114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compare-diff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Bad vs Good, 변경 전후 1:1 대비를 전용 테두리 카드 레이아웃으로 렌더링해 줍니다.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478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386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compare-diff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"나쁜 프롬프트"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"엑셀 자동화 코드 만들어줘."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"좋은 프롬프트"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"Python으로 A열 날짜, B열 금액 합산 summary.xlsx 만드는 Pandas 코드 작성해줘."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605274"/>
            <a:ext cx="5524348" cy="1225550"/>
          </a:xfrm>
          <a:prstGeom prst="roundRect">
            <a:avLst>
              <a:gd name="adj" fmla="val 5969"/>
            </a:avLst>
          </a:prstGeom>
          <a:solidFill>
            <a:srgbClr val="EF4444">
              <a:alpha val="6000"/>
            </a:srgbClr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605274"/>
            <a:ext cx="5524348" cy="4572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4788154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F44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나쁜 프롬프트</a:t>
            </a:r>
            <a:endParaRPr lang="en-US" sz="1550" dirty="0"/>
          </a:p>
        </p:txBody>
      </p:sp>
      <p:sp>
        <p:nvSpPr>
          <p:cNvPr id="14" name="Text 11"/>
          <p:cNvSpPr/>
          <p:nvPr/>
        </p:nvSpPr>
        <p:spPr>
          <a:xfrm>
            <a:off x="685800" y="522757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엑셀 자동화 코드 만들어줘.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210148" y="4605274"/>
            <a:ext cx="5524348" cy="1225550"/>
          </a:xfrm>
          <a:prstGeom prst="roundRect">
            <a:avLst>
              <a:gd name="adj" fmla="val 5969"/>
            </a:avLst>
          </a:prstGeom>
          <a:solidFill>
            <a:srgbClr val="10B981">
              <a:alpha val="6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210148" y="4605274"/>
            <a:ext cx="5524348" cy="45720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38748" y="4788154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좋은 프롬프트</a:t>
            </a:r>
            <a:endParaRPr lang="en-US" sz="1550" dirty="0"/>
          </a:p>
        </p:txBody>
      </p:sp>
      <p:sp>
        <p:nvSpPr>
          <p:cNvPr id="18" name="Text 15"/>
          <p:cNvSpPr/>
          <p:nvPr/>
        </p:nvSpPr>
        <p:spPr>
          <a:xfrm>
            <a:off x="6438748" y="522757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Python으로 A열 날짜, B열 금액 합산 summary.xlsx 만드는 Pandas 코드 작성해줘.</a:t>
            </a:r>
            <a:endParaRPr lang="en-US" sz="11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part-banner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620514"/>
          </a:xfrm>
          <a:prstGeom prst="roundRect">
            <a:avLst>
              <a:gd name="adj" fmla="val 158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part-banner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시리즈 가이드북 등 목차용 대단원(부, Part)을 알리는 헤더 숏코드입니다. HSL 브랜드 컬러가 다이내믹하게 적용됩니다.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7736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682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part-banner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"1부"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"개념 이해"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"바이브코딩과 에이전트 코딩의 작동 원리"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"Ch.01–03"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"#1a3a5c"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"AI와 대화하는 법"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"프롬프트 설계부터 복잡한 작업 위임까지"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"Ch.04–05"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"#1a4a3a"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part-banner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1A3A5C">
              <a:alpha val="5000"/>
            </a:srgbClr>
          </a:solidFill>
          <a:ln w="9525">
            <a:solidFill>
              <a:srgbClr val="1A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143000"/>
            <a:ext cx="5570068" cy="36576"/>
          </a:xfrm>
          <a:prstGeom prst="rect">
            <a:avLst/>
          </a:prstGeom>
          <a:solidFill>
            <a:srgbClr val="1A3A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325880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개념 이해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66928" y="1655064"/>
            <a:ext cx="5350612" cy="210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바이브코딩과 에이전트 코딩의 작동 원리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164428" y="1143000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1A4A3A">
              <a:alpha val="5000"/>
            </a:srgbClr>
          </a:solidFill>
          <a:ln w="9525">
            <a:solidFill>
              <a:srgbClr val="1A4A3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64428" y="1143000"/>
            <a:ext cx="5570068" cy="36576"/>
          </a:xfrm>
          <a:prstGeom prst="rect">
            <a:avLst/>
          </a:prstGeom>
          <a:solidFill>
            <a:srgbClr val="1A4A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74156" y="1325880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A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AI와 대화하는 법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274156" y="1655064"/>
            <a:ext cx="5350612" cy="210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설계부터 복잡한 작업 위임까지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takeaway-banner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109214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takeaway-banner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핵심 요약 및 테이크어웨이 메시지를 그라데이션 프리미엄 배너 형태로 감싸 줍니다.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2623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1709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takeaway-banner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"Key Takeaway"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"바이브코딩은 문법 암기가 아닌, 원하는 바를 논리적 자연어로 설명하는 역량이 본질입니다."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389374"/>
            <a:ext cx="11277295" cy="995680"/>
          </a:xfrm>
          <a:prstGeom prst="roundRect">
            <a:avLst>
              <a:gd name="adj" fmla="val 7347"/>
            </a:avLst>
          </a:prstGeom>
          <a:solidFill>
            <a:srgbClr val="10A37F">
              <a:alpha val="7000"/>
            </a:srgbClr>
          </a:solidFill>
          <a:ln w="19050">
            <a:solidFill>
              <a:srgbClr val="10A37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4572254"/>
            <a:ext cx="365760" cy="629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💡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24712" y="4572254"/>
            <a:ext cx="10381183" cy="370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D80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Takeaway</a:t>
            </a:r>
            <a:endParaRPr lang="en-US" sz="1550" dirty="0"/>
          </a:p>
        </p:txBody>
      </p:sp>
      <p:sp>
        <p:nvSpPr>
          <p:cNvPr id="14" name="Text 11"/>
          <p:cNvSpPr/>
          <p:nvPr/>
        </p:nvSpPr>
        <p:spPr>
          <a:xfrm>
            <a:off x="1124712" y="4943094"/>
            <a:ext cx="10381183" cy="30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바이브코딩은 문법 암기가 아닌, 원하는 바를 논리적 자연어로 설명하는 역량이 본질입니다.</a:t>
            </a:r>
            <a:endParaRPr lang="en-US" sz="1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summary-bar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summary-bar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주요 수치를 가로 격자 형태로 요약 노출하는 수치 뱃지 숏코드입니다.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summary-bar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"29종"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"Support Shortcodes"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"8개"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"Standard Keys"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"Output Formats"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037074"/>
            <a:ext cx="3667658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0370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5146802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A3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29종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548640" y="5604002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Support Shortcodes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262018" y="5037074"/>
            <a:ext cx="3667658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62018" y="50370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353458" y="5146802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A3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8개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4353458" y="5604002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Standard Keys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8066837" y="5037074"/>
            <a:ext cx="3667658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066837" y="50370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158277" y="5146802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A3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2종</a:t>
            </a:r>
            <a:endParaRPr lang="en-US" sz="2400" dirty="0"/>
          </a:p>
        </p:txBody>
      </p:sp>
      <p:sp>
        <p:nvSpPr>
          <p:cNvPr id="22" name="Text 19"/>
          <p:cNvSpPr/>
          <p:nvPr/>
        </p:nvSpPr>
        <p:spPr>
          <a:xfrm>
            <a:off x="8158277" y="5604002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Output Formats</a:t>
            </a:r>
            <a:endParaRPr lang="en-US" sz="9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os-tabs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숏코드 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os-tabs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탭 버튼으로 여러 설치법이나 플랫폼별 설명을 전환합니다.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os-tabs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"macOS"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#### 터미널 설치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```bash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brew install node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"Windows"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#### PowerShell 설치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```powershell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winget install OpenJS.NodeJS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os-tabs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740410"/>
          </a:xfrm>
          <a:prstGeom prst="roundRect">
            <a:avLst>
              <a:gd name="adj" fmla="val 988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143000"/>
            <a:ext cx="11277295" cy="320040"/>
          </a:xfrm>
          <a:prstGeom prst="rect">
            <a:avLst/>
          </a:prstGeom>
          <a:solidFill>
            <a:srgbClr val="E6F4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426464"/>
            <a:ext cx="11277295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143000"/>
            <a:ext cx="11002975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80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macOS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" y="15544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#### 터미널 설치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```bash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brew install node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```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020570"/>
            <a:ext cx="11277295" cy="740410"/>
          </a:xfrm>
          <a:prstGeom prst="roundRect">
            <a:avLst>
              <a:gd name="adj" fmla="val 988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20570"/>
            <a:ext cx="11277295" cy="320040"/>
          </a:xfrm>
          <a:prstGeom prst="rect">
            <a:avLst/>
          </a:prstGeom>
          <a:solidFill>
            <a:srgbClr val="E6F4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04034"/>
            <a:ext cx="11277295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020570"/>
            <a:ext cx="11002975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80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Windows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" y="243205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#### PowerShell 설치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```powershell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winget install OpenJS.NodeJS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```</a:t>
            </a:r>
            <a:endParaRPr lang="en-US" sz="11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부록 A. desc 다중 줄 불릿 목록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889500"/>
          </a:xfrm>
          <a:prstGeom prst="roundRect">
            <a:avLst>
              <a:gd name="adj" fmla="val 149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desc에 \n(YAML 멀티라인 |)으로 줄을 나누면 자동으로 불릿 목록이 됩니다. 줄 앞에 이모지를 쓰면 그 이모지가 불릿으로 사용됩니다.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70053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075180"/>
            <a:ext cx="10820095" cy="3637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148332"/>
            <a:ext cx="10600639" cy="354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step-list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"기본 불릿 (SVG 체크)"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첫 번째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두 번째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세 번째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"이모지 불릿"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✅ 완료된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🔥 중요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📌 참고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"표준 마커 → SVG로 변환"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마이너스 기호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• 불릿 기호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부록 A. desc 다중 줄 불릿 목록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28016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2801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15568" y="1207008"/>
            <a:ext cx="10481767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 불릿 (SVG 체크)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444752"/>
            <a:ext cx="10481767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번째 항목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번째 항목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번째 항목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1938528"/>
            <a:ext cx="1127729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" y="2075688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0756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15568" y="2002536"/>
            <a:ext cx="10481767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이모지 불릿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15568" y="2240280"/>
            <a:ext cx="10481767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✅ 완료된 항목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🔥 중요 항목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📌 참고 항목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734056"/>
            <a:ext cx="1127729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2871216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287121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2798064"/>
            <a:ext cx="10481767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표준 마커 → SVG로 변환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15568" y="3035808"/>
            <a:ext cx="10481767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마이너스 기호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불릿 기호</a:t>
            </a:r>
            <a:endParaRPr lang="en-US" sz="9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부록 B. bullet 필드 — 아이템별 불릿 오버라이드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594100"/>
          </a:xfrm>
          <a:prstGeom prst="roundRect">
            <a:avLst>
              <a:gd name="adj" fmla="val 2035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아이템의 bullet: 필드로 해당 카드의 불릿 기호만 바꿀 수 있습니다.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70053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075180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148332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skill-list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"고속 처리"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"대용량 파일도 빠르게 처리\n병렬 처리 지원\n메모리 최적화"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bullet: "🔥"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"보안 강화"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"엔드투엔드 암호화\n접근 권한 관리\n감사 로그 제공"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bullet: "🔐"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4874260"/>
            <a:ext cx="1127729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" y="501142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50114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⚡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15568" y="4938268"/>
            <a:ext cx="10481767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고속 처리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15568" y="5176012"/>
            <a:ext cx="10481767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대용량 파일도 빠르게 처리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병렬 처리 지원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메모리 최적화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5669788"/>
            <a:ext cx="1127729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5806948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58069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🔒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5733796"/>
            <a:ext cx="10481767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보안 강화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15568" y="5971540"/>
            <a:ext cx="10481767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엔드투엔드 암호화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권한 관리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감사 로그 제공</a:t>
            </a:r>
            <a:endParaRPr lang="en-US" sz="9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부록 C. bullet= 블록 인자 — 블록 전체 불릿 지정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810000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bullet=X 블록 인자로 블록 안 모든 아이템의 기본 불릿을 한 번에 지정합니다. 아이템 bullet: 필드가 있으면 그쪽이 우선합니다.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70053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075180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148332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icon-grid cols=3 bullet=✅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"문서화"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"자동 생성\n버전 관리\n다국어 지원"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"🔧"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"자동화"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"CI/CD 통합\n테스트 자동화\n배포 스크립트"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"📊"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"분석"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"실시간 모니터링\n대시보드\n알림 설정"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090160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5181600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📄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5593080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문서화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5885688"/>
            <a:ext cx="3484778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생성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버전 관리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다국어 지원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262018" y="5090160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53458" y="5181600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🔧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353458" y="5593080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자동화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53458" y="5885688"/>
            <a:ext cx="3484778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CI/CD 통합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자동화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 스크립트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066837" y="5090160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58277" y="5181600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158277" y="5593080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158277" y="5885688"/>
            <a:ext cx="3484778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실시간 모니터링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대시보드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알림 설정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부록 D. color — 카드 강조 + SVG 불릿 색 동시 적용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594100"/>
          </a:xfrm>
          <a:prstGeom prst="roundRect">
            <a:avLst>
              <a:gd name="adj" fmla="val 2035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color: 필드는 카드 테두리·배경과 함께 SVG 불릿 색상도 동시에 제어합니다.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70053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075180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148332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feature-grid cols=2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"빠른 배포"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"원클릭 배포\n자동 롤백\n무중단 업데이트"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"#6366F1"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"🛡️"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"보안 우선"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"자동 인증서\n방화벽 내장\n취약점 스캔"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"#E11D48"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4874260"/>
            <a:ext cx="557006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4874260"/>
            <a:ext cx="5570068" cy="36576"/>
          </a:xfrm>
          <a:prstGeom prst="rect">
            <a:avLst/>
          </a:prstGeom>
          <a:solidFill>
            <a:srgbClr val="6366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983988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🚀 빠른 배포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5294884"/>
            <a:ext cx="5350612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원클릭 배포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롤백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무중단 업데이트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64428" y="4874260"/>
            <a:ext cx="557006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64428" y="4874260"/>
            <a:ext cx="5570068" cy="36576"/>
          </a:xfrm>
          <a:prstGeom prst="rect">
            <a:avLst/>
          </a:prstGeom>
          <a:solidFill>
            <a:srgbClr val="E11D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74156" y="4983988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🛡️ 보안 우선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274156" y="5294884"/>
            <a:ext cx="5350612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인증서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방화벽 내장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취약점 스캔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부록 E. Frontmatter (문서 메타) 및 slide-config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2848610"/>
          </a:xfrm>
          <a:prstGeom prst="roundRect">
            <a:avLst>
              <a:gd name="adj" fmla="val 256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Frontmatter 설정 (문서 메타데이터)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174244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마크다운 문서 최상단의 YAML Frontmatter 영역에서 문서 전체의 테마, 제목, 및 표지 설정을 할 수 있습니다.</a:t>
            </a:r>
            <a:endParaRPr lang="en-US" sz="11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117090"/>
          <a:ext cx="10820095" cy="914400"/>
        </p:xfrm>
        <a:graphic>
          <a:graphicData uri="http://schemas.openxmlformats.org/drawingml/2006/table">
            <a:tbl>
              <a:tblPr/>
              <a:tblGrid>
                <a:gridCol w="3606698"/>
                <a:gridCol w="3606698"/>
                <a:gridCol w="3606698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설정 키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설명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예시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title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문서 전체 제목 (표지에 렌더링)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"Creative Spark 가이드"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subtitle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문서 부제목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"숏코드 설명서"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badge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표지 상단에 노출되는 배지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"v2.0"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style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문서에 적용할 테마 명칭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"custom-blue", "ai-chat", "green", "purple", "coral" 등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coverBg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표지 전용 배경색 또는 그라데이션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"#2563FF", "linear-gradient(135deg, #2563FF, #0F478F)"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56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부록 E. Frontmatter (문서 메타) 및 slide-config (계속)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266954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slide-config 숏코드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174244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슬라이드나 섹션의 배경색(bg)과 글자색(color)을 임의로 재정의할 수 있는 특수 숏코드입니다. 이 숏코드는 화면에 렌더링되지 않으며 해당 슬라이드의 스타일만 오버라이드합니다.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211709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" y="2491740"/>
            <a:ext cx="10820095" cy="1046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564892"/>
            <a:ext cx="10600639" cy="955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slide-config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bg: "#0F172A"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color: "#F8FAFC"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64</Slides>
  <Notes>64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6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2026-06-17T05:24:31Z</dcterms:created>
  <dcterms:modified xsi:type="dcterms:W3CDTF">2026-06-17T05:24:31Z</dcterms:modified>
</cp:coreProperties>
</file>