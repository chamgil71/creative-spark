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✨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Creative Spark 숏코드 완전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➡️ MD ➡️ PPTX 파이프라인이 지원하는 전체 표준 숏코드 및 프리미엄 시각화 스펙 시연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표준 숏코드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컴파일 파이프라인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cols=N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 격자 제어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3대 동적 시각화 특화 숏코드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오리지널의 아름답고 독창적인 3대 비주얼 요소를 온전히 마크다운으로 포용하여 CSS drift, pulse, popover 애니메이션을 통해 입체적으로 재현합니다.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2021840"/>
          </a:xfrm>
          <a:prstGeom prst="roundRect">
            <a:avLst>
              <a:gd name="adj" fmla="val 3618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Obsidian 둥둥 지식 그래프 (network-box)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Obsidian의 노드 성단 뷰어를 모방하여 넘실넘실 유영하는 3D형 은하수 그래프 펄스 비주얼입니다.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99466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[작성 방법 마크다운 예시]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369310"/>
            <a:ext cx="10820095" cy="3987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3442462"/>
            <a:ext cx="10600639" cy="30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17957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EC4899">
              <a:alpha val="5000"/>
            </a:srgbClr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179570"/>
            <a:ext cx="2716454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271010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크리에이티브 스파크 코어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10814" y="417957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10B981">
              <a:alpha val="5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0814" y="4179570"/>
            <a:ext cx="2716454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0542" y="4271010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깃 플로우 스트립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64428" y="417957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3B82F6">
              <a:alpha val="5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4428" y="4179570"/>
            <a:ext cx="2716454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4156" y="4271010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에디터 박스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018041" y="417957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59E0B">
              <a:alpha val="5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18041" y="4179570"/>
            <a:ext cx="2716454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7769" y="4271010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 그리드 파서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5734050"/>
            <a:ext cx="11277295" cy="1117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5916930"/>
            <a:ext cx="1082009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5990082"/>
            <a:ext cx="1060063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**[실제 동작 비주얼 결과물]**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698881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EC4899">
              <a:alpha val="5000"/>
            </a:srgbClr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6988810"/>
            <a:ext cx="2716454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7080250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크리에이티브 스파크 코어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10814" y="698881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10B981">
              <a:alpha val="5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0814" y="6988810"/>
            <a:ext cx="2716454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0542" y="7080250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깃 플로우 스트립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64428" y="698881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3B82F6">
              <a:alpha val="5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64428" y="6988810"/>
            <a:ext cx="2716454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4156" y="7080250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에디터 박스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018041" y="698881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59E0B">
              <a:alpha val="5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18041" y="6988810"/>
            <a:ext cx="2716454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27769" y="7080250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 그리드 파서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021840"/>
          </a:xfrm>
          <a:prstGeom prst="roundRect">
            <a:avLst>
              <a:gd name="adj" fmla="val 3618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 가상 에디터 창 (editor-box)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 모양의 어두운 테마 디자인, 파일 탭 UI, 좌측 행 번호 자동 배열 기능이 가미된 가상 코드 편집기 화면입니다.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11709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[작성 방법 마크다운 예시]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491740"/>
            <a:ext cx="10820095" cy="3987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64892"/>
            <a:ext cx="10600639" cy="30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02000"/>
            <a:ext cx="11277295" cy="2905252"/>
          </a:xfrm>
          <a:prstGeom prst="roundRect">
            <a:avLst>
              <a:gd name="adj" fmla="val 2518"/>
            </a:avLst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02000"/>
            <a:ext cx="11277295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302000"/>
            <a:ext cx="789410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shortcode-map.json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37215" y="3302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3649472"/>
            <a:ext cx="11057839" cy="2512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"git-flow-strip":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"htmlClasses": ["flow-branches", "branch-row"],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"itemSelector": ".branch-row"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"editor-box":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"htmlClasses": ["editor-sim"],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"itemSelector": ".editor-sim"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6481572"/>
            <a:ext cx="11277295" cy="1117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6664452"/>
            <a:ext cx="1082009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6737604"/>
            <a:ext cx="1060063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**[실제 동작 비주얼 결과물]**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7736332"/>
            <a:ext cx="11277295" cy="2905252"/>
          </a:xfrm>
          <a:prstGeom prst="roundRect">
            <a:avLst>
              <a:gd name="adj" fmla="val 2518"/>
            </a:avLst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7736332"/>
            <a:ext cx="11277295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7736332"/>
            <a:ext cx="789410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shortcode-map.json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37215" y="77363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8083804"/>
            <a:ext cx="11057839" cy="2512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"git-flow-strip":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"htmlClasses": ["flow-branches", "branch-row"],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"itemSelector": ".branch-row"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"editor-box":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"htmlClasses": ["editor-sim"],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"itemSelector": ".editor-sim"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021840"/>
          </a:xfrm>
          <a:prstGeom prst="roundRect">
            <a:avLst>
              <a:gd name="adj" fmla="val 3618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브랜치 커밋 로그 흐름도 (git-flow-strip)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깃허브 브랜치와 커밋 트리를 어두운 터미널 다이어그램 형식으로 표현하며, 커밋 노드에 마우스를 올릴 시 디테일한 커밋 상세 목록 팝오버가 사르르 노출됩니다.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11709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[작성 방법 마크다운 예시]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491740"/>
            <a:ext cx="10820095" cy="3987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64892"/>
            <a:ext cx="10600639" cy="30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02000"/>
            <a:ext cx="5524348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3686048"/>
            <a:ext cx="54146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" y="3923792"/>
            <a:ext cx="54146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컴포넌트 숏코드 규격 탑재 완료|PPTX 슬라이드 렌더러 안전 동기화 완수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81548" y="363575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0148" y="3302000"/>
            <a:ext cx="5524348" cy="868680"/>
          </a:xfrm>
          <a:prstGeom prst="roundRect">
            <a:avLst>
              <a:gd name="adj" fmla="val 8421"/>
            </a:avLst>
          </a:prstGeom>
          <a:solidFill>
            <a:srgbClr val="3B82F6">
              <a:alpha val="1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5012" y="3686048"/>
            <a:ext cx="54146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feature/visuals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5012" y="3923792"/>
            <a:ext cx="54146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Obsidian 3D 지식 그래프 drift 애니메이션 완비|VS Code 에디터 창 라인 넘버러 구현 완료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445000"/>
            <a:ext cx="11277295" cy="1117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627880"/>
            <a:ext cx="1082009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701032"/>
            <a:ext cx="1060063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**[실제 동작 비주얼 결과물]**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699760"/>
            <a:ext cx="5524348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6083808"/>
            <a:ext cx="54146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" y="6321552"/>
            <a:ext cx="54146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컴포넌트 숏코드 규격 탑재 완료|PPTX 슬라이드 렌더러 안전 동기화 완수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81548" y="603351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0148" y="5699760"/>
            <a:ext cx="5524348" cy="868680"/>
          </a:xfrm>
          <a:prstGeom prst="roundRect">
            <a:avLst>
              <a:gd name="adj" fmla="val 8421"/>
            </a:avLst>
          </a:prstGeom>
          <a:solidFill>
            <a:srgbClr val="3B82F6">
              <a:alpha val="1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5012" y="6083808"/>
            <a:ext cx="54146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feature/visuals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5012" y="6321552"/>
            <a:ext cx="54146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Obsidian 3D 지식 그래프 drift 애니메이션 완비|VS Code 에디터 창 라인 넘버러 구현 완료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cols=N 가변 다단 격자 제어 데모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작성자가 숏코드 선언 시 cols=N 인수를 지정하여 격자형 카드들의 단수를 직접 통제하고 화면이 찌그러지는 현상을 원천 방어합니다.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647190"/>
          </a:xfrm>
          <a:prstGeom prst="roundRect">
            <a:avLst>
              <a:gd name="adj" fmla="val 444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cols=3 컬럼 그리드 카드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[작성 방법 마크다운 예시]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994660"/>
            <a:ext cx="10820095" cy="3987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067812"/>
            <a:ext cx="10600639" cy="30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8049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04920"/>
            <a:ext cx="3667658" cy="36576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914648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🔮 기획 &amp; 디자인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4225544"/>
            <a:ext cx="344820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harmony 색상 테마 및 HSL 컬러 자동 생성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62018" y="38049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2018" y="3804920"/>
            <a:ext cx="3667658" cy="36576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1746" y="3914648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초고속 렌더링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71746" y="4225544"/>
            <a:ext cx="344820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&amp; React 번들링 파이프라인 가동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66837" y="38049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66837" y="3804920"/>
            <a:ext cx="3667658" cy="36576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6565" y="3914648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스탠드얼론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76565" y="4225544"/>
            <a:ext cx="344820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1.3MB 크기의 전천후 단일 HTML 번들 파일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450840"/>
            <a:ext cx="11277295" cy="1117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5633720"/>
            <a:ext cx="1082009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5706872"/>
            <a:ext cx="1060063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**[실제 동작 비주얼 결과물]**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670560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6705600"/>
            <a:ext cx="3667658" cy="36576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815328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🔮 기획 &amp; 디자인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7126224"/>
            <a:ext cx="344820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harmony 색상 테마 및 HSL 컬러 자동 생성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62018" y="670560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62018" y="6705600"/>
            <a:ext cx="3667658" cy="36576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1746" y="6815328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초고속 렌더링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371746" y="7126224"/>
            <a:ext cx="344820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&amp; React 번들링 파이프라인 가동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66837" y="670560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66837" y="6705600"/>
            <a:ext cx="3667658" cy="36576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76565" y="6815328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스탠드얼론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176565" y="7126224"/>
            <a:ext cx="344820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1.3MB 크기의 전천후 단일 HTML 번들 파일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647190"/>
          </a:xfrm>
          <a:prstGeom prst="roundRect">
            <a:avLst>
              <a:gd name="adj" fmla="val 444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cols=4 요금/플랜 격자 카드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[작성 방법 마크다운 예시]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117090"/>
            <a:ext cx="10820095" cy="3987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90242"/>
            <a:ext cx="10600639" cy="30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7350"/>
            <a:ext cx="271645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7350"/>
            <a:ext cx="2716454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11023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11023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체험용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" y="334797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체험판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3640582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기본 숏코드 10종 지원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389661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로컬 빌드 및 PPTX 변환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4152646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기본 가이드라인 포함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10814" y="2927350"/>
            <a:ext cx="2716454" cy="1920240"/>
          </a:xfrm>
          <a:prstGeom prst="roundRect">
            <a:avLst>
              <a:gd name="adj" fmla="val 3810"/>
            </a:avLst>
          </a:prstGeom>
          <a:solidFill>
            <a:srgbClr val="6366F1">
              <a:alpha val="5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0814" y="2927350"/>
            <a:ext cx="2716454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0542" y="311023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0542" y="311023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20542" y="334797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Spark Pro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20542" y="3640582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3대 특화 숏코드 100% 지원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0542" y="389661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cols=N 컬럼 통제 기능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0542" y="4152646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프리미엄 HSL 테마 무제한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64428" y="2927350"/>
            <a:ext cx="2716454" cy="1920240"/>
          </a:xfrm>
          <a:prstGeom prst="roundRect">
            <a:avLst>
              <a:gd name="adj" fmla="val 3810"/>
            </a:avLst>
          </a:prstGeom>
          <a:solidFill>
            <a:srgbClr val="1E293B">
              <a:alpha val="5000"/>
            </a:srgbClr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4428" y="2927350"/>
            <a:ext cx="2716454" cy="4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4156" y="311023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4156" y="311023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74156" y="334797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Spark Enterprise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74156" y="3640582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독점 비주얼 커스텀 지원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74156" y="389661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전용 빌더 서브에이전트 배치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74156" y="4152646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SLA 성능 및 업타임 보증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018041" y="2927350"/>
            <a:ext cx="2716454" cy="1920240"/>
          </a:xfrm>
          <a:prstGeom prst="roundRect">
            <a:avLst>
              <a:gd name="adj" fmla="val 3810"/>
            </a:avLst>
          </a:prstGeom>
          <a:solidFill>
            <a:srgbClr val="64748B">
              <a:alpha val="5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8041" y="2927350"/>
            <a:ext cx="2716454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27769" y="311023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27769" y="311023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127769" y="334797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 DIY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27769" y="3640582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필요한 기능만 조립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27769" y="389661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자율 파트너십 구축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27769" y="4152646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일대일 빌딩 밀착 서포트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5121910"/>
            <a:ext cx="11277295" cy="1117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" y="5304790"/>
            <a:ext cx="1082009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" y="5377942"/>
            <a:ext cx="1060063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**[실제 동작 비주얼 결과물]**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6376670"/>
            <a:ext cx="271645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6376670"/>
            <a:ext cx="2716454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" y="655955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655955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체험용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66928" y="679729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체험판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66928" y="7089902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기본 숏코드 10종 지원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66928" y="734593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로컬 빌드 및 PPTX 변환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66928" y="7601966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기본 가이드라인 포함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310814" y="6376670"/>
            <a:ext cx="2716454" cy="1920240"/>
          </a:xfrm>
          <a:prstGeom prst="roundRect">
            <a:avLst>
              <a:gd name="adj" fmla="val 3810"/>
            </a:avLst>
          </a:prstGeom>
          <a:solidFill>
            <a:srgbClr val="6366F1">
              <a:alpha val="5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10814" y="6376670"/>
            <a:ext cx="2716454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20542" y="655955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20542" y="655955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420542" y="679729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Spark Pro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3420542" y="7089902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3대 특화 숏코드 100% 지원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420542" y="734593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cols=N 컬럼 통제 기능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420542" y="7601966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프리미엄 HSL 테마 무제한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164428" y="6376670"/>
            <a:ext cx="2716454" cy="1920240"/>
          </a:xfrm>
          <a:prstGeom prst="roundRect">
            <a:avLst>
              <a:gd name="adj" fmla="val 3810"/>
            </a:avLst>
          </a:prstGeom>
          <a:solidFill>
            <a:srgbClr val="1E293B">
              <a:alpha val="5000"/>
            </a:srgbClr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64428" y="6376670"/>
            <a:ext cx="2716454" cy="4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74156" y="655955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74156" y="655955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기업용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274156" y="679729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Spark Enterprise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274156" y="7089902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독점 비주얼 커스텀 지원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274156" y="734593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전용 빌더 서브에이전트 배치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274156" y="7601966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SLA 성능 및 업타임 보증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9018041" y="6376670"/>
            <a:ext cx="2716454" cy="1920240"/>
          </a:xfrm>
          <a:prstGeom prst="roundRect">
            <a:avLst>
              <a:gd name="adj" fmla="val 3810"/>
            </a:avLst>
          </a:prstGeom>
          <a:solidFill>
            <a:srgbClr val="64748B">
              <a:alpha val="5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018041" y="6376670"/>
            <a:ext cx="2716454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27769" y="6559550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27769" y="655955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9127769" y="679729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 DIY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9127769" y="7089902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필요한 기능만 조립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127769" y="734593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자율 파트너십 구축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9127769" y="7601966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일대일 빌딩 밀착 서포트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프리셋 (style 키 선택)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651000"/>
          </a:xfrm>
          <a:prstGeom prst="roundRect">
            <a:avLst>
              <a:gd name="adj" fmla="val 443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frontmatter에서 style: &lt;키&gt;를 선택하여 고유의 고대비 Harmony 브랜드 칼라셋을 컴파일러가 자동 적용합니다.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70053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[작성 방법 마크다운 예시]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075180"/>
            <a:ext cx="10820095" cy="3987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48332"/>
            <a:ext cx="10600639" cy="30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3116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3116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93116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" y="302260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ai-chat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3856" y="329692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 (그린) — ChatGPT·Claude 등 대화형 AI 가이드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55503" y="31963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ai-chat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79984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9984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379984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33856" y="389128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ai-dev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33856" y="416560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 도구 (오렌지) — Cursor·GitHub Copilot 등 개발 도구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55503" y="40650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ai-dev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805680"/>
            <a:ext cx="11277295" cy="1117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988560"/>
            <a:ext cx="1082009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5061712"/>
            <a:ext cx="1060063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**[실제 동작 비주얼 결과물]**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606044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606044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606044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33856" y="615188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ai-chat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33856" y="642620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 (그린) — ChatGPT·Claude 등 대화형 AI 가이드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55503" y="63256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ai-chat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692912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692912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692912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" y="702056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ai-dev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33856" y="729488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 도구 (오렌지) — Cursor·GitHub Copilot 등 개발 도구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55503" y="7194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ai-dev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779780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779780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" y="779780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133856" y="788924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33856" y="816356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 &amp; 지식관리 (퍼플) — Notion·Obsidian 등 지식 관리 도구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655503" y="806297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knowledge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866648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866648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" y="866648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133856" y="875792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productivity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133856" y="903224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생산성 유틸 (블루) — 일정·할일·자동화 도구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655503" y="89316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productivity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953516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953516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" y="953516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1133856" y="962660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creative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133856" y="990092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크리에이티브 AI (마젠타) — 이미지·영상·디자인 생성 도구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655503" y="98003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creative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1040384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1040384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3504" y="1040384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1133856" y="1049528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133856" y="1076960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&amp; 인프라 (사이언) — 보안·DevOps·클라우드 인프라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655503" y="106690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style: security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컴포넌트 숏코드 라이브러리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및 신형 표준 규격 숏코드들의 HTML 변환 스펙과 PPTX 도식화 레이아웃을 설명하고 시연합니다.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647190"/>
          </a:xfrm>
          <a:prstGeom prst="roundRect">
            <a:avLst>
              <a:gd name="adj" fmla="val 444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icon-grid — 이모지 카드 격자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[작성 방법 마크다운 예시]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994660"/>
            <a:ext cx="10820095" cy="3987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067812"/>
            <a:ext cx="10600639" cy="30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804920"/>
            <a:ext cx="11277295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96360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433527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작업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095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작업을 줄이고 결과물을 빠르게 만듭니다.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359400"/>
            <a:ext cx="11277295" cy="1117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5542280"/>
            <a:ext cx="1082009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5615432"/>
            <a:ext cx="1060063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**[실제 동작 비주얼 결과물]**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66141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70560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" y="714451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작업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741883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작업을 줄이고 결과물을 빠르게 만듭니다.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0814" y="66141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2254" y="670560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402254" y="714451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디자인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02254" y="741883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템플릿과 프리셋으로 초보자도 보기 좋은 결과를 만듭니다.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64428" y="66141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5868" y="670560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255868" y="714451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친화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55868" y="741883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스마트폰에서도 주요 기능을 바로 사용할 수 있습니다.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18041" y="66141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09481" y="670560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109481" y="714451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협업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09481" y="741883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공유와 댓글로 팀 작업을 이어갈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647190"/>
          </a:xfrm>
          <a:prstGeom prst="roundRect">
            <a:avLst>
              <a:gd name="adj" fmla="val 444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feature-grid — 태그 + 아이콘 + 설명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[작성 방법 마크다운 예시]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117090"/>
            <a:ext cx="10820095" cy="3987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90242"/>
            <a:ext cx="10600639" cy="30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7350"/>
            <a:ext cx="1127729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7350"/>
            <a:ext cx="11277295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037078"/>
            <a:ext cx="110578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3256534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AI 자동화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3567430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입력을 바탕으로 초안, 편집, 요약, 추천을 자동 생성합니다.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573270"/>
            <a:ext cx="11277295" cy="1117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756150"/>
            <a:ext cx="1082009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4829302"/>
            <a:ext cx="1060063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**[실제 동작 비주얼 결과물]**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82803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582803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93775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6928" y="615721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AI 자동화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646811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입력을 바탕으로 초안, 편집, 요약, 추천을 자동 생성합니다.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62018" y="582803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62018" y="582803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1746" y="593775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71746" y="615721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템플릿 활용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71746" y="646811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형식을 저장해 같은 품질의 결과물을 반복해서 만들 수 있습니다.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66837" y="582803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66837" y="582803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76565" y="593775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176565" y="615721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링크 배포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76565" y="646811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결과를 링크나 파일로 공유하고 팀원 피드백을 받을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647190"/>
          </a:xfrm>
          <a:prstGeom prst="roundRect">
            <a:avLst>
              <a:gd name="adj" fmla="val 444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step-list — 순서형 단계 목록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[작성 방법 마크다운 예시]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117090"/>
            <a:ext cx="10820095" cy="3987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90242"/>
            <a:ext cx="10600639" cy="30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735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06451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6451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299135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만들기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23824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사이트에 접속해 이메일 또는 소셜 계정으로 로그인합니다.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60038"/>
            <a:ext cx="11277295" cy="1117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042918"/>
            <a:ext cx="1082009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4116070"/>
            <a:ext cx="1060063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**[실제 동작 비주얼 결과물]**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11479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25195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25195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42416" y="517880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만들기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6" y="542569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사이트에 접속해 이메일 또는 소셜 계정으로 로그인합니다.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910326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604748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04748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42416" y="597433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 만들기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2416" y="622122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템플릿을 고르거나 빈 프로젝트에서 시작합니다.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670585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684301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84301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42416" y="676986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넣기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2416" y="701675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텍스트, 이미지, 파일, 링크 등 필요한 자료를 추가합니다.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750138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763854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763854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42416" y="7565390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내보내기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42416" y="7812278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PDF, 이미지, 영상, 링크 등 목적에 맞는 형식으로 저장합니다.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647190"/>
          </a:xfrm>
          <a:prstGeom prst="roundRect">
            <a:avLst>
              <a:gd name="adj" fmla="val 444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compare-grid — 사용자 유형별 비교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[작성 방법 마크다운 예시]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117090"/>
            <a:ext cx="10820095" cy="3987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90242"/>
            <a:ext cx="10600639" cy="30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7350"/>
            <a:ext cx="11277295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7350"/>
            <a:ext cx="11277295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01879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배우는 사용자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331139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플랜과 기본 템플릿으로 시작합니다.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481830"/>
            <a:ext cx="11277295" cy="1117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664710"/>
            <a:ext cx="1082009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4737862"/>
            <a:ext cx="1060063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**[실제 동작 비주얼 결과물]**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73659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73659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82803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배우는 사용자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612063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플랜과 기본 템플릿으로 시작합니다.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62018" y="573659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62018" y="573659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1746" y="582803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제작자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71746" y="612063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형식을 저장하고 자동화 기능을 활용합니다.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66837" y="573659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66837" y="573659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6565" y="582803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작업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76565" y="612063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링크, 댓글, 권한 관리가 가능한 플랜을 선택합니다.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647190"/>
          </a:xfrm>
          <a:prstGeom prst="roundRect">
            <a:avLst>
              <a:gd name="adj" fmla="val 444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workflow-strip — 프로세스 흐름도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[작성 방법 마크다운 예시]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117090"/>
            <a:ext cx="10820095" cy="3987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90242"/>
            <a:ext cx="10600639" cy="30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735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0050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" y="3311398"/>
            <a:ext cx="1116756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" y="3549142"/>
            <a:ext cx="1116756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070350"/>
            <a:ext cx="11277295" cy="1117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253230"/>
            <a:ext cx="1082009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4326382"/>
            <a:ext cx="1060063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**[실제 동작 비주얼 결과물]**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325110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398262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" y="5709158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" y="5946902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29779" y="565886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58379" y="5325110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58379" y="5398262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13243" y="5709158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생성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13243" y="5946902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30958" y="565886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59558" y="5325110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59558" y="5398262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14422" y="5709158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보정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14422" y="5946902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32137" y="565886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60737" y="5325110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737" y="5398262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15601" y="5709158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검토·수정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15601" y="5946902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협업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433316" y="565886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661916" y="5325110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61916" y="5398262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716780" y="5709158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공유·배포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716780" y="5946902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링크/PDF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647190"/>
          </a:xfrm>
          <a:prstGeom prst="roundRect">
            <a:avLst>
              <a:gd name="adj" fmla="val 444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compare-split — 클라우드 vs 자체 호스팅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[작성 방법 마크다운 예시]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117090"/>
            <a:ext cx="10820095" cy="3987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90242"/>
            <a:ext cx="10600639" cy="30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7350"/>
            <a:ext cx="11277295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7350"/>
            <a:ext cx="11277295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01879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호스팅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887470"/>
            <a:ext cx="11057839" cy="256032"/>
          </a:xfrm>
          <a:prstGeom prst="roundRect">
            <a:avLst>
              <a:gd name="adj" fmla="val 21429"/>
            </a:avLst>
          </a:prstGeom>
          <a:solidFill>
            <a:srgbClr val="F4ECF7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88747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기술팀 보유 시 추천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4481830"/>
            <a:ext cx="11277295" cy="1117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664710"/>
            <a:ext cx="1082009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4737862"/>
            <a:ext cx="1060063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**[실제 동작 비주얼 결과물]**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736590"/>
            <a:ext cx="5524348" cy="2586990"/>
          </a:xfrm>
          <a:prstGeom prst="roundRect">
            <a:avLst>
              <a:gd name="adj" fmla="val 2828"/>
            </a:avLst>
          </a:prstGeom>
          <a:solidFill>
            <a:srgbClr val="F4ECF7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5736590"/>
            <a:ext cx="5524348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919470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호스팅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635889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완전한 데이터 통제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664210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비용 최적화 가능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692531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커스터마이징 자유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720852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초기 설정 필요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749173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DevOps 역량 필요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7884668"/>
            <a:ext cx="5067148" cy="256032"/>
          </a:xfrm>
          <a:prstGeom prst="roundRect">
            <a:avLst>
              <a:gd name="adj" fmla="val 21429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7884668"/>
            <a:ext cx="5067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기술팀 보유 시 추천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10148" y="5736590"/>
            <a:ext cx="5524348" cy="258699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0148" y="5736590"/>
            <a:ext cx="5524348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8748" y="5919470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SaaS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38748" y="635889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즉시 사용 가능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38748" y="664210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자동 업데이트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38748" y="692531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전용 지원 서비스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38748" y="720852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사용량 기반 과금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38748" y="749173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99.9% SLA 보장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38748" y="7884668"/>
            <a:ext cx="5067148" cy="256032"/>
          </a:xfrm>
          <a:prstGeom prst="roundRect">
            <a:avLst>
              <a:gd name="adj" fmla="val 21429"/>
            </a:avLst>
          </a:prstGeom>
          <a:solidFill>
            <a:srgbClr val="F4ECF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8748" y="7884668"/>
            <a:ext cx="5067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시작에 추천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647190"/>
          </a:xfrm>
          <a:prstGeom prst="roundRect">
            <a:avLst>
              <a:gd name="adj" fmla="val 444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bottom-list — 본문 + 하단 칩 배치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[작성 방법 마크다운 예시]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117090"/>
            <a:ext cx="10820095" cy="3987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90242"/>
            <a:ext cx="10600639" cy="30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7350"/>
            <a:ext cx="11277295" cy="1179830"/>
          </a:xfrm>
          <a:prstGeom prst="roundRect">
            <a:avLst>
              <a:gd name="adj" fmla="val 62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1023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도구를 선택해야 하는 이유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54965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구성 없이 5분 안에 첫 번째 결과를 만들 수 있습니다.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244340"/>
            <a:ext cx="5583784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4244340"/>
            <a:ext cx="543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시작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50712" y="4244340"/>
            <a:ext cx="5583784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3864" y="4244340"/>
            <a:ext cx="543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무설정 기본값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930140"/>
            <a:ext cx="11277295" cy="1117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5113020"/>
            <a:ext cx="1082009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5186172"/>
            <a:ext cx="1060063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**[실제 동작 비주얼 결과물]**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6184900"/>
            <a:ext cx="11277295" cy="1179830"/>
          </a:xfrm>
          <a:prstGeom prst="roundRect">
            <a:avLst>
              <a:gd name="adj" fmla="val 620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63677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도구를 선택해야 하는 이유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680720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도구와의 가장 큰 차이는 설정 없이도 강력한 기본값이 제공된다는 점입니다. 복잡한 구성 없이 5분 안에 첫 번째 결과를 만들 수 있으며, 필요할 때만 세부 설정을 조정하면 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7501890"/>
            <a:ext cx="2167677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7501890"/>
            <a:ext cx="20213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시작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34605" y="7501890"/>
            <a:ext cx="2167677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07757" y="7501890"/>
            <a:ext cx="20213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무설정 기본값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12009" y="7501890"/>
            <a:ext cx="2167677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5161" y="7501890"/>
            <a:ext cx="20213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온보딩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89414" y="7501890"/>
            <a:ext cx="2167677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2566" y="7501890"/>
            <a:ext cx="20213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심화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566819" y="7501890"/>
            <a:ext cx="2167677" cy="411480"/>
          </a:xfrm>
          <a:prstGeom prst="roundRect">
            <a:avLst>
              <a:gd name="adj" fmla="val 22222"/>
            </a:avLst>
          </a:prstGeom>
          <a:solidFill>
            <a:srgbClr val="F4ECF7"/>
          </a:solidFill>
          <a:ln w="9525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39971" y="7501890"/>
            <a:ext cx="20213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 제공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647190"/>
          </a:xfrm>
          <a:prstGeom prst="roundRect">
            <a:avLst>
              <a:gd name="adj" fmla="val 444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alert-box — 알림 및 팁 박스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[작성 방법 마크다운 예시]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117090"/>
            <a:ext cx="10820095" cy="3987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90242"/>
            <a:ext cx="10600639" cy="30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7350"/>
            <a:ext cx="11277295" cy="974090"/>
          </a:xfrm>
          <a:prstGeom prst="roundRect">
            <a:avLst>
              <a:gd name="adj" fmla="val 7510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7350"/>
            <a:ext cx="73152" cy="97409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11023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9264" y="3110230"/>
            <a:ext cx="10728655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핵심 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3481070"/>
            <a:ext cx="10728655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shortcode-map.json을 수정하면 HTML→MD 변환 규칙을 추가하거나 변경할 수 있습니다.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75760"/>
            <a:ext cx="11277295" cy="1117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358640"/>
            <a:ext cx="1082009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4431792"/>
            <a:ext cx="1060063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**[실제 동작 비주얼 결과물]**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430520"/>
            <a:ext cx="11277295" cy="974090"/>
          </a:xfrm>
          <a:prstGeom prst="roundRect">
            <a:avLst>
              <a:gd name="adj" fmla="val 7510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5430520"/>
            <a:ext cx="73152" cy="97409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561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" y="5613400"/>
            <a:ext cx="10728655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핵심 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5984240"/>
            <a:ext cx="10728655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shortcode-map.json을 수정하면 HTML→MD 변환 규칙을 추가하거나 변경할 수 있습니다.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678930"/>
            <a:ext cx="11277295" cy="974090"/>
          </a:xfrm>
          <a:prstGeom prst="roundRect">
            <a:avLst>
              <a:gd name="adj" fmla="val 751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6678930"/>
            <a:ext cx="73152" cy="97409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686181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264" y="6861810"/>
            <a:ext cx="10728655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주의사항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9264" y="7232650"/>
            <a:ext cx="10728655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YAML frontmatter는 build-guide.mjs 오류를 유발합니다. 들여쓰기를 확인하세요.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647190"/>
          </a:xfrm>
          <a:prstGeom prst="roundRect">
            <a:avLst>
              <a:gd name="adj" fmla="val 444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faq-list — 자주 묻는 질문 아코디언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[작성 방법 마크다운 예시]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117090"/>
            <a:ext cx="10820095" cy="3987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90242"/>
            <a:ext cx="10600639" cy="30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735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7350"/>
            <a:ext cx="54864" cy="69977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98221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무료로 사용할 수 있나요?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337591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네, 기본 기능은 무료 플랜으로 사용할 수 있습니다.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32860"/>
            <a:ext cx="11277295" cy="1117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015740"/>
            <a:ext cx="1082009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4088892"/>
            <a:ext cx="1060063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**[실제 동작 비주얼 결과물]**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08762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087620"/>
            <a:ext cx="54864" cy="69977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14248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무료로 사용할 수 있나요?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553618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네, 기본 기능은 무료 플랜으로 사용할 수 있습니다. 고급 기능은 Pro 플랜에서 제공됩니다.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85597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855970"/>
            <a:ext cx="54864" cy="69977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591083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어떤 파일 형식을 지원하나요?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630453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HTML, Markdown, PPTX 형식을 지원합니다. shortcode-map.json으로 HTML 역변환 규칙을 관리합니다.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6624320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4ECF7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6624320"/>
            <a:ext cx="54864" cy="69977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6679184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커스텀 스타일을 적용할 수 있나요?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928" y="7072884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config/styles.json에서 색상 프리셋을 정의하고, frontmatter의 style 키로 선택할 수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647190"/>
          </a:xfrm>
          <a:prstGeom prst="roundRect">
            <a:avLst>
              <a:gd name="adj" fmla="val 444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console-box — 실전 프롬프트 박스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[작성 방법 마크다운 예시]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117090"/>
            <a:ext cx="10820095" cy="3987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90242"/>
            <a:ext cx="10600639" cy="30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7350"/>
            <a:ext cx="11277295" cy="952500"/>
          </a:xfrm>
          <a:prstGeom prst="roundRect">
            <a:avLst>
              <a:gd name="adj" fmla="val 7680"/>
            </a:avLst>
          </a:prstGeom>
          <a:solidFill>
            <a:srgbClr val="0F172A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7350"/>
            <a:ext cx="11277295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1023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B2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가이드 문서 생성 프롬프트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481070"/>
            <a:ext cx="10820095" cy="26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도구에 대한 활용 가이드를 작성해 주세요.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54170"/>
            <a:ext cx="11277295" cy="1117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337050"/>
            <a:ext cx="1082009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4410202"/>
            <a:ext cx="1060063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**[실제 동작 비주얼 결과물]**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408930"/>
            <a:ext cx="11277295" cy="952500"/>
          </a:xfrm>
          <a:prstGeom prst="roundRect">
            <a:avLst>
              <a:gd name="adj" fmla="val 7680"/>
            </a:avLst>
          </a:prstGeom>
          <a:solidFill>
            <a:srgbClr val="0F172A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408930"/>
            <a:ext cx="11277295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59181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B2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가이드 문서 생성 프롬프트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962650"/>
            <a:ext cx="10820095" cy="26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도구에 대한 활용 가이드를 작성해 주세요. icon-grid로 핵심 기능 4가지, feature-grid로 사용 사례 3가지, steps로 시작 방법 4단계를 포함해 주세요.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B2C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가이드를 만들어보세요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templates/template.md를 복사해서 내용을 채우면 정교하게 자동 빌드됩니다.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24248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제작 지침서 읽기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2026-05-27T06:10:47Z</dcterms:created>
  <dcterms:modified xsi:type="dcterms:W3CDTF">2026-05-27T06:10:47Z</dcterms:modified>
</cp:coreProperties>
</file>